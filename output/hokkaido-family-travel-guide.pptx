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E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2743200" cy="32004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2C73A0"/>
                </a:solidFill>
                <a:latin typeface="Yu Gothic"/>
              </a:rPr>
              <a:t>HOKKAIDO FAMILY TRAVEL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25880"/>
            <a:ext cx="5577840" cy="9144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3300" b="1">
                <a:solidFill>
                  <a:srgbClr val="143753"/>
                </a:solidFill>
                <a:latin typeface="Yu Gothic"/>
              </a:rPr>
              <a:t>北海道家族旅行
ガイドブック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34640"/>
            <a:ext cx="4754880" cy="43891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800" b="1">
                <a:solidFill>
                  <a:srgbClr val="222B34"/>
                </a:solidFill>
                <a:latin typeface="Yu Gothic"/>
              </a:rPr>
              <a:t>2026年7月31日 - 8月12日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01568"/>
            <a:ext cx="5120640" cy="6858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22B34"/>
                </a:solidFill>
                <a:latin typeface="Yu Gothic"/>
              </a:rPr>
              <a:t>仙台からフェリーで北海道へ。洞爺湖、札幌、層雲峡、道東方面をめぐる家族旅行。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370832"/>
            <a:ext cx="1325880" cy="329184"/>
          </a:xfrm>
          <a:prstGeom prst="roundRect">
            <a:avLst/>
          </a:prstGeom>
          <a:solidFill>
            <a:srgbClr val="D86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初回版</a:t>
            </a:r>
          </a:p>
        </p:txBody>
      </p:sp>
      <p:pic>
        <p:nvPicPr>
          <p:cNvPr id="7" name="Picture 6" descr="2026-07-31_仙台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685800"/>
            <a:ext cx="507492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-07-31_仙台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0"/>
            <a:ext cx="5129784" cy="38862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47472"/>
            <a:ext cx="1325880" cy="329184"/>
          </a:xfrm>
          <a:prstGeom prst="roundRect">
            <a:avLst/>
          </a:prstGeom>
          <a:solidFill>
            <a:srgbClr val="D86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6126480" cy="54864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2200" b="1">
                <a:solidFill>
                  <a:srgbClr val="143753"/>
                </a:solidFill>
                <a:latin typeface="Yu Gothic"/>
              </a:rPr>
              <a:t>2026-07-31  仙台からフェリーで北海道へ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34440"/>
            <a:ext cx="5989320" cy="38404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C73A0"/>
                </a:solidFill>
                <a:latin typeface="Yu Gothic"/>
              </a:rPr>
              <a:t>仙台 / 太平洋フェリー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719072"/>
            <a:ext cx="6080760" cy="89611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230" b="0">
                <a:solidFill>
                  <a:srgbClr val="222B34"/>
                </a:solidFill>
                <a:latin typeface="Yu Gothic"/>
              </a:rPr>
              <a:t>北海道家族旅行の出発日。仙台港から太平洋フェリーに乗り、翌朝の苫小牧到着を目指します。初日は移動そのものを旅の始まりとして楽しみ、船内で夕食と休憩をしっかり取ります。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852928"/>
            <a:ext cx="612648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この日の流れ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15:30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31927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331012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自宅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0098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荷物、チケット、身分証、車内用品を最終確認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31927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88620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16:00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88620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387705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自宅 → 仙台港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86791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余裕を持って仙台港へ移動。途中で飲み物を購入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約60分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379976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53128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17:00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53128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1" y="4443984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仙台港周辺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4434840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乗船前のトイレ、軽食、写真撮影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453128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46904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020056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17:30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020056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手続き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1" y="5010912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仙台港フェリーターミナル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01768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乗船手続き、車両乗船準備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020056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60分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13832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586984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18:30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586984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4831" y="5577840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フェリー船内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568696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船内レストランまたは持ち込み軽食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586984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8" y="4251960"/>
            <a:ext cx="434340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レストラン候補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0608" y="463600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469087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0688" y="468172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太平洋フェリー船内レストラン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68172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出港前後に利用しやすい第一候補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50608" y="513892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519379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518464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仙台港周辺でテイクアウト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518464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混雑時のバックアップ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50608" y="564184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0" y="569671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軽食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90688" y="568756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コンビニ事前購入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99448" y="568756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子ども用のおやつ、飲み物を確保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0608" y="6199632"/>
            <a:ext cx="420624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80" b="0">
                <a:solidFill>
                  <a:srgbClr val="66707A"/>
                </a:solidFill>
                <a:latin typeface="Yu Gothic"/>
              </a:rPr>
              <a:t>MEMO  フェリーWi-Fiは有料1,500円。使うか当日判断。 / 船内用バッグに、着替え、洗面具、充電器、酔い止めを分ける。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325880" cy="329184"/>
          </a:xfrm>
          <a:prstGeom prst="roundRect">
            <a:avLst/>
          </a:prstGeom>
          <a:solidFill>
            <a:srgbClr val="D86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6217920" cy="38404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2200" b="1">
                <a:solidFill>
                  <a:srgbClr val="143753"/>
                </a:solidFill>
                <a:latin typeface="Yu Gothic"/>
              </a:rPr>
              <a:t>時刻ベース詳細スケジュール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9903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9903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84831" y="138988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自宅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38074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荷物、チケット、身分証、車内用品を最終確認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9903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9280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96596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16:00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96596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195681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自宅 → 仙台港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94767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余裕を持って仙台港へ移動。途中で飲み物を購入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約60分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532888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17:00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532888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2523744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仙台港周辺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514600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乗船前のトイレ、軽食、写真撮影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532888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026664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099816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17:30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099816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手続き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3090672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仙台港フェリーターミナル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81528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乗船手続き、車両乗船準備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099816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60分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93592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666744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18:30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666744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4831" y="3657600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フェリー船内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648456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船内レストランまたは持ち込み軽食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666744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16052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23367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19:40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23367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84831" y="422452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太平洋フェリー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421538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仙台港を出港。船内探検と入浴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23367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一晩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2744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80060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21:30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480060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1" y="479145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客室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478231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翌日の苫小牧到着に備えて早めに就寝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80060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-</a:t>
            </a:r>
          </a:p>
        </p:txBody>
      </p:sp>
      <p:pic>
        <p:nvPicPr>
          <p:cNvPr id="46" name="Picture 45" descr="2026-07-31_仙台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502920"/>
            <a:ext cx="4160520" cy="23317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360920" y="3063240"/>
            <a:ext cx="434340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レストラン候補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44728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34072" y="350215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349300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太平洋フェリー船内レストラン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60" y="349300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出港前後に利用しやすい第一候補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60920" y="395020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34072" y="400507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9592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仙台港周辺でテイクアウト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399592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混雑時のバックアップ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45312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34072" y="450799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軽食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449884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コンビニ事前購入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449884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子ども用のおやつ、飲み物を確保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-08-05_層雲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0"/>
            <a:ext cx="5129784" cy="38862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47472"/>
            <a:ext cx="1325880" cy="329184"/>
          </a:xfrm>
          <a:prstGeom prst="roundRect">
            <a:avLst/>
          </a:prstGeom>
          <a:solidFill>
            <a:srgbClr val="D86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DAY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6126480" cy="54864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2200" b="1">
                <a:solidFill>
                  <a:srgbClr val="143753"/>
                </a:solidFill>
                <a:latin typeface="Yu Gothic"/>
              </a:rPr>
              <a:t>2026-08-05  札幌から層雲峡へ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34440"/>
            <a:ext cx="5989320" cy="38404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C73A0"/>
                </a:solidFill>
                <a:latin typeface="Yu Gothic"/>
              </a:rPr>
              <a:t>札幌 / 旭川 / 層雲峡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719072"/>
            <a:ext cx="6080760" cy="89611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230" b="0">
                <a:solidFill>
                  <a:srgbClr val="222B34"/>
                </a:solidFill>
                <a:latin typeface="Yu Gothic"/>
              </a:rPr>
              <a:t>札幌を出発し、旭川方面を経由して層雲峡へ向かう移動日。長距離移動になりやすいので、午前中に出発し、昼食と休憩を挟みながら無理なくキャンプ場へ入ります。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852928"/>
            <a:ext cx="612648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この日の流れ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08:00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31927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朝食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331012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札幌市内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0098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ホテル周辺で朝食。飲み物と車内軽食を補充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31927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88620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09:00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88620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準備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387705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HOTEL MYSTAYS Sapporo Aspen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86791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チェックアウト、荷物積み込み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8620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379976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53128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09:30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53128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1" y="4443984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札幌 → 砂川SA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4434840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道央自動車道で北上。途中休憩を前提に走る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453128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約90分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46904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020056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11:00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020056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1" y="5010912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砂川SA周辺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01768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トイレ、給油、軽食、天気確認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020056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13832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586984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11:30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586984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4831" y="5577840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砂川SA → 旭川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568696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昼食候補地へ移動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586984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約60分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8" y="4251960"/>
            <a:ext cx="434340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レストラン候補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50608" y="463600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469087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朝食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0688" y="468172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ホテル周辺カフェ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68172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出発前に短時間で済ませる候補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50608" y="513892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519379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昼食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518464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旭川ラーメン候補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518464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移動途中で北海道らしさを入れる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50608" y="564184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0" y="569671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昼食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90688" y="568756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道の駅・SA軽食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99448" y="568756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混雑時や時間調整用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50608" y="614476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0" y="619963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90688" y="619048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層雲峡温泉街の食堂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9448" y="619048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天候が悪い日の外食候補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608" y="6199632"/>
            <a:ext cx="420624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80" b="0">
                <a:solidFill>
                  <a:srgbClr val="66707A"/>
                </a:solidFill>
                <a:latin typeface="Yu Gothic"/>
              </a:rPr>
              <a:t>MEMO  この日は移動時間が長いので、観光を詰め込みすぎない。 / 層雲峡到着後は天気が良ければ滝を短時間で見る。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325880" cy="329184"/>
          </a:xfrm>
          <a:prstGeom prst="roundRect">
            <a:avLst/>
          </a:prstGeom>
          <a:solidFill>
            <a:srgbClr val="D86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DAY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6217920" cy="38404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2200" b="1">
                <a:solidFill>
                  <a:srgbClr val="143753"/>
                </a:solidFill>
                <a:latin typeface="Yu Gothic"/>
              </a:rPr>
              <a:t>時刻ベース詳細スケジュール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9903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08:00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9903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朝食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84831" y="138988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札幌市内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38074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ホテル周辺で朝食。飲み物と車内軽食を補充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9903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9280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96596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09:00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96596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準備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195681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HOTEL MYSTAYS Sapporo Aspen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94767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チェックアウト、荷物積み込み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459736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532888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09:30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532888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2523744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札幌 → 砂川SA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514600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道央自動車道で北上。途中休憩を前提に走る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532888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約90分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026664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3099816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11:00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099816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1" y="3090672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砂川SA周辺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81528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トイレ、給油、軽食、天気確認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099816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30分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93592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666744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11:30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666744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4831" y="3657600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砂川SA → 旭川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648456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昼食候補地へ移動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666744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約60分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160520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233672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12:30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233672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昼食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84831" y="4224528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旭川市内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4215384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ラーメンまたはファミリー向け食事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233672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60分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27448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800600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13:30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4800600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移動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1" y="4791456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旭川 → 層雲峡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4782312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大雪山方面へ移動。景色を見ながら安全運転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800600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約90分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94376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5367528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15:00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367528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観光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84831" y="5358384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層雲峡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5349240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銀河・流星の滝、温泉街散策など短時間観光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80" y="5367528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60分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861304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5934456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16:00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5934456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手続き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84831" y="5925312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Sounkyo Auto Camp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6120" y="5916168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チェックイン、コテージ確認、荷下ろし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5080" y="5934456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6428232"/>
            <a:ext cx="6400800" cy="502920"/>
          </a:xfrm>
          <a:prstGeom prst="roundRect">
            <a:avLst/>
          </a:prstGeom>
          <a:solidFill>
            <a:srgbClr val="F8FAFC"/>
          </a:solidFill>
          <a:ln>
            <a:solidFill>
              <a:srgbClr val="DE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6501384"/>
            <a:ext cx="82296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2C73A0"/>
                </a:solidFill>
                <a:latin typeface="Yu Gothic"/>
              </a:rPr>
              <a:t>17:00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17320" y="6501384"/>
            <a:ext cx="68580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ctr"/>
            <a:r>
              <a:rPr sz="950" b="1">
                <a:solidFill>
                  <a:srgbClr val="D86352"/>
                </a:solidFill>
                <a:latin typeface="Yu Gothic"/>
              </a:rPr>
              <a:t>休憩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84831" y="6492240"/>
            <a:ext cx="1234440" cy="27432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900" b="1">
                <a:solidFill>
                  <a:srgbClr val="143753"/>
                </a:solidFill>
                <a:latin typeface="Yu Gothic"/>
              </a:rPr>
              <a:t>コテージ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46120" y="6483096"/>
            <a:ext cx="3063240" cy="310896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30" b="0">
                <a:solidFill>
                  <a:srgbClr val="222B34"/>
                </a:solidFill>
                <a:latin typeface="Yu Gothic"/>
              </a:rPr>
              <a:t>入浴準備、洗濯、翌日の相談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6501384"/>
            <a:ext cx="411480" cy="256032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r"/>
            <a:r>
              <a:rPr sz="830" b="0">
                <a:solidFill>
                  <a:srgbClr val="66707A"/>
                </a:solidFill>
                <a:latin typeface="Yu Gothic"/>
              </a:rPr>
              <a:t>45分</a:t>
            </a:r>
          </a:p>
        </p:txBody>
      </p:sp>
      <p:pic>
        <p:nvPicPr>
          <p:cNvPr id="64" name="Picture 63" descr="2026-08-05_層雲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502920"/>
            <a:ext cx="4160520" cy="233172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360920" y="3063240"/>
            <a:ext cx="4343400" cy="292608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3753"/>
                </a:solidFill>
                <a:latin typeface="Yu Gothic"/>
              </a:rPr>
              <a:t>レストラン候補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360920" y="344728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34072" y="350215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朝食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01000" y="349300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ホテル周辺カフェ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349300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出発前に短時間で済ませる候補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60920" y="395020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34072" y="400507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昼食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01000" y="399592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旭川ラーメン候補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399592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移動途中で北海道らしさを入れる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60920" y="445312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34072" y="450799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昼食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449884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道の駅・SA軽食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449884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混雑時や時間調整用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920" y="4956048"/>
            <a:ext cx="43434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34072" y="5010912"/>
            <a:ext cx="566928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D86352"/>
                </a:solidFill>
                <a:latin typeface="Yu Gothic"/>
              </a:rPr>
              <a:t>夕食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5001768"/>
            <a:ext cx="155448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850" b="1">
                <a:solidFill>
                  <a:srgbClr val="143753"/>
                </a:solidFill>
                <a:latin typeface="Yu Gothic"/>
              </a:rPr>
              <a:t>層雲峡温泉街の食堂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09760" y="5001768"/>
            <a:ext cx="1965960" cy="228600"/>
          </a:xfrm>
          <a:prstGeom prst="rect">
            <a:avLst/>
          </a:prstGeom>
          <a:noFill/>
        </p:spPr>
        <p:txBody>
          <a:bodyPr wrap="none" lIns="73152" rIns="73152" tIns="36576" bIns="36576">
            <a:spAutoFit/>
          </a:bodyPr>
          <a:lstStyle/>
          <a:p>
            <a:pPr algn="l"/>
            <a:r>
              <a:rPr sz="750" b="0">
                <a:solidFill>
                  <a:srgbClr val="66707A"/>
                </a:solidFill>
                <a:latin typeface="Yu Gothic"/>
              </a:rPr>
              <a:t>天候が悪い日の外食候補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