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EEDC"/>
        </a:solidFill>
        <a:effectLst/>
      </p:bgPr>
    </p:bg>
    <p:spTree>
      <p:nvGrpSpPr>
        <p:cNvPr id="1" name=""/>
        <p:cNvGrpSpPr/>
        <p:nvPr/>
      </p:nvGrpSpPr>
      <p:grpSpPr/>
      <p:sp>
        <p:nvSpPr>
          <p:cNvPr id="2" name="TextBox 1"/>
          <p:cNvSpPr txBox="1"/>
          <p:nvPr/>
        </p:nvSpPr>
        <p:spPr>
          <a:xfrm>
            <a:off x="640080" y="566928"/>
            <a:ext cx="2743200" cy="320040"/>
          </a:xfrm>
          <a:prstGeom prst="rect">
            <a:avLst/>
          </a:prstGeom>
          <a:noFill/>
        </p:spPr>
        <p:txBody>
          <a:bodyPr wrap="none" lIns="73152" rIns="73152" tIns="36576" bIns="36576">
            <a:spAutoFit/>
          </a:bodyPr>
          <a:lstStyle/>
          <a:p>
            <a:pPr algn="l"/>
            <a:r>
              <a:rPr sz="1200" b="1">
                <a:solidFill>
                  <a:srgbClr val="2C73A0"/>
                </a:solidFill>
                <a:latin typeface="Yu Gothic"/>
              </a:rPr>
              <a:t>HOKKAIDO FAMILY TRAVEL GUIDE</a:t>
            </a:r>
          </a:p>
        </p:txBody>
      </p:sp>
      <p:sp>
        <p:nvSpPr>
          <p:cNvPr id="3" name="TextBox 2"/>
          <p:cNvSpPr txBox="1"/>
          <p:nvPr/>
        </p:nvSpPr>
        <p:spPr>
          <a:xfrm>
            <a:off x="621792" y="1325880"/>
            <a:ext cx="5577840" cy="914400"/>
          </a:xfrm>
          <a:prstGeom prst="rect">
            <a:avLst/>
          </a:prstGeom>
          <a:noFill/>
        </p:spPr>
        <p:txBody>
          <a:bodyPr wrap="none" lIns="73152" rIns="73152" tIns="36576" bIns="36576">
            <a:spAutoFit/>
          </a:bodyPr>
          <a:lstStyle/>
          <a:p>
            <a:pPr algn="l"/>
            <a:r>
              <a:rPr sz="3300" b="1">
                <a:solidFill>
                  <a:srgbClr val="143753"/>
                </a:solidFill>
                <a:latin typeface="Yu Gothic"/>
              </a:rPr>
              <a:t>北海道家族旅行
ガイドブック</a:t>
            </a:r>
          </a:p>
        </p:txBody>
      </p:sp>
      <p:sp>
        <p:nvSpPr>
          <p:cNvPr id="4" name="TextBox 3"/>
          <p:cNvSpPr txBox="1"/>
          <p:nvPr/>
        </p:nvSpPr>
        <p:spPr>
          <a:xfrm>
            <a:off x="713232" y="2834640"/>
            <a:ext cx="4754880" cy="438912"/>
          </a:xfrm>
          <a:prstGeom prst="rect">
            <a:avLst/>
          </a:prstGeom>
          <a:noFill/>
        </p:spPr>
        <p:txBody>
          <a:bodyPr wrap="none" lIns="73152" rIns="73152" tIns="36576" bIns="36576">
            <a:spAutoFit/>
          </a:bodyPr>
          <a:lstStyle/>
          <a:p>
            <a:pPr algn="l"/>
            <a:r>
              <a:rPr sz="1800" b="1">
                <a:solidFill>
                  <a:srgbClr val="222B34"/>
                </a:solidFill>
                <a:latin typeface="Yu Gothic"/>
              </a:rPr>
              <a:t>2026年7月31日 - 8月12日</a:t>
            </a:r>
          </a:p>
        </p:txBody>
      </p:sp>
      <p:sp>
        <p:nvSpPr>
          <p:cNvPr id="5" name="TextBox 4"/>
          <p:cNvSpPr txBox="1"/>
          <p:nvPr/>
        </p:nvSpPr>
        <p:spPr>
          <a:xfrm>
            <a:off x="713232" y="3401568"/>
            <a:ext cx="5120640" cy="685800"/>
          </a:xfrm>
          <a:prstGeom prst="rect">
            <a:avLst/>
          </a:prstGeom>
          <a:noFill/>
        </p:spPr>
        <p:txBody>
          <a:bodyPr wrap="none" lIns="73152" rIns="73152" tIns="36576" bIns="36576">
            <a:spAutoFit/>
          </a:bodyPr>
          <a:lstStyle/>
          <a:p>
            <a:pPr algn="l"/>
            <a:r>
              <a:rPr sz="1500" b="0">
                <a:solidFill>
                  <a:srgbClr val="222B34"/>
                </a:solidFill>
                <a:latin typeface="Yu Gothic"/>
              </a:rPr>
              <a:t>仙台からフェリーで北海道へ。洞爺湖、札幌、層雲峡、道東方面をめぐる家族旅行。</a:t>
            </a:r>
          </a:p>
        </p:txBody>
      </p:sp>
      <p:sp>
        <p:nvSpPr>
          <p:cNvPr id="6" name="Rounded Rectangle 5"/>
          <p:cNvSpPr/>
          <p:nvPr/>
        </p:nvSpPr>
        <p:spPr>
          <a:xfrm>
            <a:off x="713232" y="4370832"/>
            <a:ext cx="1325880" cy="329184"/>
          </a:xfrm>
          <a:prstGeom prst="roundRect">
            <a:avLst/>
          </a:prstGeom>
          <a:solidFill>
            <a:srgbClr val="D863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Yu Gothic"/>
              </a:rPr>
              <a:t>初回版</a:t>
            </a:r>
          </a:p>
        </p:txBody>
      </p:sp>
      <p:pic>
        <p:nvPicPr>
          <p:cNvPr id="7" name="Picture 6" descr="2026-07-31_仙台港.png"/>
          <p:cNvPicPr>
            <a:picLocks noChangeAspect="1"/>
          </p:cNvPicPr>
          <p:nvPr/>
        </p:nvPicPr>
        <p:blipFill>
          <a:blip r:embed="rId2"/>
          <a:stretch>
            <a:fillRect/>
          </a:stretch>
        </p:blipFill>
        <p:spPr>
          <a:xfrm>
            <a:off x="6446520" y="685800"/>
            <a:ext cx="5074920" cy="544068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2026-07-31_仙台港.png"/>
          <p:cNvPicPr>
            <a:picLocks noChangeAspect="1"/>
          </p:cNvPicPr>
          <p:nvPr/>
        </p:nvPicPr>
        <p:blipFill>
          <a:blip r:embed="rId2"/>
          <a:stretch>
            <a:fillRect/>
          </a:stretch>
        </p:blipFill>
        <p:spPr>
          <a:xfrm>
            <a:off x="7059168" y="0"/>
            <a:ext cx="5129784" cy="3886200"/>
          </a:xfrm>
          <a:prstGeom prst="rect">
            <a:avLst/>
          </a:prstGeom>
        </p:spPr>
      </p:pic>
      <p:sp>
        <p:nvSpPr>
          <p:cNvPr id="3" name="Rounded Rectangle 2"/>
          <p:cNvSpPr/>
          <p:nvPr/>
        </p:nvSpPr>
        <p:spPr>
          <a:xfrm>
            <a:off x="502920" y="347472"/>
            <a:ext cx="1325880" cy="329184"/>
          </a:xfrm>
          <a:prstGeom prst="roundRect">
            <a:avLst/>
          </a:prstGeom>
          <a:solidFill>
            <a:srgbClr val="D863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Yu Gothic"/>
              </a:rPr>
              <a:t>DAY 1</a:t>
            </a:r>
          </a:p>
        </p:txBody>
      </p:sp>
      <p:sp>
        <p:nvSpPr>
          <p:cNvPr id="4" name="TextBox 3"/>
          <p:cNvSpPr txBox="1"/>
          <p:nvPr/>
        </p:nvSpPr>
        <p:spPr>
          <a:xfrm>
            <a:off x="502920" y="749808"/>
            <a:ext cx="6126480" cy="548640"/>
          </a:xfrm>
          <a:prstGeom prst="rect">
            <a:avLst/>
          </a:prstGeom>
          <a:noFill/>
        </p:spPr>
        <p:txBody>
          <a:bodyPr wrap="none" lIns="73152" rIns="73152" tIns="36576" bIns="36576">
            <a:spAutoFit/>
          </a:bodyPr>
          <a:lstStyle/>
          <a:p>
            <a:pPr algn="l"/>
            <a:r>
              <a:rPr sz="2200" b="1">
                <a:solidFill>
                  <a:srgbClr val="143753"/>
                </a:solidFill>
                <a:latin typeface="Yu Gothic"/>
              </a:rPr>
              <a:t>2026-07-31  仙台からフェリーで北海道へ</a:t>
            </a:r>
          </a:p>
        </p:txBody>
      </p:sp>
      <p:sp>
        <p:nvSpPr>
          <p:cNvPr id="5" name="TextBox 4"/>
          <p:cNvSpPr txBox="1"/>
          <p:nvPr/>
        </p:nvSpPr>
        <p:spPr>
          <a:xfrm>
            <a:off x="530352" y="1234440"/>
            <a:ext cx="5989320" cy="384048"/>
          </a:xfrm>
          <a:prstGeom prst="rect">
            <a:avLst/>
          </a:prstGeom>
          <a:noFill/>
        </p:spPr>
        <p:txBody>
          <a:bodyPr wrap="none" lIns="73152" rIns="73152" tIns="36576" bIns="36576">
            <a:spAutoFit/>
          </a:bodyPr>
          <a:lstStyle/>
          <a:p>
            <a:pPr algn="l"/>
            <a:r>
              <a:rPr sz="1300" b="1">
                <a:solidFill>
                  <a:srgbClr val="2C73A0"/>
                </a:solidFill>
                <a:latin typeface="Yu Gothic"/>
              </a:rPr>
              <a:t>仙台 / 太平洋フェリー</a:t>
            </a:r>
          </a:p>
        </p:txBody>
      </p:sp>
      <p:sp>
        <p:nvSpPr>
          <p:cNvPr id="6" name="TextBox 5"/>
          <p:cNvSpPr txBox="1"/>
          <p:nvPr/>
        </p:nvSpPr>
        <p:spPr>
          <a:xfrm>
            <a:off x="530352" y="1719072"/>
            <a:ext cx="6080760" cy="896112"/>
          </a:xfrm>
          <a:prstGeom prst="rect">
            <a:avLst/>
          </a:prstGeom>
          <a:noFill/>
        </p:spPr>
        <p:txBody>
          <a:bodyPr wrap="none" lIns="73152" rIns="73152" tIns="36576" bIns="36576">
            <a:spAutoFit/>
          </a:bodyPr>
          <a:lstStyle/>
          <a:p>
            <a:pPr algn="l"/>
            <a:r>
              <a:rPr sz="1230" b="0">
                <a:solidFill>
                  <a:srgbClr val="222B34"/>
                </a:solidFill>
                <a:latin typeface="Yu Gothic"/>
              </a:rPr>
              <a:t>北海道家族旅行の出発日。仙台港から太平洋フェリーに乗り、翌朝の苫小牧到着を目指します。初日は移動そのものを旅の始まりとして楽しみ、船内で夕食と休憩をしっかり取ります。</a:t>
            </a:r>
          </a:p>
        </p:txBody>
      </p:sp>
      <p:sp>
        <p:nvSpPr>
          <p:cNvPr id="7" name="TextBox 6"/>
          <p:cNvSpPr txBox="1"/>
          <p:nvPr/>
        </p:nvSpPr>
        <p:spPr>
          <a:xfrm>
            <a:off x="530352" y="2852928"/>
            <a:ext cx="6126480" cy="292608"/>
          </a:xfrm>
          <a:prstGeom prst="rect">
            <a:avLst/>
          </a:prstGeom>
          <a:noFill/>
        </p:spPr>
        <p:txBody>
          <a:bodyPr wrap="none" lIns="73152" rIns="73152" tIns="36576" bIns="36576">
            <a:spAutoFit/>
          </a:bodyPr>
          <a:lstStyle/>
          <a:p>
            <a:pPr algn="l"/>
            <a:r>
              <a:rPr sz="1500" b="1">
                <a:solidFill>
                  <a:srgbClr val="143753"/>
                </a:solidFill>
                <a:latin typeface="Yu Gothic"/>
              </a:rPr>
              <a:t>この日の流れ</a:t>
            </a:r>
          </a:p>
        </p:txBody>
      </p:sp>
      <p:sp>
        <p:nvSpPr>
          <p:cNvPr id="8" name="Rounded Rectangle 7"/>
          <p:cNvSpPr/>
          <p:nvPr/>
        </p:nvSpPr>
        <p:spPr>
          <a:xfrm>
            <a:off x="502920" y="3246120"/>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3319272"/>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15:30</a:t>
            </a:r>
          </a:p>
        </p:txBody>
      </p:sp>
      <p:sp>
        <p:nvSpPr>
          <p:cNvPr id="10" name="TextBox 9"/>
          <p:cNvSpPr txBox="1"/>
          <p:nvPr/>
        </p:nvSpPr>
        <p:spPr>
          <a:xfrm>
            <a:off x="1417320" y="3319272"/>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準備</a:t>
            </a:r>
          </a:p>
        </p:txBody>
      </p:sp>
      <p:sp>
        <p:nvSpPr>
          <p:cNvPr id="11" name="TextBox 10"/>
          <p:cNvSpPr txBox="1"/>
          <p:nvPr/>
        </p:nvSpPr>
        <p:spPr>
          <a:xfrm>
            <a:off x="2084831" y="3310128"/>
            <a:ext cx="1234440" cy="274320"/>
          </a:xfrm>
          <a:prstGeom prst="rect">
            <a:avLst/>
          </a:prstGeom>
          <a:noFill/>
        </p:spPr>
        <p:txBody>
          <a:bodyPr wrap="none" lIns="73152" rIns="73152" tIns="36576" bIns="36576">
            <a:spAutoFit/>
          </a:bodyPr>
          <a:lstStyle/>
          <a:p>
            <a:pPr algn="l"/>
            <a:r>
              <a:rPr sz="900" b="1">
                <a:solidFill>
                  <a:srgbClr val="143753"/>
                </a:solidFill>
                <a:latin typeface="Yu Gothic"/>
              </a:rPr>
              <a:t>自宅</a:t>
            </a:r>
          </a:p>
        </p:txBody>
      </p:sp>
      <p:sp>
        <p:nvSpPr>
          <p:cNvPr id="12" name="TextBox 11"/>
          <p:cNvSpPr txBox="1"/>
          <p:nvPr/>
        </p:nvSpPr>
        <p:spPr>
          <a:xfrm>
            <a:off x="3246120" y="3300984"/>
            <a:ext cx="3063240" cy="310896"/>
          </a:xfrm>
          <a:prstGeom prst="rect">
            <a:avLst/>
          </a:prstGeom>
          <a:noFill/>
        </p:spPr>
        <p:txBody>
          <a:bodyPr wrap="none" lIns="73152" rIns="73152" tIns="36576" bIns="36576">
            <a:spAutoFit/>
          </a:bodyPr>
          <a:lstStyle/>
          <a:p>
            <a:pPr algn="l"/>
            <a:r>
              <a:rPr sz="830" b="0">
                <a:solidFill>
                  <a:srgbClr val="222B34"/>
                </a:solidFill>
                <a:latin typeface="Yu Gothic"/>
              </a:rPr>
              <a:t>荷物、チケット、身分証、船内バッグを最終確認</a:t>
            </a:r>
          </a:p>
        </p:txBody>
      </p:sp>
      <p:sp>
        <p:nvSpPr>
          <p:cNvPr id="13" name="TextBox 12"/>
          <p:cNvSpPr txBox="1"/>
          <p:nvPr/>
        </p:nvSpPr>
        <p:spPr>
          <a:xfrm>
            <a:off x="6355080" y="3319272"/>
            <a:ext cx="411480" cy="256032"/>
          </a:xfrm>
          <a:prstGeom prst="rect">
            <a:avLst/>
          </a:prstGeom>
          <a:noFill/>
        </p:spPr>
        <p:txBody>
          <a:bodyPr wrap="none" lIns="73152" rIns="73152" tIns="36576" bIns="36576">
            <a:spAutoFit/>
          </a:bodyPr>
          <a:lstStyle/>
          <a:p>
            <a:pPr algn="r"/>
            <a:r>
              <a:rPr sz="830" b="0">
                <a:solidFill>
                  <a:srgbClr val="66707A"/>
                </a:solidFill>
                <a:latin typeface="Yu Gothic"/>
              </a:rPr>
              <a:t>30分</a:t>
            </a:r>
          </a:p>
        </p:txBody>
      </p:sp>
      <p:sp>
        <p:nvSpPr>
          <p:cNvPr id="14" name="Rounded Rectangle 13"/>
          <p:cNvSpPr/>
          <p:nvPr/>
        </p:nvSpPr>
        <p:spPr>
          <a:xfrm>
            <a:off x="502920" y="3813048"/>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 y="3886200"/>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16:00</a:t>
            </a:r>
          </a:p>
        </p:txBody>
      </p:sp>
      <p:sp>
        <p:nvSpPr>
          <p:cNvPr id="16" name="TextBox 15"/>
          <p:cNvSpPr txBox="1"/>
          <p:nvPr/>
        </p:nvSpPr>
        <p:spPr>
          <a:xfrm>
            <a:off x="1417320" y="3886200"/>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移動</a:t>
            </a:r>
          </a:p>
        </p:txBody>
      </p:sp>
      <p:sp>
        <p:nvSpPr>
          <p:cNvPr id="17" name="TextBox 16"/>
          <p:cNvSpPr txBox="1"/>
          <p:nvPr/>
        </p:nvSpPr>
        <p:spPr>
          <a:xfrm>
            <a:off x="2084831" y="3877056"/>
            <a:ext cx="1234440" cy="274320"/>
          </a:xfrm>
          <a:prstGeom prst="rect">
            <a:avLst/>
          </a:prstGeom>
          <a:noFill/>
        </p:spPr>
        <p:txBody>
          <a:bodyPr wrap="none" lIns="73152" rIns="73152" tIns="36576" bIns="36576">
            <a:spAutoFit/>
          </a:bodyPr>
          <a:lstStyle/>
          <a:p>
            <a:pPr algn="l"/>
            <a:r>
              <a:rPr sz="900" b="1">
                <a:solidFill>
                  <a:srgbClr val="143753"/>
                </a:solidFill>
                <a:latin typeface="Yu Gothic"/>
              </a:rPr>
              <a:t>自宅 → 仙台港</a:t>
            </a:r>
          </a:p>
        </p:txBody>
      </p:sp>
      <p:sp>
        <p:nvSpPr>
          <p:cNvPr id="18" name="TextBox 17"/>
          <p:cNvSpPr txBox="1"/>
          <p:nvPr/>
        </p:nvSpPr>
        <p:spPr>
          <a:xfrm>
            <a:off x="3246120" y="3867912"/>
            <a:ext cx="3063240" cy="310896"/>
          </a:xfrm>
          <a:prstGeom prst="rect">
            <a:avLst/>
          </a:prstGeom>
          <a:noFill/>
        </p:spPr>
        <p:txBody>
          <a:bodyPr wrap="none" lIns="73152" rIns="73152" tIns="36576" bIns="36576">
            <a:spAutoFit/>
          </a:bodyPr>
          <a:lstStyle/>
          <a:p>
            <a:pPr algn="l"/>
            <a:r>
              <a:rPr sz="830" b="0">
                <a:solidFill>
                  <a:srgbClr val="222B34"/>
                </a:solidFill>
                <a:latin typeface="Yu Gothic"/>
              </a:rPr>
              <a:t>余裕を持って仙台港へ移動。途中で飲み物と軽食を購入</a:t>
            </a:r>
          </a:p>
        </p:txBody>
      </p:sp>
      <p:sp>
        <p:nvSpPr>
          <p:cNvPr id="19" name="TextBox 18"/>
          <p:cNvSpPr txBox="1"/>
          <p:nvPr/>
        </p:nvSpPr>
        <p:spPr>
          <a:xfrm>
            <a:off x="6355080" y="3886200"/>
            <a:ext cx="411480" cy="256032"/>
          </a:xfrm>
          <a:prstGeom prst="rect">
            <a:avLst/>
          </a:prstGeom>
          <a:noFill/>
        </p:spPr>
        <p:txBody>
          <a:bodyPr wrap="none" lIns="73152" rIns="73152" tIns="36576" bIns="36576">
            <a:spAutoFit/>
          </a:bodyPr>
          <a:lstStyle/>
          <a:p>
            <a:pPr algn="r"/>
            <a:r>
              <a:rPr sz="830" b="0">
                <a:solidFill>
                  <a:srgbClr val="66707A"/>
                </a:solidFill>
                <a:latin typeface="Yu Gothic"/>
              </a:rPr>
              <a:t>約60分</a:t>
            </a:r>
          </a:p>
        </p:txBody>
      </p:sp>
      <p:sp>
        <p:nvSpPr>
          <p:cNvPr id="20" name="Rounded Rectangle 19"/>
          <p:cNvSpPr/>
          <p:nvPr/>
        </p:nvSpPr>
        <p:spPr>
          <a:xfrm>
            <a:off x="502920" y="4379976"/>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1792" y="4453128"/>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17:00</a:t>
            </a:r>
          </a:p>
        </p:txBody>
      </p:sp>
      <p:sp>
        <p:nvSpPr>
          <p:cNvPr id="22" name="TextBox 21"/>
          <p:cNvSpPr txBox="1"/>
          <p:nvPr/>
        </p:nvSpPr>
        <p:spPr>
          <a:xfrm>
            <a:off x="1417320" y="4453128"/>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休憩</a:t>
            </a:r>
          </a:p>
        </p:txBody>
      </p:sp>
      <p:sp>
        <p:nvSpPr>
          <p:cNvPr id="23" name="TextBox 22"/>
          <p:cNvSpPr txBox="1"/>
          <p:nvPr/>
        </p:nvSpPr>
        <p:spPr>
          <a:xfrm>
            <a:off x="2084831" y="4443984"/>
            <a:ext cx="1234440" cy="274320"/>
          </a:xfrm>
          <a:prstGeom prst="rect">
            <a:avLst/>
          </a:prstGeom>
          <a:noFill/>
        </p:spPr>
        <p:txBody>
          <a:bodyPr wrap="none" lIns="73152" rIns="73152" tIns="36576" bIns="36576">
            <a:spAutoFit/>
          </a:bodyPr>
          <a:lstStyle/>
          <a:p>
            <a:pPr algn="l"/>
            <a:r>
              <a:rPr sz="900" b="1">
                <a:solidFill>
                  <a:srgbClr val="143753"/>
                </a:solidFill>
                <a:latin typeface="Yu Gothic"/>
              </a:rPr>
              <a:t>仙台港周辺</a:t>
            </a:r>
          </a:p>
        </p:txBody>
      </p:sp>
      <p:sp>
        <p:nvSpPr>
          <p:cNvPr id="24" name="TextBox 23"/>
          <p:cNvSpPr txBox="1"/>
          <p:nvPr/>
        </p:nvSpPr>
        <p:spPr>
          <a:xfrm>
            <a:off x="3246120" y="4434840"/>
            <a:ext cx="3063240" cy="310896"/>
          </a:xfrm>
          <a:prstGeom prst="rect">
            <a:avLst/>
          </a:prstGeom>
          <a:noFill/>
        </p:spPr>
        <p:txBody>
          <a:bodyPr wrap="none" lIns="73152" rIns="73152" tIns="36576" bIns="36576">
            <a:spAutoFit/>
          </a:bodyPr>
          <a:lstStyle/>
          <a:p>
            <a:pPr algn="l"/>
            <a:r>
              <a:rPr sz="830" b="0">
                <a:solidFill>
                  <a:srgbClr val="222B34"/>
                </a:solidFill>
                <a:latin typeface="Yu Gothic"/>
              </a:rPr>
              <a:t>乗船前のトイレ、軽食、写真撮影</a:t>
            </a:r>
          </a:p>
        </p:txBody>
      </p:sp>
      <p:sp>
        <p:nvSpPr>
          <p:cNvPr id="25" name="TextBox 24"/>
          <p:cNvSpPr txBox="1"/>
          <p:nvPr/>
        </p:nvSpPr>
        <p:spPr>
          <a:xfrm>
            <a:off x="6355080" y="4453128"/>
            <a:ext cx="411480" cy="256032"/>
          </a:xfrm>
          <a:prstGeom prst="rect">
            <a:avLst/>
          </a:prstGeom>
          <a:noFill/>
        </p:spPr>
        <p:txBody>
          <a:bodyPr wrap="none" lIns="73152" rIns="73152" tIns="36576" bIns="36576">
            <a:spAutoFit/>
          </a:bodyPr>
          <a:lstStyle/>
          <a:p>
            <a:pPr algn="r"/>
            <a:r>
              <a:rPr sz="830" b="0">
                <a:solidFill>
                  <a:srgbClr val="66707A"/>
                </a:solidFill>
                <a:latin typeface="Yu Gothic"/>
              </a:rPr>
              <a:t>30分</a:t>
            </a:r>
          </a:p>
        </p:txBody>
      </p:sp>
      <p:sp>
        <p:nvSpPr>
          <p:cNvPr id="26" name="Rounded Rectangle 25"/>
          <p:cNvSpPr/>
          <p:nvPr/>
        </p:nvSpPr>
        <p:spPr>
          <a:xfrm>
            <a:off x="502920" y="4946904"/>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1792" y="5020056"/>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17:30</a:t>
            </a:r>
          </a:p>
        </p:txBody>
      </p:sp>
      <p:sp>
        <p:nvSpPr>
          <p:cNvPr id="28" name="TextBox 27"/>
          <p:cNvSpPr txBox="1"/>
          <p:nvPr/>
        </p:nvSpPr>
        <p:spPr>
          <a:xfrm>
            <a:off x="1417320" y="5020056"/>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手続き</a:t>
            </a:r>
          </a:p>
        </p:txBody>
      </p:sp>
      <p:sp>
        <p:nvSpPr>
          <p:cNvPr id="29" name="TextBox 28"/>
          <p:cNvSpPr txBox="1"/>
          <p:nvPr/>
        </p:nvSpPr>
        <p:spPr>
          <a:xfrm>
            <a:off x="2084831" y="5010912"/>
            <a:ext cx="1234440" cy="274320"/>
          </a:xfrm>
          <a:prstGeom prst="rect">
            <a:avLst/>
          </a:prstGeom>
          <a:noFill/>
        </p:spPr>
        <p:txBody>
          <a:bodyPr wrap="none" lIns="73152" rIns="73152" tIns="36576" bIns="36576">
            <a:spAutoFit/>
          </a:bodyPr>
          <a:lstStyle/>
          <a:p>
            <a:pPr algn="l"/>
            <a:r>
              <a:rPr sz="900" b="1">
                <a:solidFill>
                  <a:srgbClr val="143753"/>
                </a:solidFill>
                <a:latin typeface="Yu Gothic"/>
              </a:rPr>
              <a:t>仙台港フェリーターミナル</a:t>
            </a:r>
          </a:p>
        </p:txBody>
      </p:sp>
      <p:sp>
        <p:nvSpPr>
          <p:cNvPr id="30" name="TextBox 29"/>
          <p:cNvSpPr txBox="1"/>
          <p:nvPr/>
        </p:nvSpPr>
        <p:spPr>
          <a:xfrm>
            <a:off x="3246120" y="5001768"/>
            <a:ext cx="3063240" cy="310896"/>
          </a:xfrm>
          <a:prstGeom prst="rect">
            <a:avLst/>
          </a:prstGeom>
          <a:noFill/>
        </p:spPr>
        <p:txBody>
          <a:bodyPr wrap="none" lIns="73152" rIns="73152" tIns="36576" bIns="36576">
            <a:spAutoFit/>
          </a:bodyPr>
          <a:lstStyle/>
          <a:p>
            <a:pPr algn="l"/>
            <a:r>
              <a:rPr sz="830" b="0">
                <a:solidFill>
                  <a:srgbClr val="222B34"/>
                </a:solidFill>
                <a:latin typeface="Yu Gothic"/>
              </a:rPr>
              <a:t>乗船手続き、車両乗船準備</a:t>
            </a:r>
          </a:p>
        </p:txBody>
      </p:sp>
      <p:sp>
        <p:nvSpPr>
          <p:cNvPr id="31" name="TextBox 30"/>
          <p:cNvSpPr txBox="1"/>
          <p:nvPr/>
        </p:nvSpPr>
        <p:spPr>
          <a:xfrm>
            <a:off x="6355080" y="5020056"/>
            <a:ext cx="411480" cy="256032"/>
          </a:xfrm>
          <a:prstGeom prst="rect">
            <a:avLst/>
          </a:prstGeom>
          <a:noFill/>
        </p:spPr>
        <p:txBody>
          <a:bodyPr wrap="none" lIns="73152" rIns="73152" tIns="36576" bIns="36576">
            <a:spAutoFit/>
          </a:bodyPr>
          <a:lstStyle/>
          <a:p>
            <a:pPr algn="r"/>
            <a:r>
              <a:rPr sz="830" b="0">
                <a:solidFill>
                  <a:srgbClr val="66707A"/>
                </a:solidFill>
                <a:latin typeface="Yu Gothic"/>
              </a:rPr>
              <a:t>60分</a:t>
            </a:r>
          </a:p>
        </p:txBody>
      </p:sp>
      <p:sp>
        <p:nvSpPr>
          <p:cNvPr id="32" name="Rounded Rectangle 31"/>
          <p:cNvSpPr/>
          <p:nvPr/>
        </p:nvSpPr>
        <p:spPr>
          <a:xfrm>
            <a:off x="502920" y="5513832"/>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1792" y="5586984"/>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18:30</a:t>
            </a:r>
          </a:p>
        </p:txBody>
      </p:sp>
      <p:sp>
        <p:nvSpPr>
          <p:cNvPr id="34" name="TextBox 33"/>
          <p:cNvSpPr txBox="1"/>
          <p:nvPr/>
        </p:nvSpPr>
        <p:spPr>
          <a:xfrm>
            <a:off x="1417320" y="5586984"/>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夕食</a:t>
            </a:r>
          </a:p>
        </p:txBody>
      </p:sp>
      <p:sp>
        <p:nvSpPr>
          <p:cNvPr id="35" name="TextBox 34"/>
          <p:cNvSpPr txBox="1"/>
          <p:nvPr/>
        </p:nvSpPr>
        <p:spPr>
          <a:xfrm>
            <a:off x="2084831" y="5577840"/>
            <a:ext cx="1234440" cy="274320"/>
          </a:xfrm>
          <a:prstGeom prst="rect">
            <a:avLst/>
          </a:prstGeom>
          <a:noFill/>
        </p:spPr>
        <p:txBody>
          <a:bodyPr wrap="none" lIns="73152" rIns="73152" tIns="36576" bIns="36576">
            <a:spAutoFit/>
          </a:bodyPr>
          <a:lstStyle/>
          <a:p>
            <a:pPr algn="l"/>
            <a:r>
              <a:rPr sz="900" b="1">
                <a:solidFill>
                  <a:srgbClr val="143753"/>
                </a:solidFill>
                <a:latin typeface="Yu Gothic"/>
              </a:rPr>
              <a:t>フェリー船内</a:t>
            </a:r>
          </a:p>
        </p:txBody>
      </p:sp>
      <p:sp>
        <p:nvSpPr>
          <p:cNvPr id="36" name="TextBox 35"/>
          <p:cNvSpPr txBox="1"/>
          <p:nvPr/>
        </p:nvSpPr>
        <p:spPr>
          <a:xfrm>
            <a:off x="3246120" y="5568696"/>
            <a:ext cx="3063240" cy="310896"/>
          </a:xfrm>
          <a:prstGeom prst="rect">
            <a:avLst/>
          </a:prstGeom>
          <a:noFill/>
        </p:spPr>
        <p:txBody>
          <a:bodyPr wrap="none" lIns="73152" rIns="73152" tIns="36576" bIns="36576">
            <a:spAutoFit/>
          </a:bodyPr>
          <a:lstStyle/>
          <a:p>
            <a:pPr algn="l"/>
            <a:r>
              <a:rPr sz="830" b="0">
                <a:solidFill>
                  <a:srgbClr val="222B34"/>
                </a:solidFill>
                <a:latin typeface="Yu Gothic"/>
              </a:rPr>
              <a:t>船内レストランまたは持ち込み軽食</a:t>
            </a:r>
          </a:p>
        </p:txBody>
      </p:sp>
      <p:sp>
        <p:nvSpPr>
          <p:cNvPr id="37" name="TextBox 36"/>
          <p:cNvSpPr txBox="1"/>
          <p:nvPr/>
        </p:nvSpPr>
        <p:spPr>
          <a:xfrm>
            <a:off x="6355080" y="5586984"/>
            <a:ext cx="411480" cy="256032"/>
          </a:xfrm>
          <a:prstGeom prst="rect">
            <a:avLst/>
          </a:prstGeom>
          <a:noFill/>
        </p:spPr>
        <p:txBody>
          <a:bodyPr wrap="none" lIns="73152" rIns="73152" tIns="36576" bIns="36576">
            <a:spAutoFit/>
          </a:bodyPr>
          <a:lstStyle/>
          <a:p>
            <a:pPr algn="r"/>
            <a:r>
              <a:rPr sz="830" b="0">
                <a:solidFill>
                  <a:srgbClr val="66707A"/>
                </a:solidFill>
                <a:latin typeface="Yu Gothic"/>
              </a:rPr>
              <a:t>45分</a:t>
            </a:r>
          </a:p>
        </p:txBody>
      </p:sp>
      <p:sp>
        <p:nvSpPr>
          <p:cNvPr id="38" name="TextBox 37"/>
          <p:cNvSpPr txBox="1"/>
          <p:nvPr/>
        </p:nvSpPr>
        <p:spPr>
          <a:xfrm>
            <a:off x="7150608" y="4251960"/>
            <a:ext cx="4343400" cy="292608"/>
          </a:xfrm>
          <a:prstGeom prst="rect">
            <a:avLst/>
          </a:prstGeom>
          <a:noFill/>
        </p:spPr>
        <p:txBody>
          <a:bodyPr wrap="none" lIns="73152" rIns="73152" tIns="36576" bIns="36576">
            <a:spAutoFit/>
          </a:bodyPr>
          <a:lstStyle/>
          <a:p>
            <a:pPr algn="l"/>
            <a:r>
              <a:rPr sz="1500" b="1">
                <a:solidFill>
                  <a:srgbClr val="143753"/>
                </a:solidFill>
                <a:latin typeface="Yu Gothic"/>
              </a:rPr>
              <a:t>レストラン候補</a:t>
            </a:r>
          </a:p>
        </p:txBody>
      </p:sp>
      <p:sp>
        <p:nvSpPr>
          <p:cNvPr id="39" name="Rounded Rectangle 38"/>
          <p:cNvSpPr/>
          <p:nvPr/>
        </p:nvSpPr>
        <p:spPr>
          <a:xfrm>
            <a:off x="7150608" y="463600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223760" y="4690872"/>
            <a:ext cx="566928" cy="228600"/>
          </a:xfrm>
          <a:prstGeom prst="rect">
            <a:avLst/>
          </a:prstGeom>
          <a:noFill/>
        </p:spPr>
        <p:txBody>
          <a:bodyPr wrap="none" lIns="73152" rIns="73152" tIns="36576" bIns="36576">
            <a:spAutoFit/>
          </a:bodyPr>
          <a:lstStyle/>
          <a:p>
            <a:pPr algn="l"/>
            <a:r>
              <a:rPr sz="850" b="1">
                <a:solidFill>
                  <a:srgbClr val="D86352"/>
                </a:solidFill>
                <a:latin typeface="Yu Gothic"/>
              </a:rPr>
              <a:t>夕食</a:t>
            </a:r>
          </a:p>
        </p:txBody>
      </p:sp>
      <p:sp>
        <p:nvSpPr>
          <p:cNvPr id="41" name="TextBox 40"/>
          <p:cNvSpPr txBox="1"/>
          <p:nvPr/>
        </p:nvSpPr>
        <p:spPr>
          <a:xfrm>
            <a:off x="7790688" y="468172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太平洋フェリー船内レストラン</a:t>
            </a:r>
          </a:p>
        </p:txBody>
      </p:sp>
      <p:sp>
        <p:nvSpPr>
          <p:cNvPr id="42" name="TextBox 41"/>
          <p:cNvSpPr txBox="1"/>
          <p:nvPr/>
        </p:nvSpPr>
        <p:spPr>
          <a:xfrm>
            <a:off x="9299448" y="468172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出港前後に利用しやすい第一候補</a:t>
            </a:r>
          </a:p>
        </p:txBody>
      </p:sp>
      <p:sp>
        <p:nvSpPr>
          <p:cNvPr id="43" name="Rounded Rectangle 42"/>
          <p:cNvSpPr/>
          <p:nvPr/>
        </p:nvSpPr>
        <p:spPr>
          <a:xfrm>
            <a:off x="7150608" y="513892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223760" y="5193792"/>
            <a:ext cx="566928" cy="228600"/>
          </a:xfrm>
          <a:prstGeom prst="rect">
            <a:avLst/>
          </a:prstGeom>
          <a:noFill/>
        </p:spPr>
        <p:txBody>
          <a:bodyPr wrap="none" lIns="73152" rIns="73152" tIns="36576" bIns="36576">
            <a:spAutoFit/>
          </a:bodyPr>
          <a:lstStyle/>
          <a:p>
            <a:pPr algn="l"/>
            <a:r>
              <a:rPr sz="850" b="1">
                <a:solidFill>
                  <a:srgbClr val="D86352"/>
                </a:solidFill>
                <a:latin typeface="Yu Gothic"/>
              </a:rPr>
              <a:t>夕食</a:t>
            </a:r>
          </a:p>
        </p:txBody>
      </p:sp>
      <p:sp>
        <p:nvSpPr>
          <p:cNvPr id="45" name="TextBox 44"/>
          <p:cNvSpPr txBox="1"/>
          <p:nvPr/>
        </p:nvSpPr>
        <p:spPr>
          <a:xfrm>
            <a:off x="7790688" y="518464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仙台港周辺でテイクアウト</a:t>
            </a:r>
          </a:p>
        </p:txBody>
      </p:sp>
      <p:sp>
        <p:nvSpPr>
          <p:cNvPr id="46" name="TextBox 45"/>
          <p:cNvSpPr txBox="1"/>
          <p:nvPr/>
        </p:nvSpPr>
        <p:spPr>
          <a:xfrm>
            <a:off x="9299448" y="518464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混雑時のバックアップ</a:t>
            </a:r>
          </a:p>
        </p:txBody>
      </p:sp>
      <p:sp>
        <p:nvSpPr>
          <p:cNvPr id="47" name="Rounded Rectangle 46"/>
          <p:cNvSpPr/>
          <p:nvPr/>
        </p:nvSpPr>
        <p:spPr>
          <a:xfrm>
            <a:off x="7150608" y="564184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223760" y="5696712"/>
            <a:ext cx="566928" cy="228600"/>
          </a:xfrm>
          <a:prstGeom prst="rect">
            <a:avLst/>
          </a:prstGeom>
          <a:noFill/>
        </p:spPr>
        <p:txBody>
          <a:bodyPr wrap="none" lIns="73152" rIns="73152" tIns="36576" bIns="36576">
            <a:spAutoFit/>
          </a:bodyPr>
          <a:lstStyle/>
          <a:p>
            <a:pPr algn="l"/>
            <a:r>
              <a:rPr sz="850" b="1">
                <a:solidFill>
                  <a:srgbClr val="D86352"/>
                </a:solidFill>
                <a:latin typeface="Yu Gothic"/>
              </a:rPr>
              <a:t>軽食</a:t>
            </a:r>
          </a:p>
        </p:txBody>
      </p:sp>
      <p:sp>
        <p:nvSpPr>
          <p:cNvPr id="49" name="TextBox 48"/>
          <p:cNvSpPr txBox="1"/>
          <p:nvPr/>
        </p:nvSpPr>
        <p:spPr>
          <a:xfrm>
            <a:off x="7790688" y="568756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コンビニ事前購入</a:t>
            </a:r>
          </a:p>
        </p:txBody>
      </p:sp>
      <p:sp>
        <p:nvSpPr>
          <p:cNvPr id="50" name="TextBox 49"/>
          <p:cNvSpPr txBox="1"/>
          <p:nvPr/>
        </p:nvSpPr>
        <p:spPr>
          <a:xfrm>
            <a:off x="9299448" y="568756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子ども用のおやつ、飲み物を確保</a:t>
            </a:r>
          </a:p>
        </p:txBody>
      </p:sp>
      <p:sp>
        <p:nvSpPr>
          <p:cNvPr id="51" name="TextBox 50"/>
          <p:cNvSpPr txBox="1"/>
          <p:nvPr/>
        </p:nvSpPr>
        <p:spPr>
          <a:xfrm>
            <a:off x="7150608" y="6199632"/>
            <a:ext cx="4206240" cy="228600"/>
          </a:xfrm>
          <a:prstGeom prst="rect">
            <a:avLst/>
          </a:prstGeom>
          <a:noFill/>
        </p:spPr>
        <p:txBody>
          <a:bodyPr wrap="none" lIns="73152" rIns="73152" tIns="36576" bIns="36576">
            <a:spAutoFit/>
          </a:bodyPr>
          <a:lstStyle/>
          <a:p>
            <a:pPr algn="l"/>
            <a:r>
              <a:rPr sz="780" b="0">
                <a:solidFill>
                  <a:srgbClr val="66707A"/>
                </a:solidFill>
                <a:latin typeface="Yu Gothic"/>
              </a:rPr>
              <a:t>MEMO  フェリーWi-Fiは有料1,500円。使うか当日判断。 / 船内用バッグに、着替え、洗面具、充電器、酔い止めを分ける。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CFCFA"/>
        </a:solidFill>
        <a:effectLst/>
      </p:bgPr>
    </p:bg>
    <p:spTree>
      <p:nvGrpSpPr>
        <p:cNvPr id="1" name=""/>
        <p:cNvGrpSpPr/>
        <p:nvPr/>
      </p:nvGrpSpPr>
      <p:grpSpPr/>
      <p:sp>
        <p:nvSpPr>
          <p:cNvPr id="2" name="Rounded Rectangle 1"/>
          <p:cNvSpPr/>
          <p:nvPr/>
        </p:nvSpPr>
        <p:spPr>
          <a:xfrm>
            <a:off x="502920" y="320040"/>
            <a:ext cx="1325880" cy="329184"/>
          </a:xfrm>
          <a:prstGeom prst="roundRect">
            <a:avLst/>
          </a:prstGeom>
          <a:solidFill>
            <a:srgbClr val="D863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Yu Gothic"/>
              </a:rPr>
              <a:t>DAY 1</a:t>
            </a:r>
          </a:p>
        </p:txBody>
      </p:sp>
      <p:sp>
        <p:nvSpPr>
          <p:cNvPr id="3" name="TextBox 2"/>
          <p:cNvSpPr txBox="1"/>
          <p:nvPr/>
        </p:nvSpPr>
        <p:spPr>
          <a:xfrm>
            <a:off x="502920" y="713232"/>
            <a:ext cx="6217920" cy="384048"/>
          </a:xfrm>
          <a:prstGeom prst="rect">
            <a:avLst/>
          </a:prstGeom>
          <a:noFill/>
        </p:spPr>
        <p:txBody>
          <a:bodyPr wrap="none" lIns="73152" rIns="73152" tIns="36576" bIns="36576">
            <a:spAutoFit/>
          </a:bodyPr>
          <a:lstStyle/>
          <a:p>
            <a:pPr algn="l"/>
            <a:r>
              <a:rPr sz="2200" b="1">
                <a:solidFill>
                  <a:srgbClr val="143753"/>
                </a:solidFill>
                <a:latin typeface="Yu Gothic"/>
              </a:rPr>
              <a:t>時刻ベース詳細スケジュール</a:t>
            </a:r>
          </a:p>
        </p:txBody>
      </p:sp>
      <p:sp>
        <p:nvSpPr>
          <p:cNvPr id="4" name="Rounded Rectangle 3"/>
          <p:cNvSpPr/>
          <p:nvPr/>
        </p:nvSpPr>
        <p:spPr>
          <a:xfrm>
            <a:off x="502920" y="1325880"/>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1399032"/>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15:30</a:t>
            </a:r>
          </a:p>
        </p:txBody>
      </p:sp>
      <p:sp>
        <p:nvSpPr>
          <p:cNvPr id="6" name="TextBox 5"/>
          <p:cNvSpPr txBox="1"/>
          <p:nvPr/>
        </p:nvSpPr>
        <p:spPr>
          <a:xfrm>
            <a:off x="1417320" y="1399032"/>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準備</a:t>
            </a:r>
          </a:p>
        </p:txBody>
      </p:sp>
      <p:sp>
        <p:nvSpPr>
          <p:cNvPr id="7" name="TextBox 6"/>
          <p:cNvSpPr txBox="1"/>
          <p:nvPr/>
        </p:nvSpPr>
        <p:spPr>
          <a:xfrm>
            <a:off x="2084831" y="1389888"/>
            <a:ext cx="1234440" cy="274320"/>
          </a:xfrm>
          <a:prstGeom prst="rect">
            <a:avLst/>
          </a:prstGeom>
          <a:noFill/>
        </p:spPr>
        <p:txBody>
          <a:bodyPr wrap="none" lIns="73152" rIns="73152" tIns="36576" bIns="36576">
            <a:spAutoFit/>
          </a:bodyPr>
          <a:lstStyle/>
          <a:p>
            <a:pPr algn="l"/>
            <a:r>
              <a:rPr sz="900" b="1">
                <a:solidFill>
                  <a:srgbClr val="143753"/>
                </a:solidFill>
                <a:latin typeface="Yu Gothic"/>
              </a:rPr>
              <a:t>自宅</a:t>
            </a:r>
          </a:p>
        </p:txBody>
      </p:sp>
      <p:sp>
        <p:nvSpPr>
          <p:cNvPr id="8" name="TextBox 7"/>
          <p:cNvSpPr txBox="1"/>
          <p:nvPr/>
        </p:nvSpPr>
        <p:spPr>
          <a:xfrm>
            <a:off x="3246120" y="1380744"/>
            <a:ext cx="3063240" cy="310896"/>
          </a:xfrm>
          <a:prstGeom prst="rect">
            <a:avLst/>
          </a:prstGeom>
          <a:noFill/>
        </p:spPr>
        <p:txBody>
          <a:bodyPr wrap="none" lIns="73152" rIns="73152" tIns="36576" bIns="36576">
            <a:spAutoFit/>
          </a:bodyPr>
          <a:lstStyle/>
          <a:p>
            <a:pPr algn="l"/>
            <a:r>
              <a:rPr sz="830" b="0">
                <a:solidFill>
                  <a:srgbClr val="222B34"/>
                </a:solidFill>
                <a:latin typeface="Yu Gothic"/>
              </a:rPr>
              <a:t>荷物、チケット、身分証、船内バッグを最終確認</a:t>
            </a:r>
          </a:p>
        </p:txBody>
      </p:sp>
      <p:sp>
        <p:nvSpPr>
          <p:cNvPr id="9" name="TextBox 8"/>
          <p:cNvSpPr txBox="1"/>
          <p:nvPr/>
        </p:nvSpPr>
        <p:spPr>
          <a:xfrm>
            <a:off x="6355080" y="1399032"/>
            <a:ext cx="411480" cy="256032"/>
          </a:xfrm>
          <a:prstGeom prst="rect">
            <a:avLst/>
          </a:prstGeom>
          <a:noFill/>
        </p:spPr>
        <p:txBody>
          <a:bodyPr wrap="none" lIns="73152" rIns="73152" tIns="36576" bIns="36576">
            <a:spAutoFit/>
          </a:bodyPr>
          <a:lstStyle/>
          <a:p>
            <a:pPr algn="r"/>
            <a:r>
              <a:rPr sz="830" b="0">
                <a:solidFill>
                  <a:srgbClr val="66707A"/>
                </a:solidFill>
                <a:latin typeface="Yu Gothic"/>
              </a:rPr>
              <a:t>30分</a:t>
            </a:r>
          </a:p>
        </p:txBody>
      </p:sp>
      <p:sp>
        <p:nvSpPr>
          <p:cNvPr id="10" name="Rounded Rectangle 9"/>
          <p:cNvSpPr/>
          <p:nvPr/>
        </p:nvSpPr>
        <p:spPr>
          <a:xfrm>
            <a:off x="502920" y="1892808"/>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965960"/>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16:00</a:t>
            </a:r>
          </a:p>
        </p:txBody>
      </p:sp>
      <p:sp>
        <p:nvSpPr>
          <p:cNvPr id="12" name="TextBox 11"/>
          <p:cNvSpPr txBox="1"/>
          <p:nvPr/>
        </p:nvSpPr>
        <p:spPr>
          <a:xfrm>
            <a:off x="1417320" y="1965960"/>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移動</a:t>
            </a:r>
          </a:p>
        </p:txBody>
      </p:sp>
      <p:sp>
        <p:nvSpPr>
          <p:cNvPr id="13" name="TextBox 12"/>
          <p:cNvSpPr txBox="1"/>
          <p:nvPr/>
        </p:nvSpPr>
        <p:spPr>
          <a:xfrm>
            <a:off x="2084831" y="1956816"/>
            <a:ext cx="1234440" cy="274320"/>
          </a:xfrm>
          <a:prstGeom prst="rect">
            <a:avLst/>
          </a:prstGeom>
          <a:noFill/>
        </p:spPr>
        <p:txBody>
          <a:bodyPr wrap="none" lIns="73152" rIns="73152" tIns="36576" bIns="36576">
            <a:spAutoFit/>
          </a:bodyPr>
          <a:lstStyle/>
          <a:p>
            <a:pPr algn="l"/>
            <a:r>
              <a:rPr sz="900" b="1">
                <a:solidFill>
                  <a:srgbClr val="143753"/>
                </a:solidFill>
                <a:latin typeface="Yu Gothic"/>
              </a:rPr>
              <a:t>自宅 → 仙台港</a:t>
            </a:r>
          </a:p>
        </p:txBody>
      </p:sp>
      <p:sp>
        <p:nvSpPr>
          <p:cNvPr id="14" name="TextBox 13"/>
          <p:cNvSpPr txBox="1"/>
          <p:nvPr/>
        </p:nvSpPr>
        <p:spPr>
          <a:xfrm>
            <a:off x="3246120" y="1947672"/>
            <a:ext cx="3063240" cy="310896"/>
          </a:xfrm>
          <a:prstGeom prst="rect">
            <a:avLst/>
          </a:prstGeom>
          <a:noFill/>
        </p:spPr>
        <p:txBody>
          <a:bodyPr wrap="none" lIns="73152" rIns="73152" tIns="36576" bIns="36576">
            <a:spAutoFit/>
          </a:bodyPr>
          <a:lstStyle/>
          <a:p>
            <a:pPr algn="l"/>
            <a:r>
              <a:rPr sz="830" b="0">
                <a:solidFill>
                  <a:srgbClr val="222B34"/>
                </a:solidFill>
                <a:latin typeface="Yu Gothic"/>
              </a:rPr>
              <a:t>余裕を持って仙台港へ移動。途中で飲み物と軽食を購入</a:t>
            </a:r>
          </a:p>
        </p:txBody>
      </p:sp>
      <p:sp>
        <p:nvSpPr>
          <p:cNvPr id="15" name="TextBox 14"/>
          <p:cNvSpPr txBox="1"/>
          <p:nvPr/>
        </p:nvSpPr>
        <p:spPr>
          <a:xfrm>
            <a:off x="6355080" y="1965960"/>
            <a:ext cx="411480" cy="256032"/>
          </a:xfrm>
          <a:prstGeom prst="rect">
            <a:avLst/>
          </a:prstGeom>
          <a:noFill/>
        </p:spPr>
        <p:txBody>
          <a:bodyPr wrap="none" lIns="73152" rIns="73152" tIns="36576" bIns="36576">
            <a:spAutoFit/>
          </a:bodyPr>
          <a:lstStyle/>
          <a:p>
            <a:pPr algn="r"/>
            <a:r>
              <a:rPr sz="830" b="0">
                <a:solidFill>
                  <a:srgbClr val="66707A"/>
                </a:solidFill>
                <a:latin typeface="Yu Gothic"/>
              </a:rPr>
              <a:t>約60分</a:t>
            </a:r>
          </a:p>
        </p:txBody>
      </p:sp>
      <p:sp>
        <p:nvSpPr>
          <p:cNvPr id="16" name="Rounded Rectangle 15"/>
          <p:cNvSpPr/>
          <p:nvPr/>
        </p:nvSpPr>
        <p:spPr>
          <a:xfrm>
            <a:off x="502920" y="2459736"/>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792" y="2532888"/>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17:00</a:t>
            </a:r>
          </a:p>
        </p:txBody>
      </p:sp>
      <p:sp>
        <p:nvSpPr>
          <p:cNvPr id="18" name="TextBox 17"/>
          <p:cNvSpPr txBox="1"/>
          <p:nvPr/>
        </p:nvSpPr>
        <p:spPr>
          <a:xfrm>
            <a:off x="1417320" y="2532888"/>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休憩</a:t>
            </a:r>
          </a:p>
        </p:txBody>
      </p:sp>
      <p:sp>
        <p:nvSpPr>
          <p:cNvPr id="19" name="TextBox 18"/>
          <p:cNvSpPr txBox="1"/>
          <p:nvPr/>
        </p:nvSpPr>
        <p:spPr>
          <a:xfrm>
            <a:off x="2084831" y="2523744"/>
            <a:ext cx="1234440" cy="274320"/>
          </a:xfrm>
          <a:prstGeom prst="rect">
            <a:avLst/>
          </a:prstGeom>
          <a:noFill/>
        </p:spPr>
        <p:txBody>
          <a:bodyPr wrap="none" lIns="73152" rIns="73152" tIns="36576" bIns="36576">
            <a:spAutoFit/>
          </a:bodyPr>
          <a:lstStyle/>
          <a:p>
            <a:pPr algn="l"/>
            <a:r>
              <a:rPr sz="900" b="1">
                <a:solidFill>
                  <a:srgbClr val="143753"/>
                </a:solidFill>
                <a:latin typeface="Yu Gothic"/>
              </a:rPr>
              <a:t>仙台港周辺</a:t>
            </a:r>
          </a:p>
        </p:txBody>
      </p:sp>
      <p:sp>
        <p:nvSpPr>
          <p:cNvPr id="20" name="TextBox 19"/>
          <p:cNvSpPr txBox="1"/>
          <p:nvPr/>
        </p:nvSpPr>
        <p:spPr>
          <a:xfrm>
            <a:off x="3246120" y="2514600"/>
            <a:ext cx="3063240" cy="310896"/>
          </a:xfrm>
          <a:prstGeom prst="rect">
            <a:avLst/>
          </a:prstGeom>
          <a:noFill/>
        </p:spPr>
        <p:txBody>
          <a:bodyPr wrap="none" lIns="73152" rIns="73152" tIns="36576" bIns="36576">
            <a:spAutoFit/>
          </a:bodyPr>
          <a:lstStyle/>
          <a:p>
            <a:pPr algn="l"/>
            <a:r>
              <a:rPr sz="830" b="0">
                <a:solidFill>
                  <a:srgbClr val="222B34"/>
                </a:solidFill>
                <a:latin typeface="Yu Gothic"/>
              </a:rPr>
              <a:t>乗船前のトイレ、軽食、写真撮影</a:t>
            </a:r>
          </a:p>
        </p:txBody>
      </p:sp>
      <p:sp>
        <p:nvSpPr>
          <p:cNvPr id="21" name="TextBox 20"/>
          <p:cNvSpPr txBox="1"/>
          <p:nvPr/>
        </p:nvSpPr>
        <p:spPr>
          <a:xfrm>
            <a:off x="6355080" y="2532888"/>
            <a:ext cx="411480" cy="256032"/>
          </a:xfrm>
          <a:prstGeom prst="rect">
            <a:avLst/>
          </a:prstGeom>
          <a:noFill/>
        </p:spPr>
        <p:txBody>
          <a:bodyPr wrap="none" lIns="73152" rIns="73152" tIns="36576" bIns="36576">
            <a:spAutoFit/>
          </a:bodyPr>
          <a:lstStyle/>
          <a:p>
            <a:pPr algn="r"/>
            <a:r>
              <a:rPr sz="830" b="0">
                <a:solidFill>
                  <a:srgbClr val="66707A"/>
                </a:solidFill>
                <a:latin typeface="Yu Gothic"/>
              </a:rPr>
              <a:t>30分</a:t>
            </a:r>
          </a:p>
        </p:txBody>
      </p:sp>
      <p:sp>
        <p:nvSpPr>
          <p:cNvPr id="22" name="Rounded Rectangle 21"/>
          <p:cNvSpPr/>
          <p:nvPr/>
        </p:nvSpPr>
        <p:spPr>
          <a:xfrm>
            <a:off x="502920" y="3026664"/>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1792" y="3099816"/>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17:30</a:t>
            </a:r>
          </a:p>
        </p:txBody>
      </p:sp>
      <p:sp>
        <p:nvSpPr>
          <p:cNvPr id="24" name="TextBox 23"/>
          <p:cNvSpPr txBox="1"/>
          <p:nvPr/>
        </p:nvSpPr>
        <p:spPr>
          <a:xfrm>
            <a:off x="1417320" y="3099816"/>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手続き</a:t>
            </a:r>
          </a:p>
        </p:txBody>
      </p:sp>
      <p:sp>
        <p:nvSpPr>
          <p:cNvPr id="25" name="TextBox 24"/>
          <p:cNvSpPr txBox="1"/>
          <p:nvPr/>
        </p:nvSpPr>
        <p:spPr>
          <a:xfrm>
            <a:off x="2084831" y="3090672"/>
            <a:ext cx="1234440" cy="274320"/>
          </a:xfrm>
          <a:prstGeom prst="rect">
            <a:avLst/>
          </a:prstGeom>
          <a:noFill/>
        </p:spPr>
        <p:txBody>
          <a:bodyPr wrap="none" lIns="73152" rIns="73152" tIns="36576" bIns="36576">
            <a:spAutoFit/>
          </a:bodyPr>
          <a:lstStyle/>
          <a:p>
            <a:pPr algn="l"/>
            <a:r>
              <a:rPr sz="900" b="1">
                <a:solidFill>
                  <a:srgbClr val="143753"/>
                </a:solidFill>
                <a:latin typeface="Yu Gothic"/>
              </a:rPr>
              <a:t>仙台港フェリーターミナル</a:t>
            </a:r>
          </a:p>
        </p:txBody>
      </p:sp>
      <p:sp>
        <p:nvSpPr>
          <p:cNvPr id="26" name="TextBox 25"/>
          <p:cNvSpPr txBox="1"/>
          <p:nvPr/>
        </p:nvSpPr>
        <p:spPr>
          <a:xfrm>
            <a:off x="3246120" y="3081528"/>
            <a:ext cx="3063240" cy="310896"/>
          </a:xfrm>
          <a:prstGeom prst="rect">
            <a:avLst/>
          </a:prstGeom>
          <a:noFill/>
        </p:spPr>
        <p:txBody>
          <a:bodyPr wrap="none" lIns="73152" rIns="73152" tIns="36576" bIns="36576">
            <a:spAutoFit/>
          </a:bodyPr>
          <a:lstStyle/>
          <a:p>
            <a:pPr algn="l"/>
            <a:r>
              <a:rPr sz="830" b="0">
                <a:solidFill>
                  <a:srgbClr val="222B34"/>
                </a:solidFill>
                <a:latin typeface="Yu Gothic"/>
              </a:rPr>
              <a:t>乗船手続き、車両乗船準備</a:t>
            </a:r>
          </a:p>
        </p:txBody>
      </p:sp>
      <p:sp>
        <p:nvSpPr>
          <p:cNvPr id="27" name="TextBox 26"/>
          <p:cNvSpPr txBox="1"/>
          <p:nvPr/>
        </p:nvSpPr>
        <p:spPr>
          <a:xfrm>
            <a:off x="6355080" y="3099816"/>
            <a:ext cx="411480" cy="256032"/>
          </a:xfrm>
          <a:prstGeom prst="rect">
            <a:avLst/>
          </a:prstGeom>
          <a:noFill/>
        </p:spPr>
        <p:txBody>
          <a:bodyPr wrap="none" lIns="73152" rIns="73152" tIns="36576" bIns="36576">
            <a:spAutoFit/>
          </a:bodyPr>
          <a:lstStyle/>
          <a:p>
            <a:pPr algn="r"/>
            <a:r>
              <a:rPr sz="830" b="0">
                <a:solidFill>
                  <a:srgbClr val="66707A"/>
                </a:solidFill>
                <a:latin typeface="Yu Gothic"/>
              </a:rPr>
              <a:t>60分</a:t>
            </a:r>
          </a:p>
        </p:txBody>
      </p:sp>
      <p:sp>
        <p:nvSpPr>
          <p:cNvPr id="28" name="Rounded Rectangle 27"/>
          <p:cNvSpPr/>
          <p:nvPr/>
        </p:nvSpPr>
        <p:spPr>
          <a:xfrm>
            <a:off x="502920" y="3593592"/>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1792" y="3666744"/>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18:30</a:t>
            </a:r>
          </a:p>
        </p:txBody>
      </p:sp>
      <p:sp>
        <p:nvSpPr>
          <p:cNvPr id="30" name="TextBox 29"/>
          <p:cNvSpPr txBox="1"/>
          <p:nvPr/>
        </p:nvSpPr>
        <p:spPr>
          <a:xfrm>
            <a:off x="1417320" y="3666744"/>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夕食</a:t>
            </a:r>
          </a:p>
        </p:txBody>
      </p:sp>
      <p:sp>
        <p:nvSpPr>
          <p:cNvPr id="31" name="TextBox 30"/>
          <p:cNvSpPr txBox="1"/>
          <p:nvPr/>
        </p:nvSpPr>
        <p:spPr>
          <a:xfrm>
            <a:off x="2084831" y="3657600"/>
            <a:ext cx="1234440" cy="274320"/>
          </a:xfrm>
          <a:prstGeom prst="rect">
            <a:avLst/>
          </a:prstGeom>
          <a:noFill/>
        </p:spPr>
        <p:txBody>
          <a:bodyPr wrap="none" lIns="73152" rIns="73152" tIns="36576" bIns="36576">
            <a:spAutoFit/>
          </a:bodyPr>
          <a:lstStyle/>
          <a:p>
            <a:pPr algn="l"/>
            <a:r>
              <a:rPr sz="900" b="1">
                <a:solidFill>
                  <a:srgbClr val="143753"/>
                </a:solidFill>
                <a:latin typeface="Yu Gothic"/>
              </a:rPr>
              <a:t>フェリー船内</a:t>
            </a:r>
          </a:p>
        </p:txBody>
      </p:sp>
      <p:sp>
        <p:nvSpPr>
          <p:cNvPr id="32" name="TextBox 31"/>
          <p:cNvSpPr txBox="1"/>
          <p:nvPr/>
        </p:nvSpPr>
        <p:spPr>
          <a:xfrm>
            <a:off x="3246120" y="3648456"/>
            <a:ext cx="3063240" cy="310896"/>
          </a:xfrm>
          <a:prstGeom prst="rect">
            <a:avLst/>
          </a:prstGeom>
          <a:noFill/>
        </p:spPr>
        <p:txBody>
          <a:bodyPr wrap="none" lIns="73152" rIns="73152" tIns="36576" bIns="36576">
            <a:spAutoFit/>
          </a:bodyPr>
          <a:lstStyle/>
          <a:p>
            <a:pPr algn="l"/>
            <a:r>
              <a:rPr sz="830" b="0">
                <a:solidFill>
                  <a:srgbClr val="222B34"/>
                </a:solidFill>
                <a:latin typeface="Yu Gothic"/>
              </a:rPr>
              <a:t>船内レストランまたは持ち込み軽食</a:t>
            </a:r>
          </a:p>
        </p:txBody>
      </p:sp>
      <p:sp>
        <p:nvSpPr>
          <p:cNvPr id="33" name="TextBox 32"/>
          <p:cNvSpPr txBox="1"/>
          <p:nvPr/>
        </p:nvSpPr>
        <p:spPr>
          <a:xfrm>
            <a:off x="6355080" y="3666744"/>
            <a:ext cx="411480" cy="256032"/>
          </a:xfrm>
          <a:prstGeom prst="rect">
            <a:avLst/>
          </a:prstGeom>
          <a:noFill/>
        </p:spPr>
        <p:txBody>
          <a:bodyPr wrap="none" lIns="73152" rIns="73152" tIns="36576" bIns="36576">
            <a:spAutoFit/>
          </a:bodyPr>
          <a:lstStyle/>
          <a:p>
            <a:pPr algn="r"/>
            <a:r>
              <a:rPr sz="830" b="0">
                <a:solidFill>
                  <a:srgbClr val="66707A"/>
                </a:solidFill>
                <a:latin typeface="Yu Gothic"/>
              </a:rPr>
              <a:t>45分</a:t>
            </a:r>
          </a:p>
        </p:txBody>
      </p:sp>
      <p:sp>
        <p:nvSpPr>
          <p:cNvPr id="34" name="Rounded Rectangle 33"/>
          <p:cNvSpPr/>
          <p:nvPr/>
        </p:nvSpPr>
        <p:spPr>
          <a:xfrm>
            <a:off x="502920" y="4160520"/>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1792" y="4233672"/>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19:40</a:t>
            </a:r>
          </a:p>
        </p:txBody>
      </p:sp>
      <p:sp>
        <p:nvSpPr>
          <p:cNvPr id="36" name="TextBox 35"/>
          <p:cNvSpPr txBox="1"/>
          <p:nvPr/>
        </p:nvSpPr>
        <p:spPr>
          <a:xfrm>
            <a:off x="1417320" y="4233672"/>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移動</a:t>
            </a:r>
          </a:p>
        </p:txBody>
      </p:sp>
      <p:sp>
        <p:nvSpPr>
          <p:cNvPr id="37" name="TextBox 36"/>
          <p:cNvSpPr txBox="1"/>
          <p:nvPr/>
        </p:nvSpPr>
        <p:spPr>
          <a:xfrm>
            <a:off x="2084831" y="4224528"/>
            <a:ext cx="1234440" cy="274320"/>
          </a:xfrm>
          <a:prstGeom prst="rect">
            <a:avLst/>
          </a:prstGeom>
          <a:noFill/>
        </p:spPr>
        <p:txBody>
          <a:bodyPr wrap="none" lIns="73152" rIns="73152" tIns="36576" bIns="36576">
            <a:spAutoFit/>
          </a:bodyPr>
          <a:lstStyle/>
          <a:p>
            <a:pPr algn="l"/>
            <a:r>
              <a:rPr sz="900" b="1">
                <a:solidFill>
                  <a:srgbClr val="143753"/>
                </a:solidFill>
                <a:latin typeface="Yu Gothic"/>
              </a:rPr>
              <a:t>太平洋フェリー</a:t>
            </a:r>
          </a:p>
        </p:txBody>
      </p:sp>
      <p:sp>
        <p:nvSpPr>
          <p:cNvPr id="38" name="TextBox 37"/>
          <p:cNvSpPr txBox="1"/>
          <p:nvPr/>
        </p:nvSpPr>
        <p:spPr>
          <a:xfrm>
            <a:off x="3246120" y="4215384"/>
            <a:ext cx="3063240" cy="310896"/>
          </a:xfrm>
          <a:prstGeom prst="rect">
            <a:avLst/>
          </a:prstGeom>
          <a:noFill/>
        </p:spPr>
        <p:txBody>
          <a:bodyPr wrap="none" lIns="73152" rIns="73152" tIns="36576" bIns="36576">
            <a:spAutoFit/>
          </a:bodyPr>
          <a:lstStyle/>
          <a:p>
            <a:pPr algn="l"/>
            <a:r>
              <a:rPr sz="830" b="0">
                <a:solidFill>
                  <a:srgbClr val="222B34"/>
                </a:solidFill>
                <a:latin typeface="Yu Gothic"/>
              </a:rPr>
              <a:t>仙台港を出港。船内探検と入浴</a:t>
            </a:r>
          </a:p>
        </p:txBody>
      </p:sp>
      <p:sp>
        <p:nvSpPr>
          <p:cNvPr id="39" name="TextBox 38"/>
          <p:cNvSpPr txBox="1"/>
          <p:nvPr/>
        </p:nvSpPr>
        <p:spPr>
          <a:xfrm>
            <a:off x="6355080" y="4233672"/>
            <a:ext cx="411480" cy="256032"/>
          </a:xfrm>
          <a:prstGeom prst="rect">
            <a:avLst/>
          </a:prstGeom>
          <a:noFill/>
        </p:spPr>
        <p:txBody>
          <a:bodyPr wrap="none" lIns="73152" rIns="73152" tIns="36576" bIns="36576">
            <a:spAutoFit/>
          </a:bodyPr>
          <a:lstStyle/>
          <a:p>
            <a:pPr algn="r"/>
            <a:r>
              <a:rPr sz="830" b="0">
                <a:solidFill>
                  <a:srgbClr val="66707A"/>
                </a:solidFill>
                <a:latin typeface="Yu Gothic"/>
              </a:rPr>
              <a:t>一晩</a:t>
            </a:r>
          </a:p>
        </p:txBody>
      </p:sp>
      <p:sp>
        <p:nvSpPr>
          <p:cNvPr id="40" name="Rounded Rectangle 39"/>
          <p:cNvSpPr/>
          <p:nvPr/>
        </p:nvSpPr>
        <p:spPr>
          <a:xfrm>
            <a:off x="502920" y="4727448"/>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21792" y="4800600"/>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21:30</a:t>
            </a:r>
          </a:p>
        </p:txBody>
      </p:sp>
      <p:sp>
        <p:nvSpPr>
          <p:cNvPr id="42" name="TextBox 41"/>
          <p:cNvSpPr txBox="1"/>
          <p:nvPr/>
        </p:nvSpPr>
        <p:spPr>
          <a:xfrm>
            <a:off x="1417320" y="4800600"/>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休憩</a:t>
            </a:r>
          </a:p>
        </p:txBody>
      </p:sp>
      <p:sp>
        <p:nvSpPr>
          <p:cNvPr id="43" name="TextBox 42"/>
          <p:cNvSpPr txBox="1"/>
          <p:nvPr/>
        </p:nvSpPr>
        <p:spPr>
          <a:xfrm>
            <a:off x="2084831" y="4791456"/>
            <a:ext cx="1234440" cy="274320"/>
          </a:xfrm>
          <a:prstGeom prst="rect">
            <a:avLst/>
          </a:prstGeom>
          <a:noFill/>
        </p:spPr>
        <p:txBody>
          <a:bodyPr wrap="none" lIns="73152" rIns="73152" tIns="36576" bIns="36576">
            <a:spAutoFit/>
          </a:bodyPr>
          <a:lstStyle/>
          <a:p>
            <a:pPr algn="l"/>
            <a:r>
              <a:rPr sz="900" b="1">
                <a:solidFill>
                  <a:srgbClr val="143753"/>
                </a:solidFill>
                <a:latin typeface="Yu Gothic"/>
              </a:rPr>
              <a:t>客室</a:t>
            </a:r>
          </a:p>
        </p:txBody>
      </p:sp>
      <p:sp>
        <p:nvSpPr>
          <p:cNvPr id="44" name="TextBox 43"/>
          <p:cNvSpPr txBox="1"/>
          <p:nvPr/>
        </p:nvSpPr>
        <p:spPr>
          <a:xfrm>
            <a:off x="3246120" y="4782312"/>
            <a:ext cx="3063240" cy="310896"/>
          </a:xfrm>
          <a:prstGeom prst="rect">
            <a:avLst/>
          </a:prstGeom>
          <a:noFill/>
        </p:spPr>
        <p:txBody>
          <a:bodyPr wrap="none" lIns="73152" rIns="73152" tIns="36576" bIns="36576">
            <a:spAutoFit/>
          </a:bodyPr>
          <a:lstStyle/>
          <a:p>
            <a:pPr algn="l"/>
            <a:r>
              <a:rPr sz="830" b="0">
                <a:solidFill>
                  <a:srgbClr val="222B34"/>
                </a:solidFill>
                <a:latin typeface="Yu Gothic"/>
              </a:rPr>
              <a:t>翌日の苫小牧到着に備えて早めに就寝</a:t>
            </a:r>
          </a:p>
        </p:txBody>
      </p:sp>
      <p:sp>
        <p:nvSpPr>
          <p:cNvPr id="45" name="TextBox 44"/>
          <p:cNvSpPr txBox="1"/>
          <p:nvPr/>
        </p:nvSpPr>
        <p:spPr>
          <a:xfrm>
            <a:off x="6355080" y="4800600"/>
            <a:ext cx="411480" cy="256032"/>
          </a:xfrm>
          <a:prstGeom prst="rect">
            <a:avLst/>
          </a:prstGeom>
          <a:noFill/>
        </p:spPr>
        <p:txBody>
          <a:bodyPr wrap="none" lIns="73152" rIns="73152" tIns="36576" bIns="36576">
            <a:spAutoFit/>
          </a:bodyPr>
          <a:lstStyle/>
          <a:p>
            <a:pPr algn="r"/>
            <a:r>
              <a:rPr sz="830" b="0">
                <a:solidFill>
                  <a:srgbClr val="66707A"/>
                </a:solidFill>
                <a:latin typeface="Yu Gothic"/>
              </a:rPr>
              <a:t>-</a:t>
            </a:r>
          </a:p>
        </p:txBody>
      </p:sp>
      <p:pic>
        <p:nvPicPr>
          <p:cNvPr id="46" name="Picture 45" descr="2026-07-31_仙台港.png"/>
          <p:cNvPicPr>
            <a:picLocks noChangeAspect="1"/>
          </p:cNvPicPr>
          <p:nvPr/>
        </p:nvPicPr>
        <p:blipFill>
          <a:blip r:embed="rId2"/>
          <a:stretch>
            <a:fillRect/>
          </a:stretch>
        </p:blipFill>
        <p:spPr>
          <a:xfrm>
            <a:off x="7360920" y="502920"/>
            <a:ext cx="4160520" cy="2331720"/>
          </a:xfrm>
          <a:prstGeom prst="rect">
            <a:avLst/>
          </a:prstGeom>
        </p:spPr>
      </p:pic>
      <p:sp>
        <p:nvSpPr>
          <p:cNvPr id="47" name="TextBox 46"/>
          <p:cNvSpPr txBox="1"/>
          <p:nvPr/>
        </p:nvSpPr>
        <p:spPr>
          <a:xfrm>
            <a:off x="7360920" y="3063240"/>
            <a:ext cx="4343400" cy="292608"/>
          </a:xfrm>
          <a:prstGeom prst="rect">
            <a:avLst/>
          </a:prstGeom>
          <a:noFill/>
        </p:spPr>
        <p:txBody>
          <a:bodyPr wrap="none" lIns="73152" rIns="73152" tIns="36576" bIns="36576">
            <a:spAutoFit/>
          </a:bodyPr>
          <a:lstStyle/>
          <a:p>
            <a:pPr algn="l"/>
            <a:r>
              <a:rPr sz="1500" b="1">
                <a:solidFill>
                  <a:srgbClr val="143753"/>
                </a:solidFill>
                <a:latin typeface="Yu Gothic"/>
              </a:rPr>
              <a:t>レストラン候補</a:t>
            </a:r>
          </a:p>
        </p:txBody>
      </p:sp>
      <p:sp>
        <p:nvSpPr>
          <p:cNvPr id="48" name="Rounded Rectangle 47"/>
          <p:cNvSpPr/>
          <p:nvPr/>
        </p:nvSpPr>
        <p:spPr>
          <a:xfrm>
            <a:off x="7360920" y="344728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434072" y="3502152"/>
            <a:ext cx="566928" cy="228600"/>
          </a:xfrm>
          <a:prstGeom prst="rect">
            <a:avLst/>
          </a:prstGeom>
          <a:noFill/>
        </p:spPr>
        <p:txBody>
          <a:bodyPr wrap="none" lIns="73152" rIns="73152" tIns="36576" bIns="36576">
            <a:spAutoFit/>
          </a:bodyPr>
          <a:lstStyle/>
          <a:p>
            <a:pPr algn="l"/>
            <a:r>
              <a:rPr sz="850" b="1">
                <a:solidFill>
                  <a:srgbClr val="D86352"/>
                </a:solidFill>
                <a:latin typeface="Yu Gothic"/>
              </a:rPr>
              <a:t>夕食</a:t>
            </a:r>
          </a:p>
        </p:txBody>
      </p:sp>
      <p:sp>
        <p:nvSpPr>
          <p:cNvPr id="50" name="TextBox 49"/>
          <p:cNvSpPr txBox="1"/>
          <p:nvPr/>
        </p:nvSpPr>
        <p:spPr>
          <a:xfrm>
            <a:off x="8001000" y="349300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太平洋フェリー船内レストラン</a:t>
            </a:r>
          </a:p>
        </p:txBody>
      </p:sp>
      <p:sp>
        <p:nvSpPr>
          <p:cNvPr id="51" name="TextBox 50"/>
          <p:cNvSpPr txBox="1"/>
          <p:nvPr/>
        </p:nvSpPr>
        <p:spPr>
          <a:xfrm>
            <a:off x="9509760" y="349300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出港前後に利用しやすい第一候補</a:t>
            </a:r>
          </a:p>
        </p:txBody>
      </p:sp>
      <p:sp>
        <p:nvSpPr>
          <p:cNvPr id="52" name="Rounded Rectangle 51"/>
          <p:cNvSpPr/>
          <p:nvPr/>
        </p:nvSpPr>
        <p:spPr>
          <a:xfrm>
            <a:off x="7360920" y="395020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434072" y="4005072"/>
            <a:ext cx="566928" cy="228600"/>
          </a:xfrm>
          <a:prstGeom prst="rect">
            <a:avLst/>
          </a:prstGeom>
          <a:noFill/>
        </p:spPr>
        <p:txBody>
          <a:bodyPr wrap="none" lIns="73152" rIns="73152" tIns="36576" bIns="36576">
            <a:spAutoFit/>
          </a:bodyPr>
          <a:lstStyle/>
          <a:p>
            <a:pPr algn="l"/>
            <a:r>
              <a:rPr sz="850" b="1">
                <a:solidFill>
                  <a:srgbClr val="D86352"/>
                </a:solidFill>
                <a:latin typeface="Yu Gothic"/>
              </a:rPr>
              <a:t>夕食</a:t>
            </a:r>
          </a:p>
        </p:txBody>
      </p:sp>
      <p:sp>
        <p:nvSpPr>
          <p:cNvPr id="54" name="TextBox 53"/>
          <p:cNvSpPr txBox="1"/>
          <p:nvPr/>
        </p:nvSpPr>
        <p:spPr>
          <a:xfrm>
            <a:off x="8001000" y="399592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仙台港周辺でテイクアウト</a:t>
            </a:r>
          </a:p>
        </p:txBody>
      </p:sp>
      <p:sp>
        <p:nvSpPr>
          <p:cNvPr id="55" name="TextBox 54"/>
          <p:cNvSpPr txBox="1"/>
          <p:nvPr/>
        </p:nvSpPr>
        <p:spPr>
          <a:xfrm>
            <a:off x="9509760" y="399592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混雑時のバックアップ</a:t>
            </a:r>
          </a:p>
        </p:txBody>
      </p:sp>
      <p:sp>
        <p:nvSpPr>
          <p:cNvPr id="56" name="Rounded Rectangle 55"/>
          <p:cNvSpPr/>
          <p:nvPr/>
        </p:nvSpPr>
        <p:spPr>
          <a:xfrm>
            <a:off x="7360920" y="445312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434072" y="4507992"/>
            <a:ext cx="566928" cy="228600"/>
          </a:xfrm>
          <a:prstGeom prst="rect">
            <a:avLst/>
          </a:prstGeom>
          <a:noFill/>
        </p:spPr>
        <p:txBody>
          <a:bodyPr wrap="none" lIns="73152" rIns="73152" tIns="36576" bIns="36576">
            <a:spAutoFit/>
          </a:bodyPr>
          <a:lstStyle/>
          <a:p>
            <a:pPr algn="l"/>
            <a:r>
              <a:rPr sz="850" b="1">
                <a:solidFill>
                  <a:srgbClr val="D86352"/>
                </a:solidFill>
                <a:latin typeface="Yu Gothic"/>
              </a:rPr>
              <a:t>軽食</a:t>
            </a:r>
          </a:p>
        </p:txBody>
      </p:sp>
      <p:sp>
        <p:nvSpPr>
          <p:cNvPr id="58" name="TextBox 57"/>
          <p:cNvSpPr txBox="1"/>
          <p:nvPr/>
        </p:nvSpPr>
        <p:spPr>
          <a:xfrm>
            <a:off x="8001000" y="449884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コンビニ事前購入</a:t>
            </a:r>
          </a:p>
        </p:txBody>
      </p:sp>
      <p:sp>
        <p:nvSpPr>
          <p:cNvPr id="59" name="TextBox 58"/>
          <p:cNvSpPr txBox="1"/>
          <p:nvPr/>
        </p:nvSpPr>
        <p:spPr>
          <a:xfrm>
            <a:off x="9509760" y="449884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子ども用のおやつ、飲み物を確保</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2026-08-01_洞爺湖.png"/>
          <p:cNvPicPr>
            <a:picLocks noChangeAspect="1"/>
          </p:cNvPicPr>
          <p:nvPr/>
        </p:nvPicPr>
        <p:blipFill>
          <a:blip r:embed="rId2"/>
          <a:stretch>
            <a:fillRect/>
          </a:stretch>
        </p:blipFill>
        <p:spPr>
          <a:xfrm>
            <a:off x="7059168" y="0"/>
            <a:ext cx="5129784" cy="3886200"/>
          </a:xfrm>
          <a:prstGeom prst="rect">
            <a:avLst/>
          </a:prstGeom>
        </p:spPr>
      </p:pic>
      <p:sp>
        <p:nvSpPr>
          <p:cNvPr id="3" name="Rounded Rectangle 2"/>
          <p:cNvSpPr/>
          <p:nvPr/>
        </p:nvSpPr>
        <p:spPr>
          <a:xfrm>
            <a:off x="502920" y="347472"/>
            <a:ext cx="1325880" cy="329184"/>
          </a:xfrm>
          <a:prstGeom prst="roundRect">
            <a:avLst/>
          </a:prstGeom>
          <a:solidFill>
            <a:srgbClr val="D863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Yu Gothic"/>
              </a:rPr>
              <a:t>DAY 2</a:t>
            </a:r>
          </a:p>
        </p:txBody>
      </p:sp>
      <p:sp>
        <p:nvSpPr>
          <p:cNvPr id="4" name="TextBox 3"/>
          <p:cNvSpPr txBox="1"/>
          <p:nvPr/>
        </p:nvSpPr>
        <p:spPr>
          <a:xfrm>
            <a:off x="502920" y="749808"/>
            <a:ext cx="6126480" cy="548640"/>
          </a:xfrm>
          <a:prstGeom prst="rect">
            <a:avLst/>
          </a:prstGeom>
          <a:noFill/>
        </p:spPr>
        <p:txBody>
          <a:bodyPr wrap="none" lIns="73152" rIns="73152" tIns="36576" bIns="36576">
            <a:spAutoFit/>
          </a:bodyPr>
          <a:lstStyle/>
          <a:p>
            <a:pPr algn="l"/>
            <a:r>
              <a:rPr sz="2200" b="1">
                <a:solidFill>
                  <a:srgbClr val="143753"/>
                </a:solidFill>
                <a:latin typeface="Yu Gothic"/>
              </a:rPr>
              <a:t>2026-08-01  苫小牧到着から洞爺湖へ</a:t>
            </a:r>
          </a:p>
        </p:txBody>
      </p:sp>
      <p:sp>
        <p:nvSpPr>
          <p:cNvPr id="5" name="TextBox 4"/>
          <p:cNvSpPr txBox="1"/>
          <p:nvPr/>
        </p:nvSpPr>
        <p:spPr>
          <a:xfrm>
            <a:off x="530352" y="1234440"/>
            <a:ext cx="5989320" cy="384048"/>
          </a:xfrm>
          <a:prstGeom prst="rect">
            <a:avLst/>
          </a:prstGeom>
          <a:noFill/>
        </p:spPr>
        <p:txBody>
          <a:bodyPr wrap="none" lIns="73152" rIns="73152" tIns="36576" bIns="36576">
            <a:spAutoFit/>
          </a:bodyPr>
          <a:lstStyle/>
          <a:p>
            <a:pPr algn="l"/>
            <a:r>
              <a:rPr sz="1300" b="1">
                <a:solidFill>
                  <a:srgbClr val="2C73A0"/>
                </a:solidFill>
                <a:latin typeface="Yu Gothic"/>
              </a:rPr>
              <a:t>苫小牧 / 支笏湖 / 洞爺湖</a:t>
            </a:r>
          </a:p>
        </p:txBody>
      </p:sp>
      <p:sp>
        <p:nvSpPr>
          <p:cNvPr id="6" name="TextBox 5"/>
          <p:cNvSpPr txBox="1"/>
          <p:nvPr/>
        </p:nvSpPr>
        <p:spPr>
          <a:xfrm>
            <a:off x="530352" y="1719072"/>
            <a:ext cx="6080760" cy="896112"/>
          </a:xfrm>
          <a:prstGeom prst="rect">
            <a:avLst/>
          </a:prstGeom>
          <a:noFill/>
        </p:spPr>
        <p:txBody>
          <a:bodyPr wrap="none" lIns="73152" rIns="73152" tIns="36576" bIns="36576">
            <a:spAutoFit/>
          </a:bodyPr>
          <a:lstStyle/>
          <a:p>
            <a:pPr algn="l"/>
            <a:r>
              <a:rPr sz="1230" b="0">
                <a:solidFill>
                  <a:srgbClr val="222B34"/>
                </a:solidFill>
                <a:latin typeface="Yu Gothic"/>
              </a:rPr>
              <a:t>フェリーで苫小牧に到着し、北海道ドライブを開始。初日は無理に詰め込まず、昼食と休憩を挟みながら洞爺湖のキャンプ拠点へ入ります。夜は湖畔でゆっくり過ごします。</a:t>
            </a:r>
          </a:p>
        </p:txBody>
      </p:sp>
      <p:sp>
        <p:nvSpPr>
          <p:cNvPr id="7" name="TextBox 6"/>
          <p:cNvSpPr txBox="1"/>
          <p:nvPr/>
        </p:nvSpPr>
        <p:spPr>
          <a:xfrm>
            <a:off x="530352" y="2852928"/>
            <a:ext cx="6126480" cy="292608"/>
          </a:xfrm>
          <a:prstGeom prst="rect">
            <a:avLst/>
          </a:prstGeom>
          <a:noFill/>
        </p:spPr>
        <p:txBody>
          <a:bodyPr wrap="none" lIns="73152" rIns="73152" tIns="36576" bIns="36576">
            <a:spAutoFit/>
          </a:bodyPr>
          <a:lstStyle/>
          <a:p>
            <a:pPr algn="l"/>
            <a:r>
              <a:rPr sz="1500" b="1">
                <a:solidFill>
                  <a:srgbClr val="143753"/>
                </a:solidFill>
                <a:latin typeface="Yu Gothic"/>
              </a:rPr>
              <a:t>この日の流れ</a:t>
            </a:r>
          </a:p>
        </p:txBody>
      </p:sp>
      <p:sp>
        <p:nvSpPr>
          <p:cNvPr id="8" name="Rounded Rectangle 7"/>
          <p:cNvSpPr/>
          <p:nvPr/>
        </p:nvSpPr>
        <p:spPr>
          <a:xfrm>
            <a:off x="502920" y="3246120"/>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3319272"/>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07:30</a:t>
            </a:r>
          </a:p>
        </p:txBody>
      </p:sp>
      <p:sp>
        <p:nvSpPr>
          <p:cNvPr id="10" name="TextBox 9"/>
          <p:cNvSpPr txBox="1"/>
          <p:nvPr/>
        </p:nvSpPr>
        <p:spPr>
          <a:xfrm>
            <a:off x="1417320" y="3319272"/>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朝食</a:t>
            </a:r>
          </a:p>
        </p:txBody>
      </p:sp>
      <p:sp>
        <p:nvSpPr>
          <p:cNvPr id="11" name="TextBox 10"/>
          <p:cNvSpPr txBox="1"/>
          <p:nvPr/>
        </p:nvSpPr>
        <p:spPr>
          <a:xfrm>
            <a:off x="2084831" y="3310128"/>
            <a:ext cx="1234440" cy="274320"/>
          </a:xfrm>
          <a:prstGeom prst="rect">
            <a:avLst/>
          </a:prstGeom>
          <a:noFill/>
        </p:spPr>
        <p:txBody>
          <a:bodyPr wrap="none" lIns="73152" rIns="73152" tIns="36576" bIns="36576">
            <a:spAutoFit/>
          </a:bodyPr>
          <a:lstStyle/>
          <a:p>
            <a:pPr algn="l"/>
            <a:r>
              <a:rPr sz="900" b="1">
                <a:solidFill>
                  <a:srgbClr val="143753"/>
                </a:solidFill>
                <a:latin typeface="Yu Gothic"/>
              </a:rPr>
              <a:t>フェリー船内</a:t>
            </a:r>
          </a:p>
        </p:txBody>
      </p:sp>
      <p:sp>
        <p:nvSpPr>
          <p:cNvPr id="12" name="TextBox 11"/>
          <p:cNvSpPr txBox="1"/>
          <p:nvPr/>
        </p:nvSpPr>
        <p:spPr>
          <a:xfrm>
            <a:off x="3246120" y="3300984"/>
            <a:ext cx="3063240" cy="310896"/>
          </a:xfrm>
          <a:prstGeom prst="rect">
            <a:avLst/>
          </a:prstGeom>
          <a:noFill/>
        </p:spPr>
        <p:txBody>
          <a:bodyPr wrap="none" lIns="73152" rIns="73152" tIns="36576" bIns="36576">
            <a:spAutoFit/>
          </a:bodyPr>
          <a:lstStyle/>
          <a:p>
            <a:pPr algn="l"/>
            <a:r>
              <a:rPr sz="830" b="0">
                <a:solidFill>
                  <a:srgbClr val="222B34"/>
                </a:solidFill>
                <a:latin typeface="Yu Gothic"/>
              </a:rPr>
              <a:t>下船前に朝食。荷物整理も済ませる</a:t>
            </a:r>
          </a:p>
        </p:txBody>
      </p:sp>
      <p:sp>
        <p:nvSpPr>
          <p:cNvPr id="13" name="TextBox 12"/>
          <p:cNvSpPr txBox="1"/>
          <p:nvPr/>
        </p:nvSpPr>
        <p:spPr>
          <a:xfrm>
            <a:off x="6355080" y="3319272"/>
            <a:ext cx="411480" cy="256032"/>
          </a:xfrm>
          <a:prstGeom prst="rect">
            <a:avLst/>
          </a:prstGeom>
          <a:noFill/>
        </p:spPr>
        <p:txBody>
          <a:bodyPr wrap="none" lIns="73152" rIns="73152" tIns="36576" bIns="36576">
            <a:spAutoFit/>
          </a:bodyPr>
          <a:lstStyle/>
          <a:p>
            <a:pPr algn="r"/>
            <a:r>
              <a:rPr sz="830" b="0">
                <a:solidFill>
                  <a:srgbClr val="66707A"/>
                </a:solidFill>
                <a:latin typeface="Yu Gothic"/>
              </a:rPr>
              <a:t>45分</a:t>
            </a:r>
          </a:p>
        </p:txBody>
      </p:sp>
      <p:sp>
        <p:nvSpPr>
          <p:cNvPr id="14" name="Rounded Rectangle 13"/>
          <p:cNvSpPr/>
          <p:nvPr/>
        </p:nvSpPr>
        <p:spPr>
          <a:xfrm>
            <a:off x="502920" y="3813048"/>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 y="3886200"/>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10:30</a:t>
            </a:r>
          </a:p>
        </p:txBody>
      </p:sp>
      <p:sp>
        <p:nvSpPr>
          <p:cNvPr id="16" name="TextBox 15"/>
          <p:cNvSpPr txBox="1"/>
          <p:nvPr/>
        </p:nvSpPr>
        <p:spPr>
          <a:xfrm>
            <a:off x="1417320" y="3886200"/>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準備</a:t>
            </a:r>
          </a:p>
        </p:txBody>
      </p:sp>
      <p:sp>
        <p:nvSpPr>
          <p:cNvPr id="17" name="TextBox 16"/>
          <p:cNvSpPr txBox="1"/>
          <p:nvPr/>
        </p:nvSpPr>
        <p:spPr>
          <a:xfrm>
            <a:off x="2084831" y="3877056"/>
            <a:ext cx="1234440" cy="274320"/>
          </a:xfrm>
          <a:prstGeom prst="rect">
            <a:avLst/>
          </a:prstGeom>
          <a:noFill/>
        </p:spPr>
        <p:txBody>
          <a:bodyPr wrap="none" lIns="73152" rIns="73152" tIns="36576" bIns="36576">
            <a:spAutoFit/>
          </a:bodyPr>
          <a:lstStyle/>
          <a:p>
            <a:pPr algn="l"/>
            <a:r>
              <a:rPr sz="900" b="1">
                <a:solidFill>
                  <a:srgbClr val="143753"/>
                </a:solidFill>
                <a:latin typeface="Yu Gothic"/>
              </a:rPr>
              <a:t>フェリー船内</a:t>
            </a:r>
          </a:p>
        </p:txBody>
      </p:sp>
      <p:sp>
        <p:nvSpPr>
          <p:cNvPr id="18" name="TextBox 17"/>
          <p:cNvSpPr txBox="1"/>
          <p:nvPr/>
        </p:nvSpPr>
        <p:spPr>
          <a:xfrm>
            <a:off x="3246120" y="3867912"/>
            <a:ext cx="3063240" cy="310896"/>
          </a:xfrm>
          <a:prstGeom prst="rect">
            <a:avLst/>
          </a:prstGeom>
          <a:noFill/>
        </p:spPr>
        <p:txBody>
          <a:bodyPr wrap="none" lIns="73152" rIns="73152" tIns="36576" bIns="36576">
            <a:spAutoFit/>
          </a:bodyPr>
          <a:lstStyle/>
          <a:p>
            <a:pPr algn="l"/>
            <a:r>
              <a:rPr sz="830" b="0">
                <a:solidFill>
                  <a:srgbClr val="222B34"/>
                </a:solidFill>
                <a:latin typeface="Yu Gothic"/>
              </a:rPr>
              <a:t>車両甲板へ向かう準備、忘れ物確認</a:t>
            </a:r>
          </a:p>
        </p:txBody>
      </p:sp>
      <p:sp>
        <p:nvSpPr>
          <p:cNvPr id="19" name="TextBox 18"/>
          <p:cNvSpPr txBox="1"/>
          <p:nvPr/>
        </p:nvSpPr>
        <p:spPr>
          <a:xfrm>
            <a:off x="6355080" y="3886200"/>
            <a:ext cx="411480" cy="256032"/>
          </a:xfrm>
          <a:prstGeom prst="rect">
            <a:avLst/>
          </a:prstGeom>
          <a:noFill/>
        </p:spPr>
        <p:txBody>
          <a:bodyPr wrap="none" lIns="73152" rIns="73152" tIns="36576" bIns="36576">
            <a:spAutoFit/>
          </a:bodyPr>
          <a:lstStyle/>
          <a:p>
            <a:pPr algn="r"/>
            <a:r>
              <a:rPr sz="830" b="0">
                <a:solidFill>
                  <a:srgbClr val="66707A"/>
                </a:solidFill>
                <a:latin typeface="Yu Gothic"/>
              </a:rPr>
              <a:t>30分</a:t>
            </a:r>
          </a:p>
        </p:txBody>
      </p:sp>
      <p:sp>
        <p:nvSpPr>
          <p:cNvPr id="20" name="Rounded Rectangle 19"/>
          <p:cNvSpPr/>
          <p:nvPr/>
        </p:nvSpPr>
        <p:spPr>
          <a:xfrm>
            <a:off x="502920" y="4379976"/>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1792" y="4453128"/>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11:00</a:t>
            </a:r>
          </a:p>
        </p:txBody>
      </p:sp>
      <p:sp>
        <p:nvSpPr>
          <p:cNvPr id="22" name="TextBox 21"/>
          <p:cNvSpPr txBox="1"/>
          <p:nvPr/>
        </p:nvSpPr>
        <p:spPr>
          <a:xfrm>
            <a:off x="1417320" y="4453128"/>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移動</a:t>
            </a:r>
          </a:p>
        </p:txBody>
      </p:sp>
      <p:sp>
        <p:nvSpPr>
          <p:cNvPr id="23" name="TextBox 22"/>
          <p:cNvSpPr txBox="1"/>
          <p:nvPr/>
        </p:nvSpPr>
        <p:spPr>
          <a:xfrm>
            <a:off x="2084831" y="4443984"/>
            <a:ext cx="1234440" cy="274320"/>
          </a:xfrm>
          <a:prstGeom prst="rect">
            <a:avLst/>
          </a:prstGeom>
          <a:noFill/>
        </p:spPr>
        <p:txBody>
          <a:bodyPr wrap="none" lIns="73152" rIns="73152" tIns="36576" bIns="36576">
            <a:spAutoFit/>
          </a:bodyPr>
          <a:lstStyle/>
          <a:p>
            <a:pPr algn="l"/>
            <a:r>
              <a:rPr sz="900" b="1">
                <a:solidFill>
                  <a:srgbClr val="143753"/>
                </a:solidFill>
                <a:latin typeface="Yu Gothic"/>
              </a:rPr>
              <a:t>苫小牧港</a:t>
            </a:r>
          </a:p>
        </p:txBody>
      </p:sp>
      <p:sp>
        <p:nvSpPr>
          <p:cNvPr id="24" name="TextBox 23"/>
          <p:cNvSpPr txBox="1"/>
          <p:nvPr/>
        </p:nvSpPr>
        <p:spPr>
          <a:xfrm>
            <a:off x="3246120" y="4434840"/>
            <a:ext cx="3063240" cy="310896"/>
          </a:xfrm>
          <a:prstGeom prst="rect">
            <a:avLst/>
          </a:prstGeom>
          <a:noFill/>
        </p:spPr>
        <p:txBody>
          <a:bodyPr wrap="none" lIns="73152" rIns="73152" tIns="36576" bIns="36576">
            <a:spAutoFit/>
          </a:bodyPr>
          <a:lstStyle/>
          <a:p>
            <a:pPr algn="l"/>
            <a:r>
              <a:rPr sz="830" b="0">
                <a:solidFill>
                  <a:srgbClr val="222B34"/>
                </a:solidFill>
                <a:latin typeface="Yu Gothic"/>
              </a:rPr>
              <a:t>下船。北海道ドライブ開始</a:t>
            </a:r>
          </a:p>
        </p:txBody>
      </p:sp>
      <p:sp>
        <p:nvSpPr>
          <p:cNvPr id="25" name="TextBox 24"/>
          <p:cNvSpPr txBox="1"/>
          <p:nvPr/>
        </p:nvSpPr>
        <p:spPr>
          <a:xfrm>
            <a:off x="6355080" y="4453128"/>
            <a:ext cx="411480" cy="256032"/>
          </a:xfrm>
          <a:prstGeom prst="rect">
            <a:avLst/>
          </a:prstGeom>
          <a:noFill/>
        </p:spPr>
        <p:txBody>
          <a:bodyPr wrap="none" lIns="73152" rIns="73152" tIns="36576" bIns="36576">
            <a:spAutoFit/>
          </a:bodyPr>
          <a:lstStyle/>
          <a:p>
            <a:pPr algn="r"/>
            <a:r>
              <a:rPr sz="830" b="0">
                <a:solidFill>
                  <a:srgbClr val="66707A"/>
                </a:solidFill>
                <a:latin typeface="Yu Gothic"/>
              </a:rPr>
              <a:t>30分</a:t>
            </a:r>
          </a:p>
        </p:txBody>
      </p:sp>
      <p:sp>
        <p:nvSpPr>
          <p:cNvPr id="26" name="Rounded Rectangle 25"/>
          <p:cNvSpPr/>
          <p:nvPr/>
        </p:nvSpPr>
        <p:spPr>
          <a:xfrm>
            <a:off x="502920" y="4946904"/>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1792" y="5020056"/>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11:45</a:t>
            </a:r>
          </a:p>
        </p:txBody>
      </p:sp>
      <p:sp>
        <p:nvSpPr>
          <p:cNvPr id="28" name="TextBox 27"/>
          <p:cNvSpPr txBox="1"/>
          <p:nvPr/>
        </p:nvSpPr>
        <p:spPr>
          <a:xfrm>
            <a:off x="1417320" y="5020056"/>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昼食</a:t>
            </a:r>
          </a:p>
        </p:txBody>
      </p:sp>
      <p:sp>
        <p:nvSpPr>
          <p:cNvPr id="29" name="TextBox 28"/>
          <p:cNvSpPr txBox="1"/>
          <p:nvPr/>
        </p:nvSpPr>
        <p:spPr>
          <a:xfrm>
            <a:off x="2084831" y="5010912"/>
            <a:ext cx="1234440" cy="274320"/>
          </a:xfrm>
          <a:prstGeom prst="rect">
            <a:avLst/>
          </a:prstGeom>
          <a:noFill/>
        </p:spPr>
        <p:txBody>
          <a:bodyPr wrap="none" lIns="73152" rIns="73152" tIns="36576" bIns="36576">
            <a:spAutoFit/>
          </a:bodyPr>
          <a:lstStyle/>
          <a:p>
            <a:pPr algn="l"/>
            <a:r>
              <a:rPr sz="900" b="1">
                <a:solidFill>
                  <a:srgbClr val="143753"/>
                </a:solidFill>
                <a:latin typeface="Yu Gothic"/>
              </a:rPr>
              <a:t>苫小牧市内</a:t>
            </a:r>
          </a:p>
        </p:txBody>
      </p:sp>
      <p:sp>
        <p:nvSpPr>
          <p:cNvPr id="30" name="TextBox 29"/>
          <p:cNvSpPr txBox="1"/>
          <p:nvPr/>
        </p:nvSpPr>
        <p:spPr>
          <a:xfrm>
            <a:off x="3246120" y="5001768"/>
            <a:ext cx="3063240" cy="310896"/>
          </a:xfrm>
          <a:prstGeom prst="rect">
            <a:avLst/>
          </a:prstGeom>
          <a:noFill/>
        </p:spPr>
        <p:txBody>
          <a:bodyPr wrap="none" lIns="73152" rIns="73152" tIns="36576" bIns="36576">
            <a:spAutoFit/>
          </a:bodyPr>
          <a:lstStyle/>
          <a:p>
            <a:pPr algn="l"/>
            <a:r>
              <a:rPr sz="830" b="0">
                <a:solidFill>
                  <a:srgbClr val="222B34"/>
                </a:solidFill>
                <a:latin typeface="Yu Gothic"/>
              </a:rPr>
              <a:t>海鮮、定食、または道の駅系で軽めに昼食</a:t>
            </a:r>
          </a:p>
        </p:txBody>
      </p:sp>
      <p:sp>
        <p:nvSpPr>
          <p:cNvPr id="31" name="TextBox 30"/>
          <p:cNvSpPr txBox="1"/>
          <p:nvPr/>
        </p:nvSpPr>
        <p:spPr>
          <a:xfrm>
            <a:off x="6355080" y="5020056"/>
            <a:ext cx="411480" cy="256032"/>
          </a:xfrm>
          <a:prstGeom prst="rect">
            <a:avLst/>
          </a:prstGeom>
          <a:noFill/>
        </p:spPr>
        <p:txBody>
          <a:bodyPr wrap="none" lIns="73152" rIns="73152" tIns="36576" bIns="36576">
            <a:spAutoFit/>
          </a:bodyPr>
          <a:lstStyle/>
          <a:p>
            <a:pPr algn="r"/>
            <a:r>
              <a:rPr sz="830" b="0">
                <a:solidFill>
                  <a:srgbClr val="66707A"/>
                </a:solidFill>
                <a:latin typeface="Yu Gothic"/>
              </a:rPr>
              <a:t>60分</a:t>
            </a:r>
          </a:p>
        </p:txBody>
      </p:sp>
      <p:sp>
        <p:nvSpPr>
          <p:cNvPr id="32" name="Rounded Rectangle 31"/>
          <p:cNvSpPr/>
          <p:nvPr/>
        </p:nvSpPr>
        <p:spPr>
          <a:xfrm>
            <a:off x="502920" y="5513832"/>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1792" y="5586984"/>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13:00</a:t>
            </a:r>
          </a:p>
        </p:txBody>
      </p:sp>
      <p:sp>
        <p:nvSpPr>
          <p:cNvPr id="34" name="TextBox 33"/>
          <p:cNvSpPr txBox="1"/>
          <p:nvPr/>
        </p:nvSpPr>
        <p:spPr>
          <a:xfrm>
            <a:off x="1417320" y="5586984"/>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移動</a:t>
            </a:r>
          </a:p>
        </p:txBody>
      </p:sp>
      <p:sp>
        <p:nvSpPr>
          <p:cNvPr id="35" name="TextBox 34"/>
          <p:cNvSpPr txBox="1"/>
          <p:nvPr/>
        </p:nvSpPr>
        <p:spPr>
          <a:xfrm>
            <a:off x="2084831" y="5577840"/>
            <a:ext cx="1234440" cy="274320"/>
          </a:xfrm>
          <a:prstGeom prst="rect">
            <a:avLst/>
          </a:prstGeom>
          <a:noFill/>
        </p:spPr>
        <p:txBody>
          <a:bodyPr wrap="none" lIns="73152" rIns="73152" tIns="36576" bIns="36576">
            <a:spAutoFit/>
          </a:bodyPr>
          <a:lstStyle/>
          <a:p>
            <a:pPr algn="l"/>
            <a:r>
              <a:rPr sz="900" b="1">
                <a:solidFill>
                  <a:srgbClr val="143753"/>
                </a:solidFill>
                <a:latin typeface="Yu Gothic"/>
              </a:rPr>
              <a:t>苫小牧 → 洞爺湖</a:t>
            </a:r>
          </a:p>
        </p:txBody>
      </p:sp>
      <p:sp>
        <p:nvSpPr>
          <p:cNvPr id="36" name="TextBox 35"/>
          <p:cNvSpPr txBox="1"/>
          <p:nvPr/>
        </p:nvSpPr>
        <p:spPr>
          <a:xfrm>
            <a:off x="3246120" y="5568696"/>
            <a:ext cx="3063240" cy="310896"/>
          </a:xfrm>
          <a:prstGeom prst="rect">
            <a:avLst/>
          </a:prstGeom>
          <a:noFill/>
        </p:spPr>
        <p:txBody>
          <a:bodyPr wrap="none" lIns="73152" rIns="73152" tIns="36576" bIns="36576">
            <a:spAutoFit/>
          </a:bodyPr>
          <a:lstStyle/>
          <a:p>
            <a:pPr algn="l"/>
            <a:r>
              <a:rPr sz="830" b="0">
                <a:solidFill>
                  <a:srgbClr val="222B34"/>
                </a:solidFill>
                <a:latin typeface="Yu Gothic"/>
              </a:rPr>
              <a:t>支笏湖方面または高速利用で洞爺湖へ</a:t>
            </a:r>
          </a:p>
        </p:txBody>
      </p:sp>
      <p:sp>
        <p:nvSpPr>
          <p:cNvPr id="37" name="TextBox 36"/>
          <p:cNvSpPr txBox="1"/>
          <p:nvPr/>
        </p:nvSpPr>
        <p:spPr>
          <a:xfrm>
            <a:off x="6355080" y="5586984"/>
            <a:ext cx="411480" cy="256032"/>
          </a:xfrm>
          <a:prstGeom prst="rect">
            <a:avLst/>
          </a:prstGeom>
          <a:noFill/>
        </p:spPr>
        <p:txBody>
          <a:bodyPr wrap="none" lIns="73152" rIns="73152" tIns="36576" bIns="36576">
            <a:spAutoFit/>
          </a:bodyPr>
          <a:lstStyle/>
          <a:p>
            <a:pPr algn="r"/>
            <a:r>
              <a:rPr sz="830" b="0">
                <a:solidFill>
                  <a:srgbClr val="66707A"/>
                </a:solidFill>
                <a:latin typeface="Yu Gothic"/>
              </a:rPr>
              <a:t>約2時間15分</a:t>
            </a:r>
          </a:p>
        </p:txBody>
      </p:sp>
      <p:sp>
        <p:nvSpPr>
          <p:cNvPr id="38" name="TextBox 37"/>
          <p:cNvSpPr txBox="1"/>
          <p:nvPr/>
        </p:nvSpPr>
        <p:spPr>
          <a:xfrm>
            <a:off x="7150608" y="4251960"/>
            <a:ext cx="4343400" cy="292608"/>
          </a:xfrm>
          <a:prstGeom prst="rect">
            <a:avLst/>
          </a:prstGeom>
          <a:noFill/>
        </p:spPr>
        <p:txBody>
          <a:bodyPr wrap="none" lIns="73152" rIns="73152" tIns="36576" bIns="36576">
            <a:spAutoFit/>
          </a:bodyPr>
          <a:lstStyle/>
          <a:p>
            <a:pPr algn="l"/>
            <a:r>
              <a:rPr sz="1500" b="1">
                <a:solidFill>
                  <a:srgbClr val="143753"/>
                </a:solidFill>
                <a:latin typeface="Yu Gothic"/>
              </a:rPr>
              <a:t>レストラン候補</a:t>
            </a:r>
          </a:p>
        </p:txBody>
      </p:sp>
      <p:sp>
        <p:nvSpPr>
          <p:cNvPr id="39" name="Rounded Rectangle 38"/>
          <p:cNvSpPr/>
          <p:nvPr/>
        </p:nvSpPr>
        <p:spPr>
          <a:xfrm>
            <a:off x="7150608" y="463600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223760" y="4690872"/>
            <a:ext cx="566928" cy="228600"/>
          </a:xfrm>
          <a:prstGeom prst="rect">
            <a:avLst/>
          </a:prstGeom>
          <a:noFill/>
        </p:spPr>
        <p:txBody>
          <a:bodyPr wrap="none" lIns="73152" rIns="73152" tIns="36576" bIns="36576">
            <a:spAutoFit/>
          </a:bodyPr>
          <a:lstStyle/>
          <a:p>
            <a:pPr algn="l"/>
            <a:r>
              <a:rPr sz="850" b="1">
                <a:solidFill>
                  <a:srgbClr val="D86352"/>
                </a:solidFill>
                <a:latin typeface="Yu Gothic"/>
              </a:rPr>
              <a:t>昼食</a:t>
            </a:r>
          </a:p>
        </p:txBody>
      </p:sp>
      <p:sp>
        <p:nvSpPr>
          <p:cNvPr id="41" name="TextBox 40"/>
          <p:cNvSpPr txBox="1"/>
          <p:nvPr/>
        </p:nvSpPr>
        <p:spPr>
          <a:xfrm>
            <a:off x="7790688" y="468172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苫小牧海鮮系食堂</a:t>
            </a:r>
          </a:p>
        </p:txBody>
      </p:sp>
      <p:sp>
        <p:nvSpPr>
          <p:cNvPr id="42" name="TextBox 41"/>
          <p:cNvSpPr txBox="1"/>
          <p:nvPr/>
        </p:nvSpPr>
        <p:spPr>
          <a:xfrm>
            <a:off x="9299448" y="468172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下船後の第一候補。混雑なら回避</a:t>
            </a:r>
          </a:p>
        </p:txBody>
      </p:sp>
      <p:sp>
        <p:nvSpPr>
          <p:cNvPr id="43" name="Rounded Rectangle 42"/>
          <p:cNvSpPr/>
          <p:nvPr/>
        </p:nvSpPr>
        <p:spPr>
          <a:xfrm>
            <a:off x="7150608" y="513892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223760" y="5193792"/>
            <a:ext cx="566928" cy="228600"/>
          </a:xfrm>
          <a:prstGeom prst="rect">
            <a:avLst/>
          </a:prstGeom>
          <a:noFill/>
        </p:spPr>
        <p:txBody>
          <a:bodyPr wrap="none" lIns="73152" rIns="73152" tIns="36576" bIns="36576">
            <a:spAutoFit/>
          </a:bodyPr>
          <a:lstStyle/>
          <a:p>
            <a:pPr algn="l"/>
            <a:r>
              <a:rPr sz="850" b="1">
                <a:solidFill>
                  <a:srgbClr val="D86352"/>
                </a:solidFill>
                <a:latin typeface="Yu Gothic"/>
              </a:rPr>
              <a:t>昼食</a:t>
            </a:r>
          </a:p>
        </p:txBody>
      </p:sp>
      <p:sp>
        <p:nvSpPr>
          <p:cNvPr id="45" name="TextBox 44"/>
          <p:cNvSpPr txBox="1"/>
          <p:nvPr/>
        </p:nvSpPr>
        <p:spPr>
          <a:xfrm>
            <a:off x="7790688" y="518464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道の駅ウトナイ湖</a:t>
            </a:r>
          </a:p>
        </p:txBody>
      </p:sp>
      <p:sp>
        <p:nvSpPr>
          <p:cNvPr id="46" name="TextBox 45"/>
          <p:cNvSpPr txBox="1"/>
          <p:nvPr/>
        </p:nvSpPr>
        <p:spPr>
          <a:xfrm>
            <a:off x="9299448" y="518464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休憩と軽食を兼ねる候補</a:t>
            </a:r>
          </a:p>
        </p:txBody>
      </p:sp>
      <p:sp>
        <p:nvSpPr>
          <p:cNvPr id="47" name="Rounded Rectangle 46"/>
          <p:cNvSpPr/>
          <p:nvPr/>
        </p:nvSpPr>
        <p:spPr>
          <a:xfrm>
            <a:off x="7150608" y="564184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223760" y="5696712"/>
            <a:ext cx="566928" cy="228600"/>
          </a:xfrm>
          <a:prstGeom prst="rect">
            <a:avLst/>
          </a:prstGeom>
          <a:noFill/>
        </p:spPr>
        <p:txBody>
          <a:bodyPr wrap="none" lIns="73152" rIns="73152" tIns="36576" bIns="36576">
            <a:spAutoFit/>
          </a:bodyPr>
          <a:lstStyle/>
          <a:p>
            <a:pPr algn="l"/>
            <a:r>
              <a:rPr sz="850" b="1">
                <a:solidFill>
                  <a:srgbClr val="D86352"/>
                </a:solidFill>
                <a:latin typeface="Yu Gothic"/>
              </a:rPr>
              <a:t>夕食</a:t>
            </a:r>
          </a:p>
        </p:txBody>
      </p:sp>
      <p:sp>
        <p:nvSpPr>
          <p:cNvPr id="49" name="TextBox 48"/>
          <p:cNvSpPr txBox="1"/>
          <p:nvPr/>
        </p:nvSpPr>
        <p:spPr>
          <a:xfrm>
            <a:off x="7790688" y="568756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洞爺湖温泉街の食堂</a:t>
            </a:r>
          </a:p>
        </p:txBody>
      </p:sp>
      <p:sp>
        <p:nvSpPr>
          <p:cNvPr id="50" name="TextBox 49"/>
          <p:cNvSpPr txBox="1"/>
          <p:nvPr/>
        </p:nvSpPr>
        <p:spPr>
          <a:xfrm>
            <a:off x="9299448" y="568756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外食にする場合の候補</a:t>
            </a:r>
          </a:p>
        </p:txBody>
      </p:sp>
      <p:sp>
        <p:nvSpPr>
          <p:cNvPr id="51" name="Rounded Rectangle 50"/>
          <p:cNvSpPr/>
          <p:nvPr/>
        </p:nvSpPr>
        <p:spPr>
          <a:xfrm>
            <a:off x="7150608" y="614476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223760" y="6199632"/>
            <a:ext cx="566928" cy="228600"/>
          </a:xfrm>
          <a:prstGeom prst="rect">
            <a:avLst/>
          </a:prstGeom>
          <a:noFill/>
        </p:spPr>
        <p:txBody>
          <a:bodyPr wrap="none" lIns="73152" rIns="73152" tIns="36576" bIns="36576">
            <a:spAutoFit/>
          </a:bodyPr>
          <a:lstStyle/>
          <a:p>
            <a:pPr algn="l"/>
            <a:r>
              <a:rPr sz="850" b="1">
                <a:solidFill>
                  <a:srgbClr val="D86352"/>
                </a:solidFill>
                <a:latin typeface="Yu Gothic"/>
              </a:rPr>
              <a:t>夕食</a:t>
            </a:r>
          </a:p>
        </p:txBody>
      </p:sp>
      <p:sp>
        <p:nvSpPr>
          <p:cNvPr id="53" name="TextBox 52"/>
          <p:cNvSpPr txBox="1"/>
          <p:nvPr/>
        </p:nvSpPr>
        <p:spPr>
          <a:xfrm>
            <a:off x="7790688" y="619048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バンガローで簡単調理</a:t>
            </a:r>
          </a:p>
        </p:txBody>
      </p:sp>
      <p:sp>
        <p:nvSpPr>
          <p:cNvPr id="54" name="TextBox 53"/>
          <p:cNvSpPr txBox="1"/>
          <p:nvPr/>
        </p:nvSpPr>
        <p:spPr>
          <a:xfrm>
            <a:off x="9299448" y="619048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移動疲れがある場合の安全策</a:t>
            </a:r>
          </a:p>
        </p:txBody>
      </p:sp>
      <p:sp>
        <p:nvSpPr>
          <p:cNvPr id="55" name="TextBox 54"/>
          <p:cNvSpPr txBox="1"/>
          <p:nvPr/>
        </p:nvSpPr>
        <p:spPr>
          <a:xfrm>
            <a:off x="7150608" y="6199632"/>
            <a:ext cx="4206240" cy="228600"/>
          </a:xfrm>
          <a:prstGeom prst="rect">
            <a:avLst/>
          </a:prstGeom>
          <a:noFill/>
        </p:spPr>
        <p:txBody>
          <a:bodyPr wrap="none" lIns="73152" rIns="73152" tIns="36576" bIns="36576">
            <a:spAutoFit/>
          </a:bodyPr>
          <a:lstStyle/>
          <a:p>
            <a:pPr algn="l"/>
            <a:r>
              <a:rPr sz="780" b="0">
                <a:solidFill>
                  <a:srgbClr val="66707A"/>
                </a:solidFill>
                <a:latin typeface="Yu Gothic"/>
              </a:rPr>
              <a:t>MEMO  初日は北海道到着の余韻を優先し、観光を詰め込みすぎない。 / バンガロー滞在中の食材・飲み物をこの日に少し補充する。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CFCFA"/>
        </a:solidFill>
        <a:effectLst/>
      </p:bgPr>
    </p:bg>
    <p:spTree>
      <p:nvGrpSpPr>
        <p:cNvPr id="1" name=""/>
        <p:cNvGrpSpPr/>
        <p:nvPr/>
      </p:nvGrpSpPr>
      <p:grpSpPr/>
      <p:sp>
        <p:nvSpPr>
          <p:cNvPr id="2" name="Rounded Rectangle 1"/>
          <p:cNvSpPr/>
          <p:nvPr/>
        </p:nvSpPr>
        <p:spPr>
          <a:xfrm>
            <a:off x="502920" y="320040"/>
            <a:ext cx="1325880" cy="329184"/>
          </a:xfrm>
          <a:prstGeom prst="roundRect">
            <a:avLst/>
          </a:prstGeom>
          <a:solidFill>
            <a:srgbClr val="D863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Yu Gothic"/>
              </a:rPr>
              <a:t>DAY 2</a:t>
            </a:r>
          </a:p>
        </p:txBody>
      </p:sp>
      <p:sp>
        <p:nvSpPr>
          <p:cNvPr id="3" name="TextBox 2"/>
          <p:cNvSpPr txBox="1"/>
          <p:nvPr/>
        </p:nvSpPr>
        <p:spPr>
          <a:xfrm>
            <a:off x="502920" y="713232"/>
            <a:ext cx="6217920" cy="384048"/>
          </a:xfrm>
          <a:prstGeom prst="rect">
            <a:avLst/>
          </a:prstGeom>
          <a:noFill/>
        </p:spPr>
        <p:txBody>
          <a:bodyPr wrap="none" lIns="73152" rIns="73152" tIns="36576" bIns="36576">
            <a:spAutoFit/>
          </a:bodyPr>
          <a:lstStyle/>
          <a:p>
            <a:pPr algn="l"/>
            <a:r>
              <a:rPr sz="2200" b="1">
                <a:solidFill>
                  <a:srgbClr val="143753"/>
                </a:solidFill>
                <a:latin typeface="Yu Gothic"/>
              </a:rPr>
              <a:t>時刻ベース詳細スケジュール</a:t>
            </a:r>
          </a:p>
        </p:txBody>
      </p:sp>
      <p:sp>
        <p:nvSpPr>
          <p:cNvPr id="4" name="Rounded Rectangle 3"/>
          <p:cNvSpPr/>
          <p:nvPr/>
        </p:nvSpPr>
        <p:spPr>
          <a:xfrm>
            <a:off x="502920" y="1325880"/>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1399032"/>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07:30</a:t>
            </a:r>
          </a:p>
        </p:txBody>
      </p:sp>
      <p:sp>
        <p:nvSpPr>
          <p:cNvPr id="6" name="TextBox 5"/>
          <p:cNvSpPr txBox="1"/>
          <p:nvPr/>
        </p:nvSpPr>
        <p:spPr>
          <a:xfrm>
            <a:off x="1417320" y="1399032"/>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朝食</a:t>
            </a:r>
          </a:p>
        </p:txBody>
      </p:sp>
      <p:sp>
        <p:nvSpPr>
          <p:cNvPr id="7" name="TextBox 6"/>
          <p:cNvSpPr txBox="1"/>
          <p:nvPr/>
        </p:nvSpPr>
        <p:spPr>
          <a:xfrm>
            <a:off x="2084831" y="1389888"/>
            <a:ext cx="1234440" cy="274320"/>
          </a:xfrm>
          <a:prstGeom prst="rect">
            <a:avLst/>
          </a:prstGeom>
          <a:noFill/>
        </p:spPr>
        <p:txBody>
          <a:bodyPr wrap="none" lIns="73152" rIns="73152" tIns="36576" bIns="36576">
            <a:spAutoFit/>
          </a:bodyPr>
          <a:lstStyle/>
          <a:p>
            <a:pPr algn="l"/>
            <a:r>
              <a:rPr sz="900" b="1">
                <a:solidFill>
                  <a:srgbClr val="143753"/>
                </a:solidFill>
                <a:latin typeface="Yu Gothic"/>
              </a:rPr>
              <a:t>フェリー船内</a:t>
            </a:r>
          </a:p>
        </p:txBody>
      </p:sp>
      <p:sp>
        <p:nvSpPr>
          <p:cNvPr id="8" name="TextBox 7"/>
          <p:cNvSpPr txBox="1"/>
          <p:nvPr/>
        </p:nvSpPr>
        <p:spPr>
          <a:xfrm>
            <a:off x="3246120" y="1380744"/>
            <a:ext cx="3063240" cy="310896"/>
          </a:xfrm>
          <a:prstGeom prst="rect">
            <a:avLst/>
          </a:prstGeom>
          <a:noFill/>
        </p:spPr>
        <p:txBody>
          <a:bodyPr wrap="none" lIns="73152" rIns="73152" tIns="36576" bIns="36576">
            <a:spAutoFit/>
          </a:bodyPr>
          <a:lstStyle/>
          <a:p>
            <a:pPr algn="l"/>
            <a:r>
              <a:rPr sz="830" b="0">
                <a:solidFill>
                  <a:srgbClr val="222B34"/>
                </a:solidFill>
                <a:latin typeface="Yu Gothic"/>
              </a:rPr>
              <a:t>下船前に朝食。荷物整理も済ませる</a:t>
            </a:r>
          </a:p>
        </p:txBody>
      </p:sp>
      <p:sp>
        <p:nvSpPr>
          <p:cNvPr id="9" name="TextBox 8"/>
          <p:cNvSpPr txBox="1"/>
          <p:nvPr/>
        </p:nvSpPr>
        <p:spPr>
          <a:xfrm>
            <a:off x="6355080" y="1399032"/>
            <a:ext cx="411480" cy="256032"/>
          </a:xfrm>
          <a:prstGeom prst="rect">
            <a:avLst/>
          </a:prstGeom>
          <a:noFill/>
        </p:spPr>
        <p:txBody>
          <a:bodyPr wrap="none" lIns="73152" rIns="73152" tIns="36576" bIns="36576">
            <a:spAutoFit/>
          </a:bodyPr>
          <a:lstStyle/>
          <a:p>
            <a:pPr algn="r"/>
            <a:r>
              <a:rPr sz="830" b="0">
                <a:solidFill>
                  <a:srgbClr val="66707A"/>
                </a:solidFill>
                <a:latin typeface="Yu Gothic"/>
              </a:rPr>
              <a:t>45分</a:t>
            </a:r>
          </a:p>
        </p:txBody>
      </p:sp>
      <p:sp>
        <p:nvSpPr>
          <p:cNvPr id="10" name="Rounded Rectangle 9"/>
          <p:cNvSpPr/>
          <p:nvPr/>
        </p:nvSpPr>
        <p:spPr>
          <a:xfrm>
            <a:off x="502920" y="1892808"/>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965960"/>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10:30</a:t>
            </a:r>
          </a:p>
        </p:txBody>
      </p:sp>
      <p:sp>
        <p:nvSpPr>
          <p:cNvPr id="12" name="TextBox 11"/>
          <p:cNvSpPr txBox="1"/>
          <p:nvPr/>
        </p:nvSpPr>
        <p:spPr>
          <a:xfrm>
            <a:off x="1417320" y="1965960"/>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準備</a:t>
            </a:r>
          </a:p>
        </p:txBody>
      </p:sp>
      <p:sp>
        <p:nvSpPr>
          <p:cNvPr id="13" name="TextBox 12"/>
          <p:cNvSpPr txBox="1"/>
          <p:nvPr/>
        </p:nvSpPr>
        <p:spPr>
          <a:xfrm>
            <a:off x="2084831" y="1956816"/>
            <a:ext cx="1234440" cy="274320"/>
          </a:xfrm>
          <a:prstGeom prst="rect">
            <a:avLst/>
          </a:prstGeom>
          <a:noFill/>
        </p:spPr>
        <p:txBody>
          <a:bodyPr wrap="none" lIns="73152" rIns="73152" tIns="36576" bIns="36576">
            <a:spAutoFit/>
          </a:bodyPr>
          <a:lstStyle/>
          <a:p>
            <a:pPr algn="l"/>
            <a:r>
              <a:rPr sz="900" b="1">
                <a:solidFill>
                  <a:srgbClr val="143753"/>
                </a:solidFill>
                <a:latin typeface="Yu Gothic"/>
              </a:rPr>
              <a:t>フェリー船内</a:t>
            </a:r>
          </a:p>
        </p:txBody>
      </p:sp>
      <p:sp>
        <p:nvSpPr>
          <p:cNvPr id="14" name="TextBox 13"/>
          <p:cNvSpPr txBox="1"/>
          <p:nvPr/>
        </p:nvSpPr>
        <p:spPr>
          <a:xfrm>
            <a:off x="3246120" y="1947672"/>
            <a:ext cx="3063240" cy="310896"/>
          </a:xfrm>
          <a:prstGeom prst="rect">
            <a:avLst/>
          </a:prstGeom>
          <a:noFill/>
        </p:spPr>
        <p:txBody>
          <a:bodyPr wrap="none" lIns="73152" rIns="73152" tIns="36576" bIns="36576">
            <a:spAutoFit/>
          </a:bodyPr>
          <a:lstStyle/>
          <a:p>
            <a:pPr algn="l"/>
            <a:r>
              <a:rPr sz="830" b="0">
                <a:solidFill>
                  <a:srgbClr val="222B34"/>
                </a:solidFill>
                <a:latin typeface="Yu Gothic"/>
              </a:rPr>
              <a:t>車両甲板へ向かう準備、忘れ物確認</a:t>
            </a:r>
          </a:p>
        </p:txBody>
      </p:sp>
      <p:sp>
        <p:nvSpPr>
          <p:cNvPr id="15" name="TextBox 14"/>
          <p:cNvSpPr txBox="1"/>
          <p:nvPr/>
        </p:nvSpPr>
        <p:spPr>
          <a:xfrm>
            <a:off x="6355080" y="1965960"/>
            <a:ext cx="411480" cy="256032"/>
          </a:xfrm>
          <a:prstGeom prst="rect">
            <a:avLst/>
          </a:prstGeom>
          <a:noFill/>
        </p:spPr>
        <p:txBody>
          <a:bodyPr wrap="none" lIns="73152" rIns="73152" tIns="36576" bIns="36576">
            <a:spAutoFit/>
          </a:bodyPr>
          <a:lstStyle/>
          <a:p>
            <a:pPr algn="r"/>
            <a:r>
              <a:rPr sz="830" b="0">
                <a:solidFill>
                  <a:srgbClr val="66707A"/>
                </a:solidFill>
                <a:latin typeface="Yu Gothic"/>
              </a:rPr>
              <a:t>30分</a:t>
            </a:r>
          </a:p>
        </p:txBody>
      </p:sp>
      <p:sp>
        <p:nvSpPr>
          <p:cNvPr id="16" name="Rounded Rectangle 15"/>
          <p:cNvSpPr/>
          <p:nvPr/>
        </p:nvSpPr>
        <p:spPr>
          <a:xfrm>
            <a:off x="502920" y="2459736"/>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792" y="2532888"/>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11:00</a:t>
            </a:r>
          </a:p>
        </p:txBody>
      </p:sp>
      <p:sp>
        <p:nvSpPr>
          <p:cNvPr id="18" name="TextBox 17"/>
          <p:cNvSpPr txBox="1"/>
          <p:nvPr/>
        </p:nvSpPr>
        <p:spPr>
          <a:xfrm>
            <a:off x="1417320" y="2532888"/>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移動</a:t>
            </a:r>
          </a:p>
        </p:txBody>
      </p:sp>
      <p:sp>
        <p:nvSpPr>
          <p:cNvPr id="19" name="TextBox 18"/>
          <p:cNvSpPr txBox="1"/>
          <p:nvPr/>
        </p:nvSpPr>
        <p:spPr>
          <a:xfrm>
            <a:off x="2084831" y="2523744"/>
            <a:ext cx="1234440" cy="274320"/>
          </a:xfrm>
          <a:prstGeom prst="rect">
            <a:avLst/>
          </a:prstGeom>
          <a:noFill/>
        </p:spPr>
        <p:txBody>
          <a:bodyPr wrap="none" lIns="73152" rIns="73152" tIns="36576" bIns="36576">
            <a:spAutoFit/>
          </a:bodyPr>
          <a:lstStyle/>
          <a:p>
            <a:pPr algn="l"/>
            <a:r>
              <a:rPr sz="900" b="1">
                <a:solidFill>
                  <a:srgbClr val="143753"/>
                </a:solidFill>
                <a:latin typeface="Yu Gothic"/>
              </a:rPr>
              <a:t>苫小牧港</a:t>
            </a:r>
          </a:p>
        </p:txBody>
      </p:sp>
      <p:sp>
        <p:nvSpPr>
          <p:cNvPr id="20" name="TextBox 19"/>
          <p:cNvSpPr txBox="1"/>
          <p:nvPr/>
        </p:nvSpPr>
        <p:spPr>
          <a:xfrm>
            <a:off x="3246120" y="2514600"/>
            <a:ext cx="3063240" cy="310896"/>
          </a:xfrm>
          <a:prstGeom prst="rect">
            <a:avLst/>
          </a:prstGeom>
          <a:noFill/>
        </p:spPr>
        <p:txBody>
          <a:bodyPr wrap="none" lIns="73152" rIns="73152" tIns="36576" bIns="36576">
            <a:spAutoFit/>
          </a:bodyPr>
          <a:lstStyle/>
          <a:p>
            <a:pPr algn="l"/>
            <a:r>
              <a:rPr sz="830" b="0">
                <a:solidFill>
                  <a:srgbClr val="222B34"/>
                </a:solidFill>
                <a:latin typeface="Yu Gothic"/>
              </a:rPr>
              <a:t>下船。北海道ドライブ開始</a:t>
            </a:r>
          </a:p>
        </p:txBody>
      </p:sp>
      <p:sp>
        <p:nvSpPr>
          <p:cNvPr id="21" name="TextBox 20"/>
          <p:cNvSpPr txBox="1"/>
          <p:nvPr/>
        </p:nvSpPr>
        <p:spPr>
          <a:xfrm>
            <a:off x="6355080" y="2532888"/>
            <a:ext cx="411480" cy="256032"/>
          </a:xfrm>
          <a:prstGeom prst="rect">
            <a:avLst/>
          </a:prstGeom>
          <a:noFill/>
        </p:spPr>
        <p:txBody>
          <a:bodyPr wrap="none" lIns="73152" rIns="73152" tIns="36576" bIns="36576">
            <a:spAutoFit/>
          </a:bodyPr>
          <a:lstStyle/>
          <a:p>
            <a:pPr algn="r"/>
            <a:r>
              <a:rPr sz="830" b="0">
                <a:solidFill>
                  <a:srgbClr val="66707A"/>
                </a:solidFill>
                <a:latin typeface="Yu Gothic"/>
              </a:rPr>
              <a:t>30分</a:t>
            </a:r>
          </a:p>
        </p:txBody>
      </p:sp>
      <p:sp>
        <p:nvSpPr>
          <p:cNvPr id="22" name="Rounded Rectangle 21"/>
          <p:cNvSpPr/>
          <p:nvPr/>
        </p:nvSpPr>
        <p:spPr>
          <a:xfrm>
            <a:off x="502920" y="3026664"/>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1792" y="3099816"/>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11:45</a:t>
            </a:r>
          </a:p>
        </p:txBody>
      </p:sp>
      <p:sp>
        <p:nvSpPr>
          <p:cNvPr id="24" name="TextBox 23"/>
          <p:cNvSpPr txBox="1"/>
          <p:nvPr/>
        </p:nvSpPr>
        <p:spPr>
          <a:xfrm>
            <a:off x="1417320" y="3099816"/>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昼食</a:t>
            </a:r>
          </a:p>
        </p:txBody>
      </p:sp>
      <p:sp>
        <p:nvSpPr>
          <p:cNvPr id="25" name="TextBox 24"/>
          <p:cNvSpPr txBox="1"/>
          <p:nvPr/>
        </p:nvSpPr>
        <p:spPr>
          <a:xfrm>
            <a:off x="2084831" y="3090672"/>
            <a:ext cx="1234440" cy="274320"/>
          </a:xfrm>
          <a:prstGeom prst="rect">
            <a:avLst/>
          </a:prstGeom>
          <a:noFill/>
        </p:spPr>
        <p:txBody>
          <a:bodyPr wrap="none" lIns="73152" rIns="73152" tIns="36576" bIns="36576">
            <a:spAutoFit/>
          </a:bodyPr>
          <a:lstStyle/>
          <a:p>
            <a:pPr algn="l"/>
            <a:r>
              <a:rPr sz="900" b="1">
                <a:solidFill>
                  <a:srgbClr val="143753"/>
                </a:solidFill>
                <a:latin typeface="Yu Gothic"/>
              </a:rPr>
              <a:t>苫小牧市内</a:t>
            </a:r>
          </a:p>
        </p:txBody>
      </p:sp>
      <p:sp>
        <p:nvSpPr>
          <p:cNvPr id="26" name="TextBox 25"/>
          <p:cNvSpPr txBox="1"/>
          <p:nvPr/>
        </p:nvSpPr>
        <p:spPr>
          <a:xfrm>
            <a:off x="3246120" y="3081528"/>
            <a:ext cx="3063240" cy="310896"/>
          </a:xfrm>
          <a:prstGeom prst="rect">
            <a:avLst/>
          </a:prstGeom>
          <a:noFill/>
        </p:spPr>
        <p:txBody>
          <a:bodyPr wrap="none" lIns="73152" rIns="73152" tIns="36576" bIns="36576">
            <a:spAutoFit/>
          </a:bodyPr>
          <a:lstStyle/>
          <a:p>
            <a:pPr algn="l"/>
            <a:r>
              <a:rPr sz="830" b="0">
                <a:solidFill>
                  <a:srgbClr val="222B34"/>
                </a:solidFill>
                <a:latin typeface="Yu Gothic"/>
              </a:rPr>
              <a:t>海鮮、定食、または道の駅系で軽めに昼食</a:t>
            </a:r>
          </a:p>
        </p:txBody>
      </p:sp>
      <p:sp>
        <p:nvSpPr>
          <p:cNvPr id="27" name="TextBox 26"/>
          <p:cNvSpPr txBox="1"/>
          <p:nvPr/>
        </p:nvSpPr>
        <p:spPr>
          <a:xfrm>
            <a:off x="6355080" y="3099816"/>
            <a:ext cx="411480" cy="256032"/>
          </a:xfrm>
          <a:prstGeom prst="rect">
            <a:avLst/>
          </a:prstGeom>
          <a:noFill/>
        </p:spPr>
        <p:txBody>
          <a:bodyPr wrap="none" lIns="73152" rIns="73152" tIns="36576" bIns="36576">
            <a:spAutoFit/>
          </a:bodyPr>
          <a:lstStyle/>
          <a:p>
            <a:pPr algn="r"/>
            <a:r>
              <a:rPr sz="830" b="0">
                <a:solidFill>
                  <a:srgbClr val="66707A"/>
                </a:solidFill>
                <a:latin typeface="Yu Gothic"/>
              </a:rPr>
              <a:t>60分</a:t>
            </a:r>
          </a:p>
        </p:txBody>
      </p:sp>
      <p:sp>
        <p:nvSpPr>
          <p:cNvPr id="28" name="Rounded Rectangle 27"/>
          <p:cNvSpPr/>
          <p:nvPr/>
        </p:nvSpPr>
        <p:spPr>
          <a:xfrm>
            <a:off x="502920" y="3593592"/>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1792" y="3666744"/>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13:00</a:t>
            </a:r>
          </a:p>
        </p:txBody>
      </p:sp>
      <p:sp>
        <p:nvSpPr>
          <p:cNvPr id="30" name="TextBox 29"/>
          <p:cNvSpPr txBox="1"/>
          <p:nvPr/>
        </p:nvSpPr>
        <p:spPr>
          <a:xfrm>
            <a:off x="1417320" y="3666744"/>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移動</a:t>
            </a:r>
          </a:p>
        </p:txBody>
      </p:sp>
      <p:sp>
        <p:nvSpPr>
          <p:cNvPr id="31" name="TextBox 30"/>
          <p:cNvSpPr txBox="1"/>
          <p:nvPr/>
        </p:nvSpPr>
        <p:spPr>
          <a:xfrm>
            <a:off x="2084831" y="3657600"/>
            <a:ext cx="1234440" cy="274320"/>
          </a:xfrm>
          <a:prstGeom prst="rect">
            <a:avLst/>
          </a:prstGeom>
          <a:noFill/>
        </p:spPr>
        <p:txBody>
          <a:bodyPr wrap="none" lIns="73152" rIns="73152" tIns="36576" bIns="36576">
            <a:spAutoFit/>
          </a:bodyPr>
          <a:lstStyle/>
          <a:p>
            <a:pPr algn="l"/>
            <a:r>
              <a:rPr sz="900" b="1">
                <a:solidFill>
                  <a:srgbClr val="143753"/>
                </a:solidFill>
                <a:latin typeface="Yu Gothic"/>
              </a:rPr>
              <a:t>苫小牧 → 洞爺湖</a:t>
            </a:r>
          </a:p>
        </p:txBody>
      </p:sp>
      <p:sp>
        <p:nvSpPr>
          <p:cNvPr id="32" name="TextBox 31"/>
          <p:cNvSpPr txBox="1"/>
          <p:nvPr/>
        </p:nvSpPr>
        <p:spPr>
          <a:xfrm>
            <a:off x="3246120" y="3648456"/>
            <a:ext cx="3063240" cy="310896"/>
          </a:xfrm>
          <a:prstGeom prst="rect">
            <a:avLst/>
          </a:prstGeom>
          <a:noFill/>
        </p:spPr>
        <p:txBody>
          <a:bodyPr wrap="none" lIns="73152" rIns="73152" tIns="36576" bIns="36576">
            <a:spAutoFit/>
          </a:bodyPr>
          <a:lstStyle/>
          <a:p>
            <a:pPr algn="l"/>
            <a:r>
              <a:rPr sz="830" b="0">
                <a:solidFill>
                  <a:srgbClr val="222B34"/>
                </a:solidFill>
                <a:latin typeface="Yu Gothic"/>
              </a:rPr>
              <a:t>支笏湖方面または高速利用で洞爺湖へ</a:t>
            </a:r>
          </a:p>
        </p:txBody>
      </p:sp>
      <p:sp>
        <p:nvSpPr>
          <p:cNvPr id="33" name="TextBox 32"/>
          <p:cNvSpPr txBox="1"/>
          <p:nvPr/>
        </p:nvSpPr>
        <p:spPr>
          <a:xfrm>
            <a:off x="6355080" y="3666744"/>
            <a:ext cx="411480" cy="256032"/>
          </a:xfrm>
          <a:prstGeom prst="rect">
            <a:avLst/>
          </a:prstGeom>
          <a:noFill/>
        </p:spPr>
        <p:txBody>
          <a:bodyPr wrap="none" lIns="73152" rIns="73152" tIns="36576" bIns="36576">
            <a:spAutoFit/>
          </a:bodyPr>
          <a:lstStyle/>
          <a:p>
            <a:pPr algn="r"/>
            <a:r>
              <a:rPr sz="830" b="0">
                <a:solidFill>
                  <a:srgbClr val="66707A"/>
                </a:solidFill>
                <a:latin typeface="Yu Gothic"/>
              </a:rPr>
              <a:t>約2時間15分</a:t>
            </a:r>
          </a:p>
        </p:txBody>
      </p:sp>
      <p:sp>
        <p:nvSpPr>
          <p:cNvPr id="34" name="Rounded Rectangle 33"/>
          <p:cNvSpPr/>
          <p:nvPr/>
        </p:nvSpPr>
        <p:spPr>
          <a:xfrm>
            <a:off x="502920" y="4160520"/>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1792" y="4233672"/>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15:15</a:t>
            </a:r>
          </a:p>
        </p:txBody>
      </p:sp>
      <p:sp>
        <p:nvSpPr>
          <p:cNvPr id="36" name="TextBox 35"/>
          <p:cNvSpPr txBox="1"/>
          <p:nvPr/>
        </p:nvSpPr>
        <p:spPr>
          <a:xfrm>
            <a:off x="1417320" y="4233672"/>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休憩</a:t>
            </a:r>
          </a:p>
        </p:txBody>
      </p:sp>
      <p:sp>
        <p:nvSpPr>
          <p:cNvPr id="37" name="TextBox 36"/>
          <p:cNvSpPr txBox="1"/>
          <p:nvPr/>
        </p:nvSpPr>
        <p:spPr>
          <a:xfrm>
            <a:off x="2084831" y="4224528"/>
            <a:ext cx="1234440" cy="274320"/>
          </a:xfrm>
          <a:prstGeom prst="rect">
            <a:avLst/>
          </a:prstGeom>
          <a:noFill/>
        </p:spPr>
        <p:txBody>
          <a:bodyPr wrap="none" lIns="73152" rIns="73152" tIns="36576" bIns="36576">
            <a:spAutoFit/>
          </a:bodyPr>
          <a:lstStyle/>
          <a:p>
            <a:pPr algn="l"/>
            <a:r>
              <a:rPr sz="900" b="1">
                <a:solidFill>
                  <a:srgbClr val="143753"/>
                </a:solidFill>
                <a:latin typeface="Yu Gothic"/>
              </a:rPr>
              <a:t>サイロ展望台周辺</a:t>
            </a:r>
          </a:p>
        </p:txBody>
      </p:sp>
      <p:sp>
        <p:nvSpPr>
          <p:cNvPr id="38" name="TextBox 37"/>
          <p:cNvSpPr txBox="1"/>
          <p:nvPr/>
        </p:nvSpPr>
        <p:spPr>
          <a:xfrm>
            <a:off x="3246120" y="4215384"/>
            <a:ext cx="3063240" cy="310896"/>
          </a:xfrm>
          <a:prstGeom prst="rect">
            <a:avLst/>
          </a:prstGeom>
          <a:noFill/>
        </p:spPr>
        <p:txBody>
          <a:bodyPr wrap="none" lIns="73152" rIns="73152" tIns="36576" bIns="36576">
            <a:spAutoFit/>
          </a:bodyPr>
          <a:lstStyle/>
          <a:p>
            <a:pPr algn="l"/>
            <a:r>
              <a:rPr sz="830" b="0">
                <a:solidFill>
                  <a:srgbClr val="222B34"/>
                </a:solidFill>
                <a:latin typeface="Yu Gothic"/>
              </a:rPr>
              <a:t>洞爺湖を見下ろす短時間休憩、写真撮影</a:t>
            </a:r>
          </a:p>
        </p:txBody>
      </p:sp>
      <p:sp>
        <p:nvSpPr>
          <p:cNvPr id="39" name="TextBox 38"/>
          <p:cNvSpPr txBox="1"/>
          <p:nvPr/>
        </p:nvSpPr>
        <p:spPr>
          <a:xfrm>
            <a:off x="6355080" y="4233672"/>
            <a:ext cx="411480" cy="256032"/>
          </a:xfrm>
          <a:prstGeom prst="rect">
            <a:avLst/>
          </a:prstGeom>
          <a:noFill/>
        </p:spPr>
        <p:txBody>
          <a:bodyPr wrap="none" lIns="73152" rIns="73152" tIns="36576" bIns="36576">
            <a:spAutoFit/>
          </a:bodyPr>
          <a:lstStyle/>
          <a:p>
            <a:pPr algn="r"/>
            <a:r>
              <a:rPr sz="830" b="0">
                <a:solidFill>
                  <a:srgbClr val="66707A"/>
                </a:solidFill>
                <a:latin typeface="Yu Gothic"/>
              </a:rPr>
              <a:t>30分</a:t>
            </a:r>
          </a:p>
        </p:txBody>
      </p:sp>
      <p:sp>
        <p:nvSpPr>
          <p:cNvPr id="40" name="Rounded Rectangle 39"/>
          <p:cNvSpPr/>
          <p:nvPr/>
        </p:nvSpPr>
        <p:spPr>
          <a:xfrm>
            <a:off x="502920" y="4727448"/>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21792" y="4800600"/>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16:00</a:t>
            </a:r>
          </a:p>
        </p:txBody>
      </p:sp>
      <p:sp>
        <p:nvSpPr>
          <p:cNvPr id="42" name="TextBox 41"/>
          <p:cNvSpPr txBox="1"/>
          <p:nvPr/>
        </p:nvSpPr>
        <p:spPr>
          <a:xfrm>
            <a:off x="1417320" y="4800600"/>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手続き</a:t>
            </a:r>
          </a:p>
        </p:txBody>
      </p:sp>
      <p:sp>
        <p:nvSpPr>
          <p:cNvPr id="43" name="TextBox 42"/>
          <p:cNvSpPr txBox="1"/>
          <p:nvPr/>
        </p:nvSpPr>
        <p:spPr>
          <a:xfrm>
            <a:off x="2084831" y="4791456"/>
            <a:ext cx="1234440" cy="274320"/>
          </a:xfrm>
          <a:prstGeom prst="rect">
            <a:avLst/>
          </a:prstGeom>
          <a:noFill/>
        </p:spPr>
        <p:txBody>
          <a:bodyPr wrap="none" lIns="73152" rIns="73152" tIns="36576" bIns="36576">
            <a:spAutoFit/>
          </a:bodyPr>
          <a:lstStyle/>
          <a:p>
            <a:pPr algn="l"/>
            <a:r>
              <a:rPr sz="900" b="1">
                <a:solidFill>
                  <a:srgbClr val="143753"/>
                </a:solidFill>
                <a:latin typeface="Yu Gothic"/>
              </a:rPr>
              <a:t>Green stay Toya</a:t>
            </a:r>
          </a:p>
        </p:txBody>
      </p:sp>
      <p:sp>
        <p:nvSpPr>
          <p:cNvPr id="44" name="TextBox 43"/>
          <p:cNvSpPr txBox="1"/>
          <p:nvPr/>
        </p:nvSpPr>
        <p:spPr>
          <a:xfrm>
            <a:off x="3246120" y="4782312"/>
            <a:ext cx="3063240" cy="310896"/>
          </a:xfrm>
          <a:prstGeom prst="rect">
            <a:avLst/>
          </a:prstGeom>
          <a:noFill/>
        </p:spPr>
        <p:txBody>
          <a:bodyPr wrap="none" lIns="73152" rIns="73152" tIns="36576" bIns="36576">
            <a:spAutoFit/>
          </a:bodyPr>
          <a:lstStyle/>
          <a:p>
            <a:pPr algn="l"/>
            <a:r>
              <a:rPr sz="830" b="0">
                <a:solidFill>
                  <a:srgbClr val="222B34"/>
                </a:solidFill>
                <a:latin typeface="Yu Gothic"/>
              </a:rPr>
              <a:t>バンガローK15へチェックイン、荷下ろし</a:t>
            </a:r>
          </a:p>
        </p:txBody>
      </p:sp>
      <p:sp>
        <p:nvSpPr>
          <p:cNvPr id="45" name="TextBox 44"/>
          <p:cNvSpPr txBox="1"/>
          <p:nvPr/>
        </p:nvSpPr>
        <p:spPr>
          <a:xfrm>
            <a:off x="6355080" y="4800600"/>
            <a:ext cx="411480" cy="256032"/>
          </a:xfrm>
          <a:prstGeom prst="rect">
            <a:avLst/>
          </a:prstGeom>
          <a:noFill/>
        </p:spPr>
        <p:txBody>
          <a:bodyPr wrap="none" lIns="73152" rIns="73152" tIns="36576" bIns="36576">
            <a:spAutoFit/>
          </a:bodyPr>
          <a:lstStyle/>
          <a:p>
            <a:pPr algn="r"/>
            <a:r>
              <a:rPr sz="830" b="0">
                <a:solidFill>
                  <a:srgbClr val="66707A"/>
                </a:solidFill>
                <a:latin typeface="Yu Gothic"/>
              </a:rPr>
              <a:t>60分</a:t>
            </a:r>
          </a:p>
        </p:txBody>
      </p:sp>
      <p:sp>
        <p:nvSpPr>
          <p:cNvPr id="46" name="Rounded Rectangle 45"/>
          <p:cNvSpPr/>
          <p:nvPr/>
        </p:nvSpPr>
        <p:spPr>
          <a:xfrm>
            <a:off x="502920" y="5294376"/>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21792" y="5367528"/>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17:30</a:t>
            </a:r>
          </a:p>
        </p:txBody>
      </p:sp>
      <p:sp>
        <p:nvSpPr>
          <p:cNvPr id="48" name="TextBox 47"/>
          <p:cNvSpPr txBox="1"/>
          <p:nvPr/>
        </p:nvSpPr>
        <p:spPr>
          <a:xfrm>
            <a:off x="1417320" y="5367528"/>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夕食</a:t>
            </a:r>
          </a:p>
        </p:txBody>
      </p:sp>
      <p:sp>
        <p:nvSpPr>
          <p:cNvPr id="49" name="TextBox 48"/>
          <p:cNvSpPr txBox="1"/>
          <p:nvPr/>
        </p:nvSpPr>
        <p:spPr>
          <a:xfrm>
            <a:off x="2084831" y="5358384"/>
            <a:ext cx="1234440" cy="274320"/>
          </a:xfrm>
          <a:prstGeom prst="rect">
            <a:avLst/>
          </a:prstGeom>
          <a:noFill/>
        </p:spPr>
        <p:txBody>
          <a:bodyPr wrap="none" lIns="73152" rIns="73152" tIns="36576" bIns="36576">
            <a:spAutoFit/>
          </a:bodyPr>
          <a:lstStyle/>
          <a:p>
            <a:pPr algn="l"/>
            <a:r>
              <a:rPr sz="900" b="1">
                <a:solidFill>
                  <a:srgbClr val="143753"/>
                </a:solidFill>
                <a:latin typeface="Yu Gothic"/>
              </a:rPr>
              <a:t>キャンプ場 / 洞爺湖温泉街</a:t>
            </a:r>
          </a:p>
        </p:txBody>
      </p:sp>
      <p:sp>
        <p:nvSpPr>
          <p:cNvPr id="50" name="TextBox 49"/>
          <p:cNvSpPr txBox="1"/>
          <p:nvPr/>
        </p:nvSpPr>
        <p:spPr>
          <a:xfrm>
            <a:off x="3246120" y="5349240"/>
            <a:ext cx="3063240" cy="310896"/>
          </a:xfrm>
          <a:prstGeom prst="rect">
            <a:avLst/>
          </a:prstGeom>
          <a:noFill/>
        </p:spPr>
        <p:txBody>
          <a:bodyPr wrap="none" lIns="73152" rIns="73152" tIns="36576" bIns="36576">
            <a:spAutoFit/>
          </a:bodyPr>
          <a:lstStyle/>
          <a:p>
            <a:pPr algn="l"/>
            <a:r>
              <a:rPr sz="830" b="0">
                <a:solidFill>
                  <a:srgbClr val="222B34"/>
                </a:solidFill>
                <a:latin typeface="Yu Gothic"/>
              </a:rPr>
              <a:t>初日は簡単キャンプ飯か温泉街で外食</a:t>
            </a:r>
          </a:p>
        </p:txBody>
      </p:sp>
      <p:sp>
        <p:nvSpPr>
          <p:cNvPr id="51" name="TextBox 50"/>
          <p:cNvSpPr txBox="1"/>
          <p:nvPr/>
        </p:nvSpPr>
        <p:spPr>
          <a:xfrm>
            <a:off x="6355080" y="5367528"/>
            <a:ext cx="411480" cy="256032"/>
          </a:xfrm>
          <a:prstGeom prst="rect">
            <a:avLst/>
          </a:prstGeom>
          <a:noFill/>
        </p:spPr>
        <p:txBody>
          <a:bodyPr wrap="none" lIns="73152" rIns="73152" tIns="36576" bIns="36576">
            <a:spAutoFit/>
          </a:bodyPr>
          <a:lstStyle/>
          <a:p>
            <a:pPr algn="r"/>
            <a:r>
              <a:rPr sz="830" b="0">
                <a:solidFill>
                  <a:srgbClr val="66707A"/>
                </a:solidFill>
                <a:latin typeface="Yu Gothic"/>
              </a:rPr>
              <a:t>90分</a:t>
            </a:r>
          </a:p>
        </p:txBody>
      </p:sp>
      <p:sp>
        <p:nvSpPr>
          <p:cNvPr id="52" name="Rounded Rectangle 51"/>
          <p:cNvSpPr/>
          <p:nvPr/>
        </p:nvSpPr>
        <p:spPr>
          <a:xfrm>
            <a:off x="502920" y="5861304"/>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1792" y="5934456"/>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20:30</a:t>
            </a:r>
          </a:p>
        </p:txBody>
      </p:sp>
      <p:sp>
        <p:nvSpPr>
          <p:cNvPr id="54" name="TextBox 53"/>
          <p:cNvSpPr txBox="1"/>
          <p:nvPr/>
        </p:nvSpPr>
        <p:spPr>
          <a:xfrm>
            <a:off x="1417320" y="5934456"/>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観光</a:t>
            </a:r>
          </a:p>
        </p:txBody>
      </p:sp>
      <p:sp>
        <p:nvSpPr>
          <p:cNvPr id="55" name="TextBox 54"/>
          <p:cNvSpPr txBox="1"/>
          <p:nvPr/>
        </p:nvSpPr>
        <p:spPr>
          <a:xfrm>
            <a:off x="2084831" y="5925312"/>
            <a:ext cx="1234440" cy="274320"/>
          </a:xfrm>
          <a:prstGeom prst="rect">
            <a:avLst/>
          </a:prstGeom>
          <a:noFill/>
        </p:spPr>
        <p:txBody>
          <a:bodyPr wrap="none" lIns="73152" rIns="73152" tIns="36576" bIns="36576">
            <a:spAutoFit/>
          </a:bodyPr>
          <a:lstStyle/>
          <a:p>
            <a:pPr algn="l"/>
            <a:r>
              <a:rPr sz="900" b="1">
                <a:solidFill>
                  <a:srgbClr val="143753"/>
                </a:solidFill>
                <a:latin typeface="Yu Gothic"/>
              </a:rPr>
              <a:t>洞爺湖湖畔</a:t>
            </a:r>
          </a:p>
        </p:txBody>
      </p:sp>
      <p:sp>
        <p:nvSpPr>
          <p:cNvPr id="56" name="TextBox 55"/>
          <p:cNvSpPr txBox="1"/>
          <p:nvPr/>
        </p:nvSpPr>
        <p:spPr>
          <a:xfrm>
            <a:off x="3246120" y="5916168"/>
            <a:ext cx="3063240" cy="310896"/>
          </a:xfrm>
          <a:prstGeom prst="rect">
            <a:avLst/>
          </a:prstGeom>
          <a:noFill/>
        </p:spPr>
        <p:txBody>
          <a:bodyPr wrap="none" lIns="73152" rIns="73152" tIns="36576" bIns="36576">
            <a:spAutoFit/>
          </a:bodyPr>
          <a:lstStyle/>
          <a:p>
            <a:pPr algn="l"/>
            <a:r>
              <a:rPr sz="830" b="0">
                <a:solidFill>
                  <a:srgbClr val="222B34"/>
                </a:solidFill>
                <a:latin typeface="Yu Gothic"/>
              </a:rPr>
              <a:t>余力があれば湖畔散歩、花火開催日は湖畔で鑑賞</a:t>
            </a:r>
          </a:p>
        </p:txBody>
      </p:sp>
      <p:sp>
        <p:nvSpPr>
          <p:cNvPr id="57" name="TextBox 56"/>
          <p:cNvSpPr txBox="1"/>
          <p:nvPr/>
        </p:nvSpPr>
        <p:spPr>
          <a:xfrm>
            <a:off x="6355080" y="5934456"/>
            <a:ext cx="411480" cy="256032"/>
          </a:xfrm>
          <a:prstGeom prst="rect">
            <a:avLst/>
          </a:prstGeom>
          <a:noFill/>
        </p:spPr>
        <p:txBody>
          <a:bodyPr wrap="none" lIns="73152" rIns="73152" tIns="36576" bIns="36576">
            <a:spAutoFit/>
          </a:bodyPr>
          <a:lstStyle/>
          <a:p>
            <a:pPr algn="r"/>
            <a:r>
              <a:rPr sz="830" b="0">
                <a:solidFill>
                  <a:srgbClr val="66707A"/>
                </a:solidFill>
                <a:latin typeface="Yu Gothic"/>
              </a:rPr>
              <a:t>45分</a:t>
            </a:r>
          </a:p>
        </p:txBody>
      </p:sp>
      <p:pic>
        <p:nvPicPr>
          <p:cNvPr id="58" name="Picture 57" descr="2026-08-01_洞爺湖.png"/>
          <p:cNvPicPr>
            <a:picLocks noChangeAspect="1"/>
          </p:cNvPicPr>
          <p:nvPr/>
        </p:nvPicPr>
        <p:blipFill>
          <a:blip r:embed="rId2"/>
          <a:stretch>
            <a:fillRect/>
          </a:stretch>
        </p:blipFill>
        <p:spPr>
          <a:xfrm>
            <a:off x="7360920" y="502920"/>
            <a:ext cx="4160520" cy="2331720"/>
          </a:xfrm>
          <a:prstGeom prst="rect">
            <a:avLst/>
          </a:prstGeom>
        </p:spPr>
      </p:pic>
      <p:sp>
        <p:nvSpPr>
          <p:cNvPr id="59" name="TextBox 58"/>
          <p:cNvSpPr txBox="1"/>
          <p:nvPr/>
        </p:nvSpPr>
        <p:spPr>
          <a:xfrm>
            <a:off x="7360920" y="3063240"/>
            <a:ext cx="4343400" cy="292608"/>
          </a:xfrm>
          <a:prstGeom prst="rect">
            <a:avLst/>
          </a:prstGeom>
          <a:noFill/>
        </p:spPr>
        <p:txBody>
          <a:bodyPr wrap="none" lIns="73152" rIns="73152" tIns="36576" bIns="36576">
            <a:spAutoFit/>
          </a:bodyPr>
          <a:lstStyle/>
          <a:p>
            <a:pPr algn="l"/>
            <a:r>
              <a:rPr sz="1500" b="1">
                <a:solidFill>
                  <a:srgbClr val="143753"/>
                </a:solidFill>
                <a:latin typeface="Yu Gothic"/>
              </a:rPr>
              <a:t>レストラン候補</a:t>
            </a:r>
          </a:p>
        </p:txBody>
      </p:sp>
      <p:sp>
        <p:nvSpPr>
          <p:cNvPr id="60" name="Rounded Rectangle 59"/>
          <p:cNvSpPr/>
          <p:nvPr/>
        </p:nvSpPr>
        <p:spPr>
          <a:xfrm>
            <a:off x="7360920" y="344728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434072" y="3502152"/>
            <a:ext cx="566928" cy="228600"/>
          </a:xfrm>
          <a:prstGeom prst="rect">
            <a:avLst/>
          </a:prstGeom>
          <a:noFill/>
        </p:spPr>
        <p:txBody>
          <a:bodyPr wrap="none" lIns="73152" rIns="73152" tIns="36576" bIns="36576">
            <a:spAutoFit/>
          </a:bodyPr>
          <a:lstStyle/>
          <a:p>
            <a:pPr algn="l"/>
            <a:r>
              <a:rPr sz="850" b="1">
                <a:solidFill>
                  <a:srgbClr val="D86352"/>
                </a:solidFill>
                <a:latin typeface="Yu Gothic"/>
              </a:rPr>
              <a:t>昼食</a:t>
            </a:r>
          </a:p>
        </p:txBody>
      </p:sp>
      <p:sp>
        <p:nvSpPr>
          <p:cNvPr id="62" name="TextBox 61"/>
          <p:cNvSpPr txBox="1"/>
          <p:nvPr/>
        </p:nvSpPr>
        <p:spPr>
          <a:xfrm>
            <a:off x="8001000" y="349300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苫小牧海鮮系食堂</a:t>
            </a:r>
          </a:p>
        </p:txBody>
      </p:sp>
      <p:sp>
        <p:nvSpPr>
          <p:cNvPr id="63" name="TextBox 62"/>
          <p:cNvSpPr txBox="1"/>
          <p:nvPr/>
        </p:nvSpPr>
        <p:spPr>
          <a:xfrm>
            <a:off x="9509760" y="349300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下船後の第一候補。混雑なら回避</a:t>
            </a:r>
          </a:p>
        </p:txBody>
      </p:sp>
      <p:sp>
        <p:nvSpPr>
          <p:cNvPr id="64" name="Rounded Rectangle 63"/>
          <p:cNvSpPr/>
          <p:nvPr/>
        </p:nvSpPr>
        <p:spPr>
          <a:xfrm>
            <a:off x="7360920" y="395020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434072" y="4005072"/>
            <a:ext cx="566928" cy="228600"/>
          </a:xfrm>
          <a:prstGeom prst="rect">
            <a:avLst/>
          </a:prstGeom>
          <a:noFill/>
        </p:spPr>
        <p:txBody>
          <a:bodyPr wrap="none" lIns="73152" rIns="73152" tIns="36576" bIns="36576">
            <a:spAutoFit/>
          </a:bodyPr>
          <a:lstStyle/>
          <a:p>
            <a:pPr algn="l"/>
            <a:r>
              <a:rPr sz="850" b="1">
                <a:solidFill>
                  <a:srgbClr val="D86352"/>
                </a:solidFill>
                <a:latin typeface="Yu Gothic"/>
              </a:rPr>
              <a:t>昼食</a:t>
            </a:r>
          </a:p>
        </p:txBody>
      </p:sp>
      <p:sp>
        <p:nvSpPr>
          <p:cNvPr id="66" name="TextBox 65"/>
          <p:cNvSpPr txBox="1"/>
          <p:nvPr/>
        </p:nvSpPr>
        <p:spPr>
          <a:xfrm>
            <a:off x="8001000" y="399592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道の駅ウトナイ湖</a:t>
            </a:r>
          </a:p>
        </p:txBody>
      </p:sp>
      <p:sp>
        <p:nvSpPr>
          <p:cNvPr id="67" name="TextBox 66"/>
          <p:cNvSpPr txBox="1"/>
          <p:nvPr/>
        </p:nvSpPr>
        <p:spPr>
          <a:xfrm>
            <a:off x="9509760" y="399592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休憩と軽食を兼ねる候補</a:t>
            </a:r>
          </a:p>
        </p:txBody>
      </p:sp>
      <p:sp>
        <p:nvSpPr>
          <p:cNvPr id="68" name="Rounded Rectangle 67"/>
          <p:cNvSpPr/>
          <p:nvPr/>
        </p:nvSpPr>
        <p:spPr>
          <a:xfrm>
            <a:off x="7360920" y="445312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434072" y="4507992"/>
            <a:ext cx="566928" cy="228600"/>
          </a:xfrm>
          <a:prstGeom prst="rect">
            <a:avLst/>
          </a:prstGeom>
          <a:noFill/>
        </p:spPr>
        <p:txBody>
          <a:bodyPr wrap="none" lIns="73152" rIns="73152" tIns="36576" bIns="36576">
            <a:spAutoFit/>
          </a:bodyPr>
          <a:lstStyle/>
          <a:p>
            <a:pPr algn="l"/>
            <a:r>
              <a:rPr sz="850" b="1">
                <a:solidFill>
                  <a:srgbClr val="D86352"/>
                </a:solidFill>
                <a:latin typeface="Yu Gothic"/>
              </a:rPr>
              <a:t>夕食</a:t>
            </a:r>
          </a:p>
        </p:txBody>
      </p:sp>
      <p:sp>
        <p:nvSpPr>
          <p:cNvPr id="70" name="TextBox 69"/>
          <p:cNvSpPr txBox="1"/>
          <p:nvPr/>
        </p:nvSpPr>
        <p:spPr>
          <a:xfrm>
            <a:off x="8001000" y="449884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洞爺湖温泉街の食堂</a:t>
            </a:r>
          </a:p>
        </p:txBody>
      </p:sp>
      <p:sp>
        <p:nvSpPr>
          <p:cNvPr id="71" name="TextBox 70"/>
          <p:cNvSpPr txBox="1"/>
          <p:nvPr/>
        </p:nvSpPr>
        <p:spPr>
          <a:xfrm>
            <a:off x="9509760" y="449884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外食にする場合の候補</a:t>
            </a:r>
          </a:p>
        </p:txBody>
      </p:sp>
      <p:sp>
        <p:nvSpPr>
          <p:cNvPr id="72" name="Rounded Rectangle 71"/>
          <p:cNvSpPr/>
          <p:nvPr/>
        </p:nvSpPr>
        <p:spPr>
          <a:xfrm>
            <a:off x="7360920" y="495604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434072" y="5010912"/>
            <a:ext cx="566928" cy="228600"/>
          </a:xfrm>
          <a:prstGeom prst="rect">
            <a:avLst/>
          </a:prstGeom>
          <a:noFill/>
        </p:spPr>
        <p:txBody>
          <a:bodyPr wrap="none" lIns="73152" rIns="73152" tIns="36576" bIns="36576">
            <a:spAutoFit/>
          </a:bodyPr>
          <a:lstStyle/>
          <a:p>
            <a:pPr algn="l"/>
            <a:r>
              <a:rPr sz="850" b="1">
                <a:solidFill>
                  <a:srgbClr val="D86352"/>
                </a:solidFill>
                <a:latin typeface="Yu Gothic"/>
              </a:rPr>
              <a:t>夕食</a:t>
            </a:r>
          </a:p>
        </p:txBody>
      </p:sp>
      <p:sp>
        <p:nvSpPr>
          <p:cNvPr id="74" name="TextBox 73"/>
          <p:cNvSpPr txBox="1"/>
          <p:nvPr/>
        </p:nvSpPr>
        <p:spPr>
          <a:xfrm>
            <a:off x="8001000" y="500176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バンガローで簡単調理</a:t>
            </a:r>
          </a:p>
        </p:txBody>
      </p:sp>
      <p:sp>
        <p:nvSpPr>
          <p:cNvPr id="75" name="TextBox 74"/>
          <p:cNvSpPr txBox="1"/>
          <p:nvPr/>
        </p:nvSpPr>
        <p:spPr>
          <a:xfrm>
            <a:off x="9509760" y="500176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移動疲れがある場合の安全策</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2026-08-02_洞爺湖湖畔.png"/>
          <p:cNvPicPr>
            <a:picLocks noChangeAspect="1"/>
          </p:cNvPicPr>
          <p:nvPr/>
        </p:nvPicPr>
        <p:blipFill>
          <a:blip r:embed="rId2"/>
          <a:stretch>
            <a:fillRect/>
          </a:stretch>
        </p:blipFill>
        <p:spPr>
          <a:xfrm>
            <a:off x="7059168" y="0"/>
            <a:ext cx="5129784" cy="3886200"/>
          </a:xfrm>
          <a:prstGeom prst="rect">
            <a:avLst/>
          </a:prstGeom>
        </p:spPr>
      </p:pic>
      <p:sp>
        <p:nvSpPr>
          <p:cNvPr id="3" name="Rounded Rectangle 2"/>
          <p:cNvSpPr/>
          <p:nvPr/>
        </p:nvSpPr>
        <p:spPr>
          <a:xfrm>
            <a:off x="502920" y="347472"/>
            <a:ext cx="1325880" cy="329184"/>
          </a:xfrm>
          <a:prstGeom prst="roundRect">
            <a:avLst/>
          </a:prstGeom>
          <a:solidFill>
            <a:srgbClr val="D863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Yu Gothic"/>
              </a:rPr>
              <a:t>DAY 3</a:t>
            </a:r>
          </a:p>
        </p:txBody>
      </p:sp>
      <p:sp>
        <p:nvSpPr>
          <p:cNvPr id="4" name="TextBox 3"/>
          <p:cNvSpPr txBox="1"/>
          <p:nvPr/>
        </p:nvSpPr>
        <p:spPr>
          <a:xfrm>
            <a:off x="502920" y="749808"/>
            <a:ext cx="6126480" cy="548640"/>
          </a:xfrm>
          <a:prstGeom prst="rect">
            <a:avLst/>
          </a:prstGeom>
          <a:noFill/>
        </p:spPr>
        <p:txBody>
          <a:bodyPr wrap="none" lIns="73152" rIns="73152" tIns="36576" bIns="36576">
            <a:spAutoFit/>
          </a:bodyPr>
          <a:lstStyle/>
          <a:p>
            <a:pPr algn="l"/>
            <a:r>
              <a:rPr sz="2200" b="1">
                <a:solidFill>
                  <a:srgbClr val="143753"/>
                </a:solidFill>
                <a:latin typeface="Yu Gothic"/>
              </a:rPr>
              <a:t>2026-08-02  洞爺湖から出ない湖畔の日</a:t>
            </a:r>
          </a:p>
        </p:txBody>
      </p:sp>
      <p:sp>
        <p:nvSpPr>
          <p:cNvPr id="5" name="TextBox 4"/>
          <p:cNvSpPr txBox="1"/>
          <p:nvPr/>
        </p:nvSpPr>
        <p:spPr>
          <a:xfrm>
            <a:off x="530352" y="1234440"/>
            <a:ext cx="5989320" cy="384048"/>
          </a:xfrm>
          <a:prstGeom prst="rect">
            <a:avLst/>
          </a:prstGeom>
          <a:noFill/>
        </p:spPr>
        <p:txBody>
          <a:bodyPr wrap="none" lIns="73152" rIns="73152" tIns="36576" bIns="36576">
            <a:spAutoFit/>
          </a:bodyPr>
          <a:lstStyle/>
          <a:p>
            <a:pPr algn="l"/>
            <a:r>
              <a:rPr sz="1300" b="1">
                <a:solidFill>
                  <a:srgbClr val="2C73A0"/>
                </a:solidFill>
                <a:latin typeface="Yu Gothic"/>
              </a:rPr>
              <a:t>洞爺湖</a:t>
            </a:r>
          </a:p>
        </p:txBody>
      </p:sp>
      <p:sp>
        <p:nvSpPr>
          <p:cNvPr id="6" name="TextBox 5"/>
          <p:cNvSpPr txBox="1"/>
          <p:nvPr/>
        </p:nvSpPr>
        <p:spPr>
          <a:xfrm>
            <a:off x="530352" y="1719072"/>
            <a:ext cx="6080760" cy="896112"/>
          </a:xfrm>
          <a:prstGeom prst="rect">
            <a:avLst/>
          </a:prstGeom>
          <a:noFill/>
        </p:spPr>
        <p:txBody>
          <a:bodyPr wrap="none" lIns="73152" rIns="73152" tIns="36576" bIns="36576">
            <a:spAutoFit/>
          </a:bodyPr>
          <a:lstStyle/>
          <a:p>
            <a:pPr algn="l"/>
            <a:r>
              <a:rPr sz="1230" b="0">
                <a:solidFill>
                  <a:srgbClr val="222B34"/>
                </a:solidFill>
                <a:latin typeface="Yu Gothic"/>
              </a:rPr>
              <a:t>洞爺湖滞在中の「湖から出ない日」。移動を最小限にして、湖畔散歩、遊覧船、温泉街、キャンプ場での休憩を中心にゆっくり過ごします。</a:t>
            </a:r>
          </a:p>
        </p:txBody>
      </p:sp>
      <p:sp>
        <p:nvSpPr>
          <p:cNvPr id="7" name="TextBox 6"/>
          <p:cNvSpPr txBox="1"/>
          <p:nvPr/>
        </p:nvSpPr>
        <p:spPr>
          <a:xfrm>
            <a:off x="530352" y="2852928"/>
            <a:ext cx="6126480" cy="292608"/>
          </a:xfrm>
          <a:prstGeom prst="rect">
            <a:avLst/>
          </a:prstGeom>
          <a:noFill/>
        </p:spPr>
        <p:txBody>
          <a:bodyPr wrap="none" lIns="73152" rIns="73152" tIns="36576" bIns="36576">
            <a:spAutoFit/>
          </a:bodyPr>
          <a:lstStyle/>
          <a:p>
            <a:pPr algn="l"/>
            <a:r>
              <a:rPr sz="1500" b="1">
                <a:solidFill>
                  <a:srgbClr val="143753"/>
                </a:solidFill>
                <a:latin typeface="Yu Gothic"/>
              </a:rPr>
              <a:t>この日の流れ</a:t>
            </a:r>
          </a:p>
        </p:txBody>
      </p:sp>
      <p:sp>
        <p:nvSpPr>
          <p:cNvPr id="8" name="Rounded Rectangle 7"/>
          <p:cNvSpPr/>
          <p:nvPr/>
        </p:nvSpPr>
        <p:spPr>
          <a:xfrm>
            <a:off x="502920" y="3246120"/>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3319272"/>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08:00</a:t>
            </a:r>
          </a:p>
        </p:txBody>
      </p:sp>
      <p:sp>
        <p:nvSpPr>
          <p:cNvPr id="10" name="TextBox 9"/>
          <p:cNvSpPr txBox="1"/>
          <p:nvPr/>
        </p:nvSpPr>
        <p:spPr>
          <a:xfrm>
            <a:off x="1417320" y="3319272"/>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朝食</a:t>
            </a:r>
          </a:p>
        </p:txBody>
      </p:sp>
      <p:sp>
        <p:nvSpPr>
          <p:cNvPr id="11" name="TextBox 10"/>
          <p:cNvSpPr txBox="1"/>
          <p:nvPr/>
        </p:nvSpPr>
        <p:spPr>
          <a:xfrm>
            <a:off x="2084831" y="3310128"/>
            <a:ext cx="1234440" cy="274320"/>
          </a:xfrm>
          <a:prstGeom prst="rect">
            <a:avLst/>
          </a:prstGeom>
          <a:noFill/>
        </p:spPr>
        <p:txBody>
          <a:bodyPr wrap="none" lIns="73152" rIns="73152" tIns="36576" bIns="36576">
            <a:spAutoFit/>
          </a:bodyPr>
          <a:lstStyle/>
          <a:p>
            <a:pPr algn="l"/>
            <a:r>
              <a:rPr sz="900" b="1">
                <a:solidFill>
                  <a:srgbClr val="143753"/>
                </a:solidFill>
                <a:latin typeface="Yu Gothic"/>
              </a:rPr>
              <a:t>Green stay Toya</a:t>
            </a:r>
          </a:p>
        </p:txBody>
      </p:sp>
      <p:sp>
        <p:nvSpPr>
          <p:cNvPr id="12" name="TextBox 11"/>
          <p:cNvSpPr txBox="1"/>
          <p:nvPr/>
        </p:nvSpPr>
        <p:spPr>
          <a:xfrm>
            <a:off x="3246120" y="3300984"/>
            <a:ext cx="3063240" cy="310896"/>
          </a:xfrm>
          <a:prstGeom prst="rect">
            <a:avLst/>
          </a:prstGeom>
          <a:noFill/>
        </p:spPr>
        <p:txBody>
          <a:bodyPr wrap="none" lIns="73152" rIns="73152" tIns="36576" bIns="36576">
            <a:spAutoFit/>
          </a:bodyPr>
          <a:lstStyle/>
          <a:p>
            <a:pPr algn="l"/>
            <a:r>
              <a:rPr sz="830" b="0">
                <a:solidFill>
                  <a:srgbClr val="222B34"/>
                </a:solidFill>
                <a:latin typeface="Yu Gothic"/>
              </a:rPr>
              <a:t>バンガローで朝食。洗濯と片付けも少し進める</a:t>
            </a:r>
          </a:p>
        </p:txBody>
      </p:sp>
      <p:sp>
        <p:nvSpPr>
          <p:cNvPr id="13" name="TextBox 12"/>
          <p:cNvSpPr txBox="1"/>
          <p:nvPr/>
        </p:nvSpPr>
        <p:spPr>
          <a:xfrm>
            <a:off x="6355080" y="3319272"/>
            <a:ext cx="411480" cy="256032"/>
          </a:xfrm>
          <a:prstGeom prst="rect">
            <a:avLst/>
          </a:prstGeom>
          <a:noFill/>
        </p:spPr>
        <p:txBody>
          <a:bodyPr wrap="none" lIns="73152" rIns="73152" tIns="36576" bIns="36576">
            <a:spAutoFit/>
          </a:bodyPr>
          <a:lstStyle/>
          <a:p>
            <a:pPr algn="r"/>
            <a:r>
              <a:rPr sz="830" b="0">
                <a:solidFill>
                  <a:srgbClr val="66707A"/>
                </a:solidFill>
                <a:latin typeface="Yu Gothic"/>
              </a:rPr>
              <a:t>60分</a:t>
            </a:r>
          </a:p>
        </p:txBody>
      </p:sp>
      <p:sp>
        <p:nvSpPr>
          <p:cNvPr id="14" name="Rounded Rectangle 13"/>
          <p:cNvSpPr/>
          <p:nvPr/>
        </p:nvSpPr>
        <p:spPr>
          <a:xfrm>
            <a:off x="502920" y="3813048"/>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 y="3886200"/>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09:30</a:t>
            </a:r>
          </a:p>
        </p:txBody>
      </p:sp>
      <p:sp>
        <p:nvSpPr>
          <p:cNvPr id="16" name="TextBox 15"/>
          <p:cNvSpPr txBox="1"/>
          <p:nvPr/>
        </p:nvSpPr>
        <p:spPr>
          <a:xfrm>
            <a:off x="1417320" y="3886200"/>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観光</a:t>
            </a:r>
          </a:p>
        </p:txBody>
      </p:sp>
      <p:sp>
        <p:nvSpPr>
          <p:cNvPr id="17" name="TextBox 16"/>
          <p:cNvSpPr txBox="1"/>
          <p:nvPr/>
        </p:nvSpPr>
        <p:spPr>
          <a:xfrm>
            <a:off x="2084831" y="3877056"/>
            <a:ext cx="1234440" cy="274320"/>
          </a:xfrm>
          <a:prstGeom prst="rect">
            <a:avLst/>
          </a:prstGeom>
          <a:noFill/>
        </p:spPr>
        <p:txBody>
          <a:bodyPr wrap="none" lIns="73152" rIns="73152" tIns="36576" bIns="36576">
            <a:spAutoFit/>
          </a:bodyPr>
          <a:lstStyle/>
          <a:p>
            <a:pPr algn="l"/>
            <a:r>
              <a:rPr sz="900" b="1">
                <a:solidFill>
                  <a:srgbClr val="143753"/>
                </a:solidFill>
                <a:latin typeface="Yu Gothic"/>
              </a:rPr>
              <a:t>洞爺湖湖畔</a:t>
            </a:r>
          </a:p>
        </p:txBody>
      </p:sp>
      <p:sp>
        <p:nvSpPr>
          <p:cNvPr id="18" name="TextBox 17"/>
          <p:cNvSpPr txBox="1"/>
          <p:nvPr/>
        </p:nvSpPr>
        <p:spPr>
          <a:xfrm>
            <a:off x="3246120" y="3867912"/>
            <a:ext cx="3063240" cy="310896"/>
          </a:xfrm>
          <a:prstGeom prst="rect">
            <a:avLst/>
          </a:prstGeom>
          <a:noFill/>
        </p:spPr>
        <p:txBody>
          <a:bodyPr wrap="none" lIns="73152" rIns="73152" tIns="36576" bIns="36576">
            <a:spAutoFit/>
          </a:bodyPr>
          <a:lstStyle/>
          <a:p>
            <a:pPr algn="l"/>
            <a:r>
              <a:rPr sz="830" b="0">
                <a:solidFill>
                  <a:srgbClr val="222B34"/>
                </a:solidFill>
                <a:latin typeface="Yu Gothic"/>
              </a:rPr>
              <a:t>湖畔散歩。水辺、彫刻公園、写真撮影</a:t>
            </a:r>
          </a:p>
        </p:txBody>
      </p:sp>
      <p:sp>
        <p:nvSpPr>
          <p:cNvPr id="19" name="TextBox 18"/>
          <p:cNvSpPr txBox="1"/>
          <p:nvPr/>
        </p:nvSpPr>
        <p:spPr>
          <a:xfrm>
            <a:off x="6355080" y="3886200"/>
            <a:ext cx="411480" cy="256032"/>
          </a:xfrm>
          <a:prstGeom prst="rect">
            <a:avLst/>
          </a:prstGeom>
          <a:noFill/>
        </p:spPr>
        <p:txBody>
          <a:bodyPr wrap="none" lIns="73152" rIns="73152" tIns="36576" bIns="36576">
            <a:spAutoFit/>
          </a:bodyPr>
          <a:lstStyle/>
          <a:p>
            <a:pPr algn="r"/>
            <a:r>
              <a:rPr sz="830" b="0">
                <a:solidFill>
                  <a:srgbClr val="66707A"/>
                </a:solidFill>
                <a:latin typeface="Yu Gothic"/>
              </a:rPr>
              <a:t>90分</a:t>
            </a:r>
          </a:p>
        </p:txBody>
      </p:sp>
      <p:sp>
        <p:nvSpPr>
          <p:cNvPr id="20" name="Rounded Rectangle 19"/>
          <p:cNvSpPr/>
          <p:nvPr/>
        </p:nvSpPr>
        <p:spPr>
          <a:xfrm>
            <a:off x="502920" y="4379976"/>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1792" y="4453128"/>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11:15</a:t>
            </a:r>
          </a:p>
        </p:txBody>
      </p:sp>
      <p:sp>
        <p:nvSpPr>
          <p:cNvPr id="22" name="TextBox 21"/>
          <p:cNvSpPr txBox="1"/>
          <p:nvPr/>
        </p:nvSpPr>
        <p:spPr>
          <a:xfrm>
            <a:off x="1417320" y="4453128"/>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休憩</a:t>
            </a:r>
          </a:p>
        </p:txBody>
      </p:sp>
      <p:sp>
        <p:nvSpPr>
          <p:cNvPr id="23" name="TextBox 22"/>
          <p:cNvSpPr txBox="1"/>
          <p:nvPr/>
        </p:nvSpPr>
        <p:spPr>
          <a:xfrm>
            <a:off x="2084831" y="4443984"/>
            <a:ext cx="1234440" cy="274320"/>
          </a:xfrm>
          <a:prstGeom prst="rect">
            <a:avLst/>
          </a:prstGeom>
          <a:noFill/>
        </p:spPr>
        <p:txBody>
          <a:bodyPr wrap="none" lIns="73152" rIns="73152" tIns="36576" bIns="36576">
            <a:spAutoFit/>
          </a:bodyPr>
          <a:lstStyle/>
          <a:p>
            <a:pPr algn="l"/>
            <a:r>
              <a:rPr sz="900" b="1">
                <a:solidFill>
                  <a:srgbClr val="143753"/>
                </a:solidFill>
                <a:latin typeface="Yu Gothic"/>
              </a:rPr>
              <a:t>洞爺湖温泉街</a:t>
            </a:r>
          </a:p>
        </p:txBody>
      </p:sp>
      <p:sp>
        <p:nvSpPr>
          <p:cNvPr id="24" name="TextBox 23"/>
          <p:cNvSpPr txBox="1"/>
          <p:nvPr/>
        </p:nvSpPr>
        <p:spPr>
          <a:xfrm>
            <a:off x="3246120" y="4434840"/>
            <a:ext cx="3063240" cy="310896"/>
          </a:xfrm>
          <a:prstGeom prst="rect">
            <a:avLst/>
          </a:prstGeom>
          <a:noFill/>
        </p:spPr>
        <p:txBody>
          <a:bodyPr wrap="none" lIns="73152" rIns="73152" tIns="36576" bIns="36576">
            <a:spAutoFit/>
          </a:bodyPr>
          <a:lstStyle/>
          <a:p>
            <a:pPr algn="l"/>
            <a:r>
              <a:rPr sz="830" b="0">
                <a:solidFill>
                  <a:srgbClr val="222B34"/>
                </a:solidFill>
                <a:latin typeface="Yu Gothic"/>
              </a:rPr>
              <a:t>カフェ休憩、お土産下見</a:t>
            </a:r>
          </a:p>
        </p:txBody>
      </p:sp>
      <p:sp>
        <p:nvSpPr>
          <p:cNvPr id="25" name="TextBox 24"/>
          <p:cNvSpPr txBox="1"/>
          <p:nvPr/>
        </p:nvSpPr>
        <p:spPr>
          <a:xfrm>
            <a:off x="6355080" y="4453128"/>
            <a:ext cx="411480" cy="256032"/>
          </a:xfrm>
          <a:prstGeom prst="rect">
            <a:avLst/>
          </a:prstGeom>
          <a:noFill/>
        </p:spPr>
        <p:txBody>
          <a:bodyPr wrap="none" lIns="73152" rIns="73152" tIns="36576" bIns="36576">
            <a:spAutoFit/>
          </a:bodyPr>
          <a:lstStyle/>
          <a:p>
            <a:pPr algn="r"/>
            <a:r>
              <a:rPr sz="830" b="0">
                <a:solidFill>
                  <a:srgbClr val="66707A"/>
                </a:solidFill>
                <a:latin typeface="Yu Gothic"/>
              </a:rPr>
              <a:t>45分</a:t>
            </a:r>
          </a:p>
        </p:txBody>
      </p:sp>
      <p:sp>
        <p:nvSpPr>
          <p:cNvPr id="26" name="Rounded Rectangle 25"/>
          <p:cNvSpPr/>
          <p:nvPr/>
        </p:nvSpPr>
        <p:spPr>
          <a:xfrm>
            <a:off x="502920" y="4946904"/>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1792" y="5020056"/>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12:15</a:t>
            </a:r>
          </a:p>
        </p:txBody>
      </p:sp>
      <p:sp>
        <p:nvSpPr>
          <p:cNvPr id="28" name="TextBox 27"/>
          <p:cNvSpPr txBox="1"/>
          <p:nvPr/>
        </p:nvSpPr>
        <p:spPr>
          <a:xfrm>
            <a:off x="1417320" y="5020056"/>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昼食</a:t>
            </a:r>
          </a:p>
        </p:txBody>
      </p:sp>
      <p:sp>
        <p:nvSpPr>
          <p:cNvPr id="29" name="TextBox 28"/>
          <p:cNvSpPr txBox="1"/>
          <p:nvPr/>
        </p:nvSpPr>
        <p:spPr>
          <a:xfrm>
            <a:off x="2084831" y="5010912"/>
            <a:ext cx="1234440" cy="274320"/>
          </a:xfrm>
          <a:prstGeom prst="rect">
            <a:avLst/>
          </a:prstGeom>
          <a:noFill/>
        </p:spPr>
        <p:txBody>
          <a:bodyPr wrap="none" lIns="73152" rIns="73152" tIns="36576" bIns="36576">
            <a:spAutoFit/>
          </a:bodyPr>
          <a:lstStyle/>
          <a:p>
            <a:pPr algn="l"/>
            <a:r>
              <a:rPr sz="900" b="1">
                <a:solidFill>
                  <a:srgbClr val="143753"/>
                </a:solidFill>
                <a:latin typeface="Yu Gothic"/>
              </a:rPr>
              <a:t>洞爺湖温泉街</a:t>
            </a:r>
          </a:p>
        </p:txBody>
      </p:sp>
      <p:sp>
        <p:nvSpPr>
          <p:cNvPr id="30" name="TextBox 29"/>
          <p:cNvSpPr txBox="1"/>
          <p:nvPr/>
        </p:nvSpPr>
        <p:spPr>
          <a:xfrm>
            <a:off x="3246120" y="5001768"/>
            <a:ext cx="3063240" cy="310896"/>
          </a:xfrm>
          <a:prstGeom prst="rect">
            <a:avLst/>
          </a:prstGeom>
          <a:noFill/>
        </p:spPr>
        <p:txBody>
          <a:bodyPr wrap="none" lIns="73152" rIns="73152" tIns="36576" bIns="36576">
            <a:spAutoFit/>
          </a:bodyPr>
          <a:lstStyle/>
          <a:p>
            <a:pPr algn="l"/>
            <a:r>
              <a:rPr sz="830" b="0">
                <a:solidFill>
                  <a:srgbClr val="222B34"/>
                </a:solidFill>
                <a:latin typeface="Yu Gothic"/>
              </a:rPr>
              <a:t>湖畔の食堂またはカフェで昼食</a:t>
            </a:r>
          </a:p>
        </p:txBody>
      </p:sp>
      <p:sp>
        <p:nvSpPr>
          <p:cNvPr id="31" name="TextBox 30"/>
          <p:cNvSpPr txBox="1"/>
          <p:nvPr/>
        </p:nvSpPr>
        <p:spPr>
          <a:xfrm>
            <a:off x="6355080" y="5020056"/>
            <a:ext cx="411480" cy="256032"/>
          </a:xfrm>
          <a:prstGeom prst="rect">
            <a:avLst/>
          </a:prstGeom>
          <a:noFill/>
        </p:spPr>
        <p:txBody>
          <a:bodyPr wrap="none" lIns="73152" rIns="73152" tIns="36576" bIns="36576">
            <a:spAutoFit/>
          </a:bodyPr>
          <a:lstStyle/>
          <a:p>
            <a:pPr algn="r"/>
            <a:r>
              <a:rPr sz="830" b="0">
                <a:solidFill>
                  <a:srgbClr val="66707A"/>
                </a:solidFill>
                <a:latin typeface="Yu Gothic"/>
              </a:rPr>
              <a:t>60分</a:t>
            </a:r>
          </a:p>
        </p:txBody>
      </p:sp>
      <p:sp>
        <p:nvSpPr>
          <p:cNvPr id="32" name="Rounded Rectangle 31"/>
          <p:cNvSpPr/>
          <p:nvPr/>
        </p:nvSpPr>
        <p:spPr>
          <a:xfrm>
            <a:off x="502920" y="5513832"/>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1792" y="5586984"/>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13:30</a:t>
            </a:r>
          </a:p>
        </p:txBody>
      </p:sp>
      <p:sp>
        <p:nvSpPr>
          <p:cNvPr id="34" name="TextBox 33"/>
          <p:cNvSpPr txBox="1"/>
          <p:nvPr/>
        </p:nvSpPr>
        <p:spPr>
          <a:xfrm>
            <a:off x="1417320" y="5586984"/>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観光</a:t>
            </a:r>
          </a:p>
        </p:txBody>
      </p:sp>
      <p:sp>
        <p:nvSpPr>
          <p:cNvPr id="35" name="TextBox 34"/>
          <p:cNvSpPr txBox="1"/>
          <p:nvPr/>
        </p:nvSpPr>
        <p:spPr>
          <a:xfrm>
            <a:off x="2084831" y="5577840"/>
            <a:ext cx="1234440" cy="274320"/>
          </a:xfrm>
          <a:prstGeom prst="rect">
            <a:avLst/>
          </a:prstGeom>
          <a:noFill/>
        </p:spPr>
        <p:txBody>
          <a:bodyPr wrap="none" lIns="73152" rIns="73152" tIns="36576" bIns="36576">
            <a:spAutoFit/>
          </a:bodyPr>
          <a:lstStyle/>
          <a:p>
            <a:pPr algn="l"/>
            <a:r>
              <a:rPr sz="900" b="1">
                <a:solidFill>
                  <a:srgbClr val="143753"/>
                </a:solidFill>
                <a:latin typeface="Yu Gothic"/>
              </a:rPr>
              <a:t>洞爺湖汽船</a:t>
            </a:r>
          </a:p>
        </p:txBody>
      </p:sp>
      <p:sp>
        <p:nvSpPr>
          <p:cNvPr id="36" name="TextBox 35"/>
          <p:cNvSpPr txBox="1"/>
          <p:nvPr/>
        </p:nvSpPr>
        <p:spPr>
          <a:xfrm>
            <a:off x="3246120" y="5568696"/>
            <a:ext cx="3063240" cy="310896"/>
          </a:xfrm>
          <a:prstGeom prst="rect">
            <a:avLst/>
          </a:prstGeom>
          <a:noFill/>
        </p:spPr>
        <p:txBody>
          <a:bodyPr wrap="none" lIns="73152" rIns="73152" tIns="36576" bIns="36576">
            <a:spAutoFit/>
          </a:bodyPr>
          <a:lstStyle/>
          <a:p>
            <a:pPr algn="l"/>
            <a:r>
              <a:rPr sz="830" b="0">
                <a:solidFill>
                  <a:srgbClr val="222B34"/>
                </a:solidFill>
                <a:latin typeface="Yu Gothic"/>
              </a:rPr>
              <a:t>遊覧船で湖上から中島方面を眺める</a:t>
            </a:r>
          </a:p>
        </p:txBody>
      </p:sp>
      <p:sp>
        <p:nvSpPr>
          <p:cNvPr id="37" name="TextBox 36"/>
          <p:cNvSpPr txBox="1"/>
          <p:nvPr/>
        </p:nvSpPr>
        <p:spPr>
          <a:xfrm>
            <a:off x="6355080" y="5586984"/>
            <a:ext cx="411480" cy="256032"/>
          </a:xfrm>
          <a:prstGeom prst="rect">
            <a:avLst/>
          </a:prstGeom>
          <a:noFill/>
        </p:spPr>
        <p:txBody>
          <a:bodyPr wrap="none" lIns="73152" rIns="73152" tIns="36576" bIns="36576">
            <a:spAutoFit/>
          </a:bodyPr>
          <a:lstStyle/>
          <a:p>
            <a:pPr algn="r"/>
            <a:r>
              <a:rPr sz="830" b="0">
                <a:solidFill>
                  <a:srgbClr val="66707A"/>
                </a:solidFill>
                <a:latin typeface="Yu Gothic"/>
              </a:rPr>
              <a:t>60分</a:t>
            </a:r>
          </a:p>
        </p:txBody>
      </p:sp>
      <p:sp>
        <p:nvSpPr>
          <p:cNvPr id="38" name="TextBox 37"/>
          <p:cNvSpPr txBox="1"/>
          <p:nvPr/>
        </p:nvSpPr>
        <p:spPr>
          <a:xfrm>
            <a:off x="7150608" y="4251960"/>
            <a:ext cx="4343400" cy="292608"/>
          </a:xfrm>
          <a:prstGeom prst="rect">
            <a:avLst/>
          </a:prstGeom>
          <a:noFill/>
        </p:spPr>
        <p:txBody>
          <a:bodyPr wrap="none" lIns="73152" rIns="73152" tIns="36576" bIns="36576">
            <a:spAutoFit/>
          </a:bodyPr>
          <a:lstStyle/>
          <a:p>
            <a:pPr algn="l"/>
            <a:r>
              <a:rPr sz="1500" b="1">
                <a:solidFill>
                  <a:srgbClr val="143753"/>
                </a:solidFill>
                <a:latin typeface="Yu Gothic"/>
              </a:rPr>
              <a:t>レストラン候補</a:t>
            </a:r>
          </a:p>
        </p:txBody>
      </p:sp>
      <p:sp>
        <p:nvSpPr>
          <p:cNvPr id="39" name="Rounded Rectangle 38"/>
          <p:cNvSpPr/>
          <p:nvPr/>
        </p:nvSpPr>
        <p:spPr>
          <a:xfrm>
            <a:off x="7150608" y="463600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223760" y="4690872"/>
            <a:ext cx="566928" cy="228600"/>
          </a:xfrm>
          <a:prstGeom prst="rect">
            <a:avLst/>
          </a:prstGeom>
          <a:noFill/>
        </p:spPr>
        <p:txBody>
          <a:bodyPr wrap="none" lIns="73152" rIns="73152" tIns="36576" bIns="36576">
            <a:spAutoFit/>
          </a:bodyPr>
          <a:lstStyle/>
          <a:p>
            <a:pPr algn="l"/>
            <a:r>
              <a:rPr sz="850" b="1">
                <a:solidFill>
                  <a:srgbClr val="D86352"/>
                </a:solidFill>
                <a:latin typeface="Yu Gothic"/>
              </a:rPr>
              <a:t>昼食</a:t>
            </a:r>
          </a:p>
        </p:txBody>
      </p:sp>
      <p:sp>
        <p:nvSpPr>
          <p:cNvPr id="41" name="TextBox 40"/>
          <p:cNvSpPr txBox="1"/>
          <p:nvPr/>
        </p:nvSpPr>
        <p:spPr>
          <a:xfrm>
            <a:off x="7790688" y="468172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洞爺湖温泉街の湖畔カフェ</a:t>
            </a:r>
          </a:p>
        </p:txBody>
      </p:sp>
      <p:sp>
        <p:nvSpPr>
          <p:cNvPr id="42" name="TextBox 41"/>
          <p:cNvSpPr txBox="1"/>
          <p:nvPr/>
        </p:nvSpPr>
        <p:spPr>
          <a:xfrm>
            <a:off x="9299448" y="468172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湖から出ない日の第一候補</a:t>
            </a:r>
          </a:p>
        </p:txBody>
      </p:sp>
      <p:sp>
        <p:nvSpPr>
          <p:cNvPr id="43" name="Rounded Rectangle 42"/>
          <p:cNvSpPr/>
          <p:nvPr/>
        </p:nvSpPr>
        <p:spPr>
          <a:xfrm>
            <a:off x="7150608" y="513892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223760" y="5193792"/>
            <a:ext cx="566928" cy="228600"/>
          </a:xfrm>
          <a:prstGeom prst="rect">
            <a:avLst/>
          </a:prstGeom>
          <a:noFill/>
        </p:spPr>
        <p:txBody>
          <a:bodyPr wrap="none" lIns="73152" rIns="73152" tIns="36576" bIns="36576">
            <a:spAutoFit/>
          </a:bodyPr>
          <a:lstStyle/>
          <a:p>
            <a:pPr algn="l"/>
            <a:r>
              <a:rPr sz="850" b="1">
                <a:solidFill>
                  <a:srgbClr val="D86352"/>
                </a:solidFill>
                <a:latin typeface="Yu Gothic"/>
              </a:rPr>
              <a:t>昼食</a:t>
            </a:r>
          </a:p>
        </p:txBody>
      </p:sp>
      <p:sp>
        <p:nvSpPr>
          <p:cNvPr id="45" name="TextBox 44"/>
          <p:cNvSpPr txBox="1"/>
          <p:nvPr/>
        </p:nvSpPr>
        <p:spPr>
          <a:xfrm>
            <a:off x="7790688" y="518464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洞爺湖温泉街の食堂</a:t>
            </a:r>
          </a:p>
        </p:txBody>
      </p:sp>
      <p:sp>
        <p:nvSpPr>
          <p:cNvPr id="46" name="TextBox 45"/>
          <p:cNvSpPr txBox="1"/>
          <p:nvPr/>
        </p:nvSpPr>
        <p:spPr>
          <a:xfrm>
            <a:off x="9299448" y="518464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子ども連れで入りやすい店を現地確認</a:t>
            </a:r>
          </a:p>
        </p:txBody>
      </p:sp>
      <p:sp>
        <p:nvSpPr>
          <p:cNvPr id="47" name="Rounded Rectangle 46"/>
          <p:cNvSpPr/>
          <p:nvPr/>
        </p:nvSpPr>
        <p:spPr>
          <a:xfrm>
            <a:off x="7150608" y="564184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223760" y="5696712"/>
            <a:ext cx="566928" cy="228600"/>
          </a:xfrm>
          <a:prstGeom prst="rect">
            <a:avLst/>
          </a:prstGeom>
          <a:noFill/>
        </p:spPr>
        <p:txBody>
          <a:bodyPr wrap="none" lIns="73152" rIns="73152" tIns="36576" bIns="36576">
            <a:spAutoFit/>
          </a:bodyPr>
          <a:lstStyle/>
          <a:p>
            <a:pPr algn="l"/>
            <a:r>
              <a:rPr sz="850" b="1">
                <a:solidFill>
                  <a:srgbClr val="D86352"/>
                </a:solidFill>
                <a:latin typeface="Yu Gothic"/>
              </a:rPr>
              <a:t>夕食</a:t>
            </a:r>
          </a:p>
        </p:txBody>
      </p:sp>
      <p:sp>
        <p:nvSpPr>
          <p:cNvPr id="49" name="TextBox 48"/>
          <p:cNvSpPr txBox="1"/>
          <p:nvPr/>
        </p:nvSpPr>
        <p:spPr>
          <a:xfrm>
            <a:off x="7790688" y="568756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バンガローでキャンプ飯</a:t>
            </a:r>
          </a:p>
        </p:txBody>
      </p:sp>
      <p:sp>
        <p:nvSpPr>
          <p:cNvPr id="50" name="TextBox 49"/>
          <p:cNvSpPr txBox="1"/>
          <p:nvPr/>
        </p:nvSpPr>
        <p:spPr>
          <a:xfrm>
            <a:off x="9299448" y="568756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この日の本命。移動しない</a:t>
            </a:r>
          </a:p>
        </p:txBody>
      </p:sp>
      <p:sp>
        <p:nvSpPr>
          <p:cNvPr id="51" name="Rounded Rectangle 50"/>
          <p:cNvSpPr/>
          <p:nvPr/>
        </p:nvSpPr>
        <p:spPr>
          <a:xfrm>
            <a:off x="7150608" y="614476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223760" y="6199632"/>
            <a:ext cx="566928" cy="228600"/>
          </a:xfrm>
          <a:prstGeom prst="rect">
            <a:avLst/>
          </a:prstGeom>
          <a:noFill/>
        </p:spPr>
        <p:txBody>
          <a:bodyPr wrap="none" lIns="73152" rIns="73152" tIns="36576" bIns="36576">
            <a:spAutoFit/>
          </a:bodyPr>
          <a:lstStyle/>
          <a:p>
            <a:pPr algn="l"/>
            <a:r>
              <a:rPr sz="850" b="1">
                <a:solidFill>
                  <a:srgbClr val="D86352"/>
                </a:solidFill>
                <a:latin typeface="Yu Gothic"/>
              </a:rPr>
              <a:t>甘味</a:t>
            </a:r>
          </a:p>
        </p:txBody>
      </p:sp>
      <p:sp>
        <p:nvSpPr>
          <p:cNvPr id="53" name="TextBox 52"/>
          <p:cNvSpPr txBox="1"/>
          <p:nvPr/>
        </p:nvSpPr>
        <p:spPr>
          <a:xfrm>
            <a:off x="7790688" y="619048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湖畔カフェ / ソフトクリーム</a:t>
            </a:r>
          </a:p>
        </p:txBody>
      </p:sp>
      <p:sp>
        <p:nvSpPr>
          <p:cNvPr id="54" name="TextBox 53"/>
          <p:cNvSpPr txBox="1"/>
          <p:nvPr/>
        </p:nvSpPr>
        <p:spPr>
          <a:xfrm>
            <a:off x="9299448" y="619048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散歩の途中で休憩</a:t>
            </a:r>
          </a:p>
        </p:txBody>
      </p:sp>
      <p:sp>
        <p:nvSpPr>
          <p:cNvPr id="55" name="TextBox 54"/>
          <p:cNvSpPr txBox="1"/>
          <p:nvPr/>
        </p:nvSpPr>
        <p:spPr>
          <a:xfrm>
            <a:off x="7150608" y="6199632"/>
            <a:ext cx="4206240" cy="228600"/>
          </a:xfrm>
          <a:prstGeom prst="rect">
            <a:avLst/>
          </a:prstGeom>
          <a:noFill/>
        </p:spPr>
        <p:txBody>
          <a:bodyPr wrap="none" lIns="73152" rIns="73152" tIns="36576" bIns="36576">
            <a:spAutoFit/>
          </a:bodyPr>
          <a:lstStyle/>
          <a:p>
            <a:pPr algn="l"/>
            <a:r>
              <a:rPr sz="780" b="0">
                <a:solidFill>
                  <a:srgbClr val="66707A"/>
                </a:solidFill>
                <a:latin typeface="Yu Gothic"/>
              </a:rPr>
              <a:t>MEMO  この日は洞爺湖エリアから出ない。 / 天気が悪い場合は温泉街、カフェ、早めの休憩に切り替える。</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CFCFA"/>
        </a:solidFill>
        <a:effectLst/>
      </p:bgPr>
    </p:bg>
    <p:spTree>
      <p:nvGrpSpPr>
        <p:cNvPr id="1" name=""/>
        <p:cNvGrpSpPr/>
        <p:nvPr/>
      </p:nvGrpSpPr>
      <p:grpSpPr/>
      <p:sp>
        <p:nvSpPr>
          <p:cNvPr id="2" name="Rounded Rectangle 1"/>
          <p:cNvSpPr/>
          <p:nvPr/>
        </p:nvSpPr>
        <p:spPr>
          <a:xfrm>
            <a:off x="502920" y="320040"/>
            <a:ext cx="1325880" cy="329184"/>
          </a:xfrm>
          <a:prstGeom prst="roundRect">
            <a:avLst/>
          </a:prstGeom>
          <a:solidFill>
            <a:srgbClr val="D863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Yu Gothic"/>
              </a:rPr>
              <a:t>DAY 3</a:t>
            </a:r>
          </a:p>
        </p:txBody>
      </p:sp>
      <p:sp>
        <p:nvSpPr>
          <p:cNvPr id="3" name="TextBox 2"/>
          <p:cNvSpPr txBox="1"/>
          <p:nvPr/>
        </p:nvSpPr>
        <p:spPr>
          <a:xfrm>
            <a:off x="502920" y="713232"/>
            <a:ext cx="6217920" cy="384048"/>
          </a:xfrm>
          <a:prstGeom prst="rect">
            <a:avLst/>
          </a:prstGeom>
          <a:noFill/>
        </p:spPr>
        <p:txBody>
          <a:bodyPr wrap="none" lIns="73152" rIns="73152" tIns="36576" bIns="36576">
            <a:spAutoFit/>
          </a:bodyPr>
          <a:lstStyle/>
          <a:p>
            <a:pPr algn="l"/>
            <a:r>
              <a:rPr sz="2200" b="1">
                <a:solidFill>
                  <a:srgbClr val="143753"/>
                </a:solidFill>
                <a:latin typeface="Yu Gothic"/>
              </a:rPr>
              <a:t>時刻ベース詳細スケジュール</a:t>
            </a:r>
          </a:p>
        </p:txBody>
      </p:sp>
      <p:sp>
        <p:nvSpPr>
          <p:cNvPr id="4" name="Rounded Rectangle 3"/>
          <p:cNvSpPr/>
          <p:nvPr/>
        </p:nvSpPr>
        <p:spPr>
          <a:xfrm>
            <a:off x="502920" y="1325880"/>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1399032"/>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08:00</a:t>
            </a:r>
          </a:p>
        </p:txBody>
      </p:sp>
      <p:sp>
        <p:nvSpPr>
          <p:cNvPr id="6" name="TextBox 5"/>
          <p:cNvSpPr txBox="1"/>
          <p:nvPr/>
        </p:nvSpPr>
        <p:spPr>
          <a:xfrm>
            <a:off x="1417320" y="1399032"/>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朝食</a:t>
            </a:r>
          </a:p>
        </p:txBody>
      </p:sp>
      <p:sp>
        <p:nvSpPr>
          <p:cNvPr id="7" name="TextBox 6"/>
          <p:cNvSpPr txBox="1"/>
          <p:nvPr/>
        </p:nvSpPr>
        <p:spPr>
          <a:xfrm>
            <a:off x="2084831" y="1389888"/>
            <a:ext cx="1234440" cy="274320"/>
          </a:xfrm>
          <a:prstGeom prst="rect">
            <a:avLst/>
          </a:prstGeom>
          <a:noFill/>
        </p:spPr>
        <p:txBody>
          <a:bodyPr wrap="none" lIns="73152" rIns="73152" tIns="36576" bIns="36576">
            <a:spAutoFit/>
          </a:bodyPr>
          <a:lstStyle/>
          <a:p>
            <a:pPr algn="l"/>
            <a:r>
              <a:rPr sz="900" b="1">
                <a:solidFill>
                  <a:srgbClr val="143753"/>
                </a:solidFill>
                <a:latin typeface="Yu Gothic"/>
              </a:rPr>
              <a:t>Green stay Toya</a:t>
            </a:r>
          </a:p>
        </p:txBody>
      </p:sp>
      <p:sp>
        <p:nvSpPr>
          <p:cNvPr id="8" name="TextBox 7"/>
          <p:cNvSpPr txBox="1"/>
          <p:nvPr/>
        </p:nvSpPr>
        <p:spPr>
          <a:xfrm>
            <a:off x="3246120" y="1380744"/>
            <a:ext cx="3063240" cy="310896"/>
          </a:xfrm>
          <a:prstGeom prst="rect">
            <a:avLst/>
          </a:prstGeom>
          <a:noFill/>
        </p:spPr>
        <p:txBody>
          <a:bodyPr wrap="none" lIns="73152" rIns="73152" tIns="36576" bIns="36576">
            <a:spAutoFit/>
          </a:bodyPr>
          <a:lstStyle/>
          <a:p>
            <a:pPr algn="l"/>
            <a:r>
              <a:rPr sz="830" b="0">
                <a:solidFill>
                  <a:srgbClr val="222B34"/>
                </a:solidFill>
                <a:latin typeface="Yu Gothic"/>
              </a:rPr>
              <a:t>バンガローで朝食。洗濯と片付けも少し進める</a:t>
            </a:r>
          </a:p>
        </p:txBody>
      </p:sp>
      <p:sp>
        <p:nvSpPr>
          <p:cNvPr id="9" name="TextBox 8"/>
          <p:cNvSpPr txBox="1"/>
          <p:nvPr/>
        </p:nvSpPr>
        <p:spPr>
          <a:xfrm>
            <a:off x="6355080" y="1399032"/>
            <a:ext cx="411480" cy="256032"/>
          </a:xfrm>
          <a:prstGeom prst="rect">
            <a:avLst/>
          </a:prstGeom>
          <a:noFill/>
        </p:spPr>
        <p:txBody>
          <a:bodyPr wrap="none" lIns="73152" rIns="73152" tIns="36576" bIns="36576">
            <a:spAutoFit/>
          </a:bodyPr>
          <a:lstStyle/>
          <a:p>
            <a:pPr algn="r"/>
            <a:r>
              <a:rPr sz="830" b="0">
                <a:solidFill>
                  <a:srgbClr val="66707A"/>
                </a:solidFill>
                <a:latin typeface="Yu Gothic"/>
              </a:rPr>
              <a:t>60分</a:t>
            </a:r>
          </a:p>
        </p:txBody>
      </p:sp>
      <p:sp>
        <p:nvSpPr>
          <p:cNvPr id="10" name="Rounded Rectangle 9"/>
          <p:cNvSpPr/>
          <p:nvPr/>
        </p:nvSpPr>
        <p:spPr>
          <a:xfrm>
            <a:off x="502920" y="1892808"/>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965960"/>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09:30</a:t>
            </a:r>
          </a:p>
        </p:txBody>
      </p:sp>
      <p:sp>
        <p:nvSpPr>
          <p:cNvPr id="12" name="TextBox 11"/>
          <p:cNvSpPr txBox="1"/>
          <p:nvPr/>
        </p:nvSpPr>
        <p:spPr>
          <a:xfrm>
            <a:off x="1417320" y="1965960"/>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観光</a:t>
            </a:r>
          </a:p>
        </p:txBody>
      </p:sp>
      <p:sp>
        <p:nvSpPr>
          <p:cNvPr id="13" name="TextBox 12"/>
          <p:cNvSpPr txBox="1"/>
          <p:nvPr/>
        </p:nvSpPr>
        <p:spPr>
          <a:xfrm>
            <a:off x="2084831" y="1956816"/>
            <a:ext cx="1234440" cy="274320"/>
          </a:xfrm>
          <a:prstGeom prst="rect">
            <a:avLst/>
          </a:prstGeom>
          <a:noFill/>
        </p:spPr>
        <p:txBody>
          <a:bodyPr wrap="none" lIns="73152" rIns="73152" tIns="36576" bIns="36576">
            <a:spAutoFit/>
          </a:bodyPr>
          <a:lstStyle/>
          <a:p>
            <a:pPr algn="l"/>
            <a:r>
              <a:rPr sz="900" b="1">
                <a:solidFill>
                  <a:srgbClr val="143753"/>
                </a:solidFill>
                <a:latin typeface="Yu Gothic"/>
              </a:rPr>
              <a:t>洞爺湖湖畔</a:t>
            </a:r>
          </a:p>
        </p:txBody>
      </p:sp>
      <p:sp>
        <p:nvSpPr>
          <p:cNvPr id="14" name="TextBox 13"/>
          <p:cNvSpPr txBox="1"/>
          <p:nvPr/>
        </p:nvSpPr>
        <p:spPr>
          <a:xfrm>
            <a:off x="3246120" y="1947672"/>
            <a:ext cx="3063240" cy="310896"/>
          </a:xfrm>
          <a:prstGeom prst="rect">
            <a:avLst/>
          </a:prstGeom>
          <a:noFill/>
        </p:spPr>
        <p:txBody>
          <a:bodyPr wrap="none" lIns="73152" rIns="73152" tIns="36576" bIns="36576">
            <a:spAutoFit/>
          </a:bodyPr>
          <a:lstStyle/>
          <a:p>
            <a:pPr algn="l"/>
            <a:r>
              <a:rPr sz="830" b="0">
                <a:solidFill>
                  <a:srgbClr val="222B34"/>
                </a:solidFill>
                <a:latin typeface="Yu Gothic"/>
              </a:rPr>
              <a:t>湖畔散歩。水辺、彫刻公園、写真撮影</a:t>
            </a:r>
          </a:p>
        </p:txBody>
      </p:sp>
      <p:sp>
        <p:nvSpPr>
          <p:cNvPr id="15" name="TextBox 14"/>
          <p:cNvSpPr txBox="1"/>
          <p:nvPr/>
        </p:nvSpPr>
        <p:spPr>
          <a:xfrm>
            <a:off x="6355080" y="1965960"/>
            <a:ext cx="411480" cy="256032"/>
          </a:xfrm>
          <a:prstGeom prst="rect">
            <a:avLst/>
          </a:prstGeom>
          <a:noFill/>
        </p:spPr>
        <p:txBody>
          <a:bodyPr wrap="none" lIns="73152" rIns="73152" tIns="36576" bIns="36576">
            <a:spAutoFit/>
          </a:bodyPr>
          <a:lstStyle/>
          <a:p>
            <a:pPr algn="r"/>
            <a:r>
              <a:rPr sz="830" b="0">
                <a:solidFill>
                  <a:srgbClr val="66707A"/>
                </a:solidFill>
                <a:latin typeface="Yu Gothic"/>
              </a:rPr>
              <a:t>90分</a:t>
            </a:r>
          </a:p>
        </p:txBody>
      </p:sp>
      <p:sp>
        <p:nvSpPr>
          <p:cNvPr id="16" name="Rounded Rectangle 15"/>
          <p:cNvSpPr/>
          <p:nvPr/>
        </p:nvSpPr>
        <p:spPr>
          <a:xfrm>
            <a:off x="502920" y="2459736"/>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792" y="2532888"/>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11:15</a:t>
            </a:r>
          </a:p>
        </p:txBody>
      </p:sp>
      <p:sp>
        <p:nvSpPr>
          <p:cNvPr id="18" name="TextBox 17"/>
          <p:cNvSpPr txBox="1"/>
          <p:nvPr/>
        </p:nvSpPr>
        <p:spPr>
          <a:xfrm>
            <a:off x="1417320" y="2532888"/>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休憩</a:t>
            </a:r>
          </a:p>
        </p:txBody>
      </p:sp>
      <p:sp>
        <p:nvSpPr>
          <p:cNvPr id="19" name="TextBox 18"/>
          <p:cNvSpPr txBox="1"/>
          <p:nvPr/>
        </p:nvSpPr>
        <p:spPr>
          <a:xfrm>
            <a:off x="2084831" y="2523744"/>
            <a:ext cx="1234440" cy="274320"/>
          </a:xfrm>
          <a:prstGeom prst="rect">
            <a:avLst/>
          </a:prstGeom>
          <a:noFill/>
        </p:spPr>
        <p:txBody>
          <a:bodyPr wrap="none" lIns="73152" rIns="73152" tIns="36576" bIns="36576">
            <a:spAutoFit/>
          </a:bodyPr>
          <a:lstStyle/>
          <a:p>
            <a:pPr algn="l"/>
            <a:r>
              <a:rPr sz="900" b="1">
                <a:solidFill>
                  <a:srgbClr val="143753"/>
                </a:solidFill>
                <a:latin typeface="Yu Gothic"/>
              </a:rPr>
              <a:t>洞爺湖温泉街</a:t>
            </a:r>
          </a:p>
        </p:txBody>
      </p:sp>
      <p:sp>
        <p:nvSpPr>
          <p:cNvPr id="20" name="TextBox 19"/>
          <p:cNvSpPr txBox="1"/>
          <p:nvPr/>
        </p:nvSpPr>
        <p:spPr>
          <a:xfrm>
            <a:off x="3246120" y="2514600"/>
            <a:ext cx="3063240" cy="310896"/>
          </a:xfrm>
          <a:prstGeom prst="rect">
            <a:avLst/>
          </a:prstGeom>
          <a:noFill/>
        </p:spPr>
        <p:txBody>
          <a:bodyPr wrap="none" lIns="73152" rIns="73152" tIns="36576" bIns="36576">
            <a:spAutoFit/>
          </a:bodyPr>
          <a:lstStyle/>
          <a:p>
            <a:pPr algn="l"/>
            <a:r>
              <a:rPr sz="830" b="0">
                <a:solidFill>
                  <a:srgbClr val="222B34"/>
                </a:solidFill>
                <a:latin typeface="Yu Gothic"/>
              </a:rPr>
              <a:t>カフェ休憩、お土産下見</a:t>
            </a:r>
          </a:p>
        </p:txBody>
      </p:sp>
      <p:sp>
        <p:nvSpPr>
          <p:cNvPr id="21" name="TextBox 20"/>
          <p:cNvSpPr txBox="1"/>
          <p:nvPr/>
        </p:nvSpPr>
        <p:spPr>
          <a:xfrm>
            <a:off x="6355080" y="2532888"/>
            <a:ext cx="411480" cy="256032"/>
          </a:xfrm>
          <a:prstGeom prst="rect">
            <a:avLst/>
          </a:prstGeom>
          <a:noFill/>
        </p:spPr>
        <p:txBody>
          <a:bodyPr wrap="none" lIns="73152" rIns="73152" tIns="36576" bIns="36576">
            <a:spAutoFit/>
          </a:bodyPr>
          <a:lstStyle/>
          <a:p>
            <a:pPr algn="r"/>
            <a:r>
              <a:rPr sz="830" b="0">
                <a:solidFill>
                  <a:srgbClr val="66707A"/>
                </a:solidFill>
                <a:latin typeface="Yu Gothic"/>
              </a:rPr>
              <a:t>45分</a:t>
            </a:r>
          </a:p>
        </p:txBody>
      </p:sp>
      <p:sp>
        <p:nvSpPr>
          <p:cNvPr id="22" name="Rounded Rectangle 21"/>
          <p:cNvSpPr/>
          <p:nvPr/>
        </p:nvSpPr>
        <p:spPr>
          <a:xfrm>
            <a:off x="502920" y="3026664"/>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1792" y="3099816"/>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12:15</a:t>
            </a:r>
          </a:p>
        </p:txBody>
      </p:sp>
      <p:sp>
        <p:nvSpPr>
          <p:cNvPr id="24" name="TextBox 23"/>
          <p:cNvSpPr txBox="1"/>
          <p:nvPr/>
        </p:nvSpPr>
        <p:spPr>
          <a:xfrm>
            <a:off x="1417320" y="3099816"/>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昼食</a:t>
            </a:r>
          </a:p>
        </p:txBody>
      </p:sp>
      <p:sp>
        <p:nvSpPr>
          <p:cNvPr id="25" name="TextBox 24"/>
          <p:cNvSpPr txBox="1"/>
          <p:nvPr/>
        </p:nvSpPr>
        <p:spPr>
          <a:xfrm>
            <a:off x="2084831" y="3090672"/>
            <a:ext cx="1234440" cy="274320"/>
          </a:xfrm>
          <a:prstGeom prst="rect">
            <a:avLst/>
          </a:prstGeom>
          <a:noFill/>
        </p:spPr>
        <p:txBody>
          <a:bodyPr wrap="none" lIns="73152" rIns="73152" tIns="36576" bIns="36576">
            <a:spAutoFit/>
          </a:bodyPr>
          <a:lstStyle/>
          <a:p>
            <a:pPr algn="l"/>
            <a:r>
              <a:rPr sz="900" b="1">
                <a:solidFill>
                  <a:srgbClr val="143753"/>
                </a:solidFill>
                <a:latin typeface="Yu Gothic"/>
              </a:rPr>
              <a:t>洞爺湖温泉街</a:t>
            </a:r>
          </a:p>
        </p:txBody>
      </p:sp>
      <p:sp>
        <p:nvSpPr>
          <p:cNvPr id="26" name="TextBox 25"/>
          <p:cNvSpPr txBox="1"/>
          <p:nvPr/>
        </p:nvSpPr>
        <p:spPr>
          <a:xfrm>
            <a:off x="3246120" y="3081528"/>
            <a:ext cx="3063240" cy="310896"/>
          </a:xfrm>
          <a:prstGeom prst="rect">
            <a:avLst/>
          </a:prstGeom>
          <a:noFill/>
        </p:spPr>
        <p:txBody>
          <a:bodyPr wrap="none" lIns="73152" rIns="73152" tIns="36576" bIns="36576">
            <a:spAutoFit/>
          </a:bodyPr>
          <a:lstStyle/>
          <a:p>
            <a:pPr algn="l"/>
            <a:r>
              <a:rPr sz="830" b="0">
                <a:solidFill>
                  <a:srgbClr val="222B34"/>
                </a:solidFill>
                <a:latin typeface="Yu Gothic"/>
              </a:rPr>
              <a:t>湖畔の食堂またはカフェで昼食</a:t>
            </a:r>
          </a:p>
        </p:txBody>
      </p:sp>
      <p:sp>
        <p:nvSpPr>
          <p:cNvPr id="27" name="TextBox 26"/>
          <p:cNvSpPr txBox="1"/>
          <p:nvPr/>
        </p:nvSpPr>
        <p:spPr>
          <a:xfrm>
            <a:off x="6355080" y="3099816"/>
            <a:ext cx="411480" cy="256032"/>
          </a:xfrm>
          <a:prstGeom prst="rect">
            <a:avLst/>
          </a:prstGeom>
          <a:noFill/>
        </p:spPr>
        <p:txBody>
          <a:bodyPr wrap="none" lIns="73152" rIns="73152" tIns="36576" bIns="36576">
            <a:spAutoFit/>
          </a:bodyPr>
          <a:lstStyle/>
          <a:p>
            <a:pPr algn="r"/>
            <a:r>
              <a:rPr sz="830" b="0">
                <a:solidFill>
                  <a:srgbClr val="66707A"/>
                </a:solidFill>
                <a:latin typeface="Yu Gothic"/>
              </a:rPr>
              <a:t>60分</a:t>
            </a:r>
          </a:p>
        </p:txBody>
      </p:sp>
      <p:sp>
        <p:nvSpPr>
          <p:cNvPr id="28" name="Rounded Rectangle 27"/>
          <p:cNvSpPr/>
          <p:nvPr/>
        </p:nvSpPr>
        <p:spPr>
          <a:xfrm>
            <a:off x="502920" y="3593592"/>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1792" y="3666744"/>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13:30</a:t>
            </a:r>
          </a:p>
        </p:txBody>
      </p:sp>
      <p:sp>
        <p:nvSpPr>
          <p:cNvPr id="30" name="TextBox 29"/>
          <p:cNvSpPr txBox="1"/>
          <p:nvPr/>
        </p:nvSpPr>
        <p:spPr>
          <a:xfrm>
            <a:off x="1417320" y="3666744"/>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観光</a:t>
            </a:r>
          </a:p>
        </p:txBody>
      </p:sp>
      <p:sp>
        <p:nvSpPr>
          <p:cNvPr id="31" name="TextBox 30"/>
          <p:cNvSpPr txBox="1"/>
          <p:nvPr/>
        </p:nvSpPr>
        <p:spPr>
          <a:xfrm>
            <a:off x="2084831" y="3657600"/>
            <a:ext cx="1234440" cy="274320"/>
          </a:xfrm>
          <a:prstGeom prst="rect">
            <a:avLst/>
          </a:prstGeom>
          <a:noFill/>
        </p:spPr>
        <p:txBody>
          <a:bodyPr wrap="none" lIns="73152" rIns="73152" tIns="36576" bIns="36576">
            <a:spAutoFit/>
          </a:bodyPr>
          <a:lstStyle/>
          <a:p>
            <a:pPr algn="l"/>
            <a:r>
              <a:rPr sz="900" b="1">
                <a:solidFill>
                  <a:srgbClr val="143753"/>
                </a:solidFill>
                <a:latin typeface="Yu Gothic"/>
              </a:rPr>
              <a:t>洞爺湖汽船</a:t>
            </a:r>
          </a:p>
        </p:txBody>
      </p:sp>
      <p:sp>
        <p:nvSpPr>
          <p:cNvPr id="32" name="TextBox 31"/>
          <p:cNvSpPr txBox="1"/>
          <p:nvPr/>
        </p:nvSpPr>
        <p:spPr>
          <a:xfrm>
            <a:off x="3246120" y="3648456"/>
            <a:ext cx="3063240" cy="310896"/>
          </a:xfrm>
          <a:prstGeom prst="rect">
            <a:avLst/>
          </a:prstGeom>
          <a:noFill/>
        </p:spPr>
        <p:txBody>
          <a:bodyPr wrap="none" lIns="73152" rIns="73152" tIns="36576" bIns="36576">
            <a:spAutoFit/>
          </a:bodyPr>
          <a:lstStyle/>
          <a:p>
            <a:pPr algn="l"/>
            <a:r>
              <a:rPr sz="830" b="0">
                <a:solidFill>
                  <a:srgbClr val="222B34"/>
                </a:solidFill>
                <a:latin typeface="Yu Gothic"/>
              </a:rPr>
              <a:t>遊覧船で湖上から中島方面を眺める</a:t>
            </a:r>
          </a:p>
        </p:txBody>
      </p:sp>
      <p:sp>
        <p:nvSpPr>
          <p:cNvPr id="33" name="TextBox 32"/>
          <p:cNvSpPr txBox="1"/>
          <p:nvPr/>
        </p:nvSpPr>
        <p:spPr>
          <a:xfrm>
            <a:off x="6355080" y="3666744"/>
            <a:ext cx="411480" cy="256032"/>
          </a:xfrm>
          <a:prstGeom prst="rect">
            <a:avLst/>
          </a:prstGeom>
          <a:noFill/>
        </p:spPr>
        <p:txBody>
          <a:bodyPr wrap="none" lIns="73152" rIns="73152" tIns="36576" bIns="36576">
            <a:spAutoFit/>
          </a:bodyPr>
          <a:lstStyle/>
          <a:p>
            <a:pPr algn="r"/>
            <a:r>
              <a:rPr sz="830" b="0">
                <a:solidFill>
                  <a:srgbClr val="66707A"/>
                </a:solidFill>
                <a:latin typeface="Yu Gothic"/>
              </a:rPr>
              <a:t>60分</a:t>
            </a:r>
          </a:p>
        </p:txBody>
      </p:sp>
      <p:sp>
        <p:nvSpPr>
          <p:cNvPr id="34" name="Rounded Rectangle 33"/>
          <p:cNvSpPr/>
          <p:nvPr/>
        </p:nvSpPr>
        <p:spPr>
          <a:xfrm>
            <a:off x="502920" y="4160520"/>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1792" y="4233672"/>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15:00</a:t>
            </a:r>
          </a:p>
        </p:txBody>
      </p:sp>
      <p:sp>
        <p:nvSpPr>
          <p:cNvPr id="36" name="TextBox 35"/>
          <p:cNvSpPr txBox="1"/>
          <p:nvPr/>
        </p:nvSpPr>
        <p:spPr>
          <a:xfrm>
            <a:off x="1417320" y="4233672"/>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休憩</a:t>
            </a:r>
          </a:p>
        </p:txBody>
      </p:sp>
      <p:sp>
        <p:nvSpPr>
          <p:cNvPr id="37" name="TextBox 36"/>
          <p:cNvSpPr txBox="1"/>
          <p:nvPr/>
        </p:nvSpPr>
        <p:spPr>
          <a:xfrm>
            <a:off x="2084831" y="4224528"/>
            <a:ext cx="1234440" cy="274320"/>
          </a:xfrm>
          <a:prstGeom prst="rect">
            <a:avLst/>
          </a:prstGeom>
          <a:noFill/>
        </p:spPr>
        <p:txBody>
          <a:bodyPr wrap="none" lIns="73152" rIns="73152" tIns="36576" bIns="36576">
            <a:spAutoFit/>
          </a:bodyPr>
          <a:lstStyle/>
          <a:p>
            <a:pPr algn="l"/>
            <a:r>
              <a:rPr sz="900" b="1">
                <a:solidFill>
                  <a:srgbClr val="143753"/>
                </a:solidFill>
                <a:latin typeface="Yu Gothic"/>
              </a:rPr>
              <a:t>キャンプ場</a:t>
            </a:r>
          </a:p>
        </p:txBody>
      </p:sp>
      <p:sp>
        <p:nvSpPr>
          <p:cNvPr id="38" name="TextBox 37"/>
          <p:cNvSpPr txBox="1"/>
          <p:nvPr/>
        </p:nvSpPr>
        <p:spPr>
          <a:xfrm>
            <a:off x="3246120" y="4215384"/>
            <a:ext cx="3063240" cy="310896"/>
          </a:xfrm>
          <a:prstGeom prst="rect">
            <a:avLst/>
          </a:prstGeom>
          <a:noFill/>
        </p:spPr>
        <p:txBody>
          <a:bodyPr wrap="none" lIns="73152" rIns="73152" tIns="36576" bIns="36576">
            <a:spAutoFit/>
          </a:bodyPr>
          <a:lstStyle/>
          <a:p>
            <a:pPr algn="l"/>
            <a:r>
              <a:rPr sz="830" b="0">
                <a:solidFill>
                  <a:srgbClr val="222B34"/>
                </a:solidFill>
                <a:latin typeface="Yu Gothic"/>
              </a:rPr>
              <a:t>昼寝、読書、子どもの自由時間</a:t>
            </a:r>
          </a:p>
        </p:txBody>
      </p:sp>
      <p:sp>
        <p:nvSpPr>
          <p:cNvPr id="39" name="TextBox 38"/>
          <p:cNvSpPr txBox="1"/>
          <p:nvPr/>
        </p:nvSpPr>
        <p:spPr>
          <a:xfrm>
            <a:off x="6355080" y="4233672"/>
            <a:ext cx="411480" cy="256032"/>
          </a:xfrm>
          <a:prstGeom prst="rect">
            <a:avLst/>
          </a:prstGeom>
          <a:noFill/>
        </p:spPr>
        <p:txBody>
          <a:bodyPr wrap="none" lIns="73152" rIns="73152" tIns="36576" bIns="36576">
            <a:spAutoFit/>
          </a:bodyPr>
          <a:lstStyle/>
          <a:p>
            <a:pPr algn="r"/>
            <a:r>
              <a:rPr sz="830" b="0">
                <a:solidFill>
                  <a:srgbClr val="66707A"/>
                </a:solidFill>
                <a:latin typeface="Yu Gothic"/>
              </a:rPr>
              <a:t>120分</a:t>
            </a:r>
          </a:p>
        </p:txBody>
      </p:sp>
      <p:sp>
        <p:nvSpPr>
          <p:cNvPr id="40" name="Rounded Rectangle 39"/>
          <p:cNvSpPr/>
          <p:nvPr/>
        </p:nvSpPr>
        <p:spPr>
          <a:xfrm>
            <a:off x="502920" y="4727448"/>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21792" y="4800600"/>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17:30</a:t>
            </a:r>
          </a:p>
        </p:txBody>
      </p:sp>
      <p:sp>
        <p:nvSpPr>
          <p:cNvPr id="42" name="TextBox 41"/>
          <p:cNvSpPr txBox="1"/>
          <p:nvPr/>
        </p:nvSpPr>
        <p:spPr>
          <a:xfrm>
            <a:off x="1417320" y="4800600"/>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夕食</a:t>
            </a:r>
          </a:p>
        </p:txBody>
      </p:sp>
      <p:sp>
        <p:nvSpPr>
          <p:cNvPr id="43" name="TextBox 42"/>
          <p:cNvSpPr txBox="1"/>
          <p:nvPr/>
        </p:nvSpPr>
        <p:spPr>
          <a:xfrm>
            <a:off x="2084831" y="4791456"/>
            <a:ext cx="1234440" cy="274320"/>
          </a:xfrm>
          <a:prstGeom prst="rect">
            <a:avLst/>
          </a:prstGeom>
          <a:noFill/>
        </p:spPr>
        <p:txBody>
          <a:bodyPr wrap="none" lIns="73152" rIns="73152" tIns="36576" bIns="36576">
            <a:spAutoFit/>
          </a:bodyPr>
          <a:lstStyle/>
          <a:p>
            <a:pPr algn="l"/>
            <a:r>
              <a:rPr sz="900" b="1">
                <a:solidFill>
                  <a:srgbClr val="143753"/>
                </a:solidFill>
                <a:latin typeface="Yu Gothic"/>
              </a:rPr>
              <a:t>キャンプ場</a:t>
            </a:r>
          </a:p>
        </p:txBody>
      </p:sp>
      <p:sp>
        <p:nvSpPr>
          <p:cNvPr id="44" name="TextBox 43"/>
          <p:cNvSpPr txBox="1"/>
          <p:nvPr/>
        </p:nvSpPr>
        <p:spPr>
          <a:xfrm>
            <a:off x="3246120" y="4782312"/>
            <a:ext cx="3063240" cy="310896"/>
          </a:xfrm>
          <a:prstGeom prst="rect">
            <a:avLst/>
          </a:prstGeom>
          <a:noFill/>
        </p:spPr>
        <p:txBody>
          <a:bodyPr wrap="none" lIns="73152" rIns="73152" tIns="36576" bIns="36576">
            <a:spAutoFit/>
          </a:bodyPr>
          <a:lstStyle/>
          <a:p>
            <a:pPr algn="l"/>
            <a:r>
              <a:rPr sz="830" b="0">
                <a:solidFill>
                  <a:srgbClr val="222B34"/>
                </a:solidFill>
                <a:latin typeface="Yu Gothic"/>
              </a:rPr>
              <a:t>バンガローでキャンプ飯。翌日の天気を確認</a:t>
            </a:r>
          </a:p>
        </p:txBody>
      </p:sp>
      <p:sp>
        <p:nvSpPr>
          <p:cNvPr id="45" name="TextBox 44"/>
          <p:cNvSpPr txBox="1"/>
          <p:nvPr/>
        </p:nvSpPr>
        <p:spPr>
          <a:xfrm>
            <a:off x="6355080" y="4800600"/>
            <a:ext cx="411480" cy="256032"/>
          </a:xfrm>
          <a:prstGeom prst="rect">
            <a:avLst/>
          </a:prstGeom>
          <a:noFill/>
        </p:spPr>
        <p:txBody>
          <a:bodyPr wrap="none" lIns="73152" rIns="73152" tIns="36576" bIns="36576">
            <a:spAutoFit/>
          </a:bodyPr>
          <a:lstStyle/>
          <a:p>
            <a:pPr algn="r"/>
            <a:r>
              <a:rPr sz="830" b="0">
                <a:solidFill>
                  <a:srgbClr val="66707A"/>
                </a:solidFill>
                <a:latin typeface="Yu Gothic"/>
              </a:rPr>
              <a:t>90分</a:t>
            </a:r>
          </a:p>
        </p:txBody>
      </p:sp>
      <p:sp>
        <p:nvSpPr>
          <p:cNvPr id="46" name="Rounded Rectangle 45"/>
          <p:cNvSpPr/>
          <p:nvPr/>
        </p:nvSpPr>
        <p:spPr>
          <a:xfrm>
            <a:off x="502920" y="5294376"/>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21792" y="5367528"/>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20:30</a:t>
            </a:r>
          </a:p>
        </p:txBody>
      </p:sp>
      <p:sp>
        <p:nvSpPr>
          <p:cNvPr id="48" name="TextBox 47"/>
          <p:cNvSpPr txBox="1"/>
          <p:nvPr/>
        </p:nvSpPr>
        <p:spPr>
          <a:xfrm>
            <a:off x="1417320" y="5367528"/>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観光</a:t>
            </a:r>
          </a:p>
        </p:txBody>
      </p:sp>
      <p:sp>
        <p:nvSpPr>
          <p:cNvPr id="49" name="TextBox 48"/>
          <p:cNvSpPr txBox="1"/>
          <p:nvPr/>
        </p:nvSpPr>
        <p:spPr>
          <a:xfrm>
            <a:off x="2084831" y="5358384"/>
            <a:ext cx="1234440" cy="274320"/>
          </a:xfrm>
          <a:prstGeom prst="rect">
            <a:avLst/>
          </a:prstGeom>
          <a:noFill/>
        </p:spPr>
        <p:txBody>
          <a:bodyPr wrap="none" lIns="73152" rIns="73152" tIns="36576" bIns="36576">
            <a:spAutoFit/>
          </a:bodyPr>
          <a:lstStyle/>
          <a:p>
            <a:pPr algn="l"/>
            <a:r>
              <a:rPr sz="900" b="1">
                <a:solidFill>
                  <a:srgbClr val="143753"/>
                </a:solidFill>
                <a:latin typeface="Yu Gothic"/>
              </a:rPr>
              <a:t>洞爺湖湖畔</a:t>
            </a:r>
          </a:p>
        </p:txBody>
      </p:sp>
      <p:sp>
        <p:nvSpPr>
          <p:cNvPr id="50" name="TextBox 49"/>
          <p:cNvSpPr txBox="1"/>
          <p:nvPr/>
        </p:nvSpPr>
        <p:spPr>
          <a:xfrm>
            <a:off x="3246120" y="5349240"/>
            <a:ext cx="3063240" cy="310896"/>
          </a:xfrm>
          <a:prstGeom prst="rect">
            <a:avLst/>
          </a:prstGeom>
          <a:noFill/>
        </p:spPr>
        <p:txBody>
          <a:bodyPr wrap="none" lIns="73152" rIns="73152" tIns="36576" bIns="36576">
            <a:spAutoFit/>
          </a:bodyPr>
          <a:lstStyle/>
          <a:p>
            <a:pPr algn="l"/>
            <a:r>
              <a:rPr sz="830" b="0">
                <a:solidFill>
                  <a:srgbClr val="222B34"/>
                </a:solidFill>
                <a:latin typeface="Yu Gothic"/>
              </a:rPr>
              <a:t>花火開催日は湖畔で鑑賞。無理なら早寝</a:t>
            </a:r>
          </a:p>
        </p:txBody>
      </p:sp>
      <p:sp>
        <p:nvSpPr>
          <p:cNvPr id="51" name="TextBox 50"/>
          <p:cNvSpPr txBox="1"/>
          <p:nvPr/>
        </p:nvSpPr>
        <p:spPr>
          <a:xfrm>
            <a:off x="6355080" y="5367528"/>
            <a:ext cx="411480" cy="256032"/>
          </a:xfrm>
          <a:prstGeom prst="rect">
            <a:avLst/>
          </a:prstGeom>
          <a:noFill/>
        </p:spPr>
        <p:txBody>
          <a:bodyPr wrap="none" lIns="73152" rIns="73152" tIns="36576" bIns="36576">
            <a:spAutoFit/>
          </a:bodyPr>
          <a:lstStyle/>
          <a:p>
            <a:pPr algn="r"/>
            <a:r>
              <a:rPr sz="830" b="0">
                <a:solidFill>
                  <a:srgbClr val="66707A"/>
                </a:solidFill>
                <a:latin typeface="Yu Gothic"/>
              </a:rPr>
              <a:t>45分</a:t>
            </a:r>
          </a:p>
        </p:txBody>
      </p:sp>
      <p:pic>
        <p:nvPicPr>
          <p:cNvPr id="52" name="Picture 51" descr="2026-08-02_洞爺湖湖畔.png"/>
          <p:cNvPicPr>
            <a:picLocks noChangeAspect="1"/>
          </p:cNvPicPr>
          <p:nvPr/>
        </p:nvPicPr>
        <p:blipFill>
          <a:blip r:embed="rId2"/>
          <a:stretch>
            <a:fillRect/>
          </a:stretch>
        </p:blipFill>
        <p:spPr>
          <a:xfrm>
            <a:off x="7360920" y="502920"/>
            <a:ext cx="4160520" cy="2331720"/>
          </a:xfrm>
          <a:prstGeom prst="rect">
            <a:avLst/>
          </a:prstGeom>
        </p:spPr>
      </p:pic>
      <p:sp>
        <p:nvSpPr>
          <p:cNvPr id="53" name="TextBox 52"/>
          <p:cNvSpPr txBox="1"/>
          <p:nvPr/>
        </p:nvSpPr>
        <p:spPr>
          <a:xfrm>
            <a:off x="7360920" y="3063240"/>
            <a:ext cx="4343400" cy="292608"/>
          </a:xfrm>
          <a:prstGeom prst="rect">
            <a:avLst/>
          </a:prstGeom>
          <a:noFill/>
        </p:spPr>
        <p:txBody>
          <a:bodyPr wrap="none" lIns="73152" rIns="73152" tIns="36576" bIns="36576">
            <a:spAutoFit/>
          </a:bodyPr>
          <a:lstStyle/>
          <a:p>
            <a:pPr algn="l"/>
            <a:r>
              <a:rPr sz="1500" b="1">
                <a:solidFill>
                  <a:srgbClr val="143753"/>
                </a:solidFill>
                <a:latin typeface="Yu Gothic"/>
              </a:rPr>
              <a:t>レストラン候補</a:t>
            </a:r>
          </a:p>
        </p:txBody>
      </p:sp>
      <p:sp>
        <p:nvSpPr>
          <p:cNvPr id="54" name="Rounded Rectangle 53"/>
          <p:cNvSpPr/>
          <p:nvPr/>
        </p:nvSpPr>
        <p:spPr>
          <a:xfrm>
            <a:off x="7360920" y="344728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434072" y="3502152"/>
            <a:ext cx="566928" cy="228600"/>
          </a:xfrm>
          <a:prstGeom prst="rect">
            <a:avLst/>
          </a:prstGeom>
          <a:noFill/>
        </p:spPr>
        <p:txBody>
          <a:bodyPr wrap="none" lIns="73152" rIns="73152" tIns="36576" bIns="36576">
            <a:spAutoFit/>
          </a:bodyPr>
          <a:lstStyle/>
          <a:p>
            <a:pPr algn="l"/>
            <a:r>
              <a:rPr sz="850" b="1">
                <a:solidFill>
                  <a:srgbClr val="D86352"/>
                </a:solidFill>
                <a:latin typeface="Yu Gothic"/>
              </a:rPr>
              <a:t>昼食</a:t>
            </a:r>
          </a:p>
        </p:txBody>
      </p:sp>
      <p:sp>
        <p:nvSpPr>
          <p:cNvPr id="56" name="TextBox 55"/>
          <p:cNvSpPr txBox="1"/>
          <p:nvPr/>
        </p:nvSpPr>
        <p:spPr>
          <a:xfrm>
            <a:off x="8001000" y="349300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洞爺湖温泉街の湖畔カフェ</a:t>
            </a:r>
          </a:p>
        </p:txBody>
      </p:sp>
      <p:sp>
        <p:nvSpPr>
          <p:cNvPr id="57" name="TextBox 56"/>
          <p:cNvSpPr txBox="1"/>
          <p:nvPr/>
        </p:nvSpPr>
        <p:spPr>
          <a:xfrm>
            <a:off x="9509760" y="349300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湖から出ない日の第一候補</a:t>
            </a:r>
          </a:p>
        </p:txBody>
      </p:sp>
      <p:sp>
        <p:nvSpPr>
          <p:cNvPr id="58" name="Rounded Rectangle 57"/>
          <p:cNvSpPr/>
          <p:nvPr/>
        </p:nvSpPr>
        <p:spPr>
          <a:xfrm>
            <a:off x="7360920" y="395020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434072" y="4005072"/>
            <a:ext cx="566928" cy="228600"/>
          </a:xfrm>
          <a:prstGeom prst="rect">
            <a:avLst/>
          </a:prstGeom>
          <a:noFill/>
        </p:spPr>
        <p:txBody>
          <a:bodyPr wrap="none" lIns="73152" rIns="73152" tIns="36576" bIns="36576">
            <a:spAutoFit/>
          </a:bodyPr>
          <a:lstStyle/>
          <a:p>
            <a:pPr algn="l"/>
            <a:r>
              <a:rPr sz="850" b="1">
                <a:solidFill>
                  <a:srgbClr val="D86352"/>
                </a:solidFill>
                <a:latin typeface="Yu Gothic"/>
              </a:rPr>
              <a:t>昼食</a:t>
            </a:r>
          </a:p>
        </p:txBody>
      </p:sp>
      <p:sp>
        <p:nvSpPr>
          <p:cNvPr id="60" name="TextBox 59"/>
          <p:cNvSpPr txBox="1"/>
          <p:nvPr/>
        </p:nvSpPr>
        <p:spPr>
          <a:xfrm>
            <a:off x="8001000" y="399592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洞爺湖温泉街の食堂</a:t>
            </a:r>
          </a:p>
        </p:txBody>
      </p:sp>
      <p:sp>
        <p:nvSpPr>
          <p:cNvPr id="61" name="TextBox 60"/>
          <p:cNvSpPr txBox="1"/>
          <p:nvPr/>
        </p:nvSpPr>
        <p:spPr>
          <a:xfrm>
            <a:off x="9509760" y="399592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子ども連れで入りやすい店を現地確認</a:t>
            </a:r>
          </a:p>
        </p:txBody>
      </p:sp>
      <p:sp>
        <p:nvSpPr>
          <p:cNvPr id="62" name="Rounded Rectangle 61"/>
          <p:cNvSpPr/>
          <p:nvPr/>
        </p:nvSpPr>
        <p:spPr>
          <a:xfrm>
            <a:off x="7360920" y="445312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434072" y="4507992"/>
            <a:ext cx="566928" cy="228600"/>
          </a:xfrm>
          <a:prstGeom prst="rect">
            <a:avLst/>
          </a:prstGeom>
          <a:noFill/>
        </p:spPr>
        <p:txBody>
          <a:bodyPr wrap="none" lIns="73152" rIns="73152" tIns="36576" bIns="36576">
            <a:spAutoFit/>
          </a:bodyPr>
          <a:lstStyle/>
          <a:p>
            <a:pPr algn="l"/>
            <a:r>
              <a:rPr sz="850" b="1">
                <a:solidFill>
                  <a:srgbClr val="D86352"/>
                </a:solidFill>
                <a:latin typeface="Yu Gothic"/>
              </a:rPr>
              <a:t>夕食</a:t>
            </a:r>
          </a:p>
        </p:txBody>
      </p:sp>
      <p:sp>
        <p:nvSpPr>
          <p:cNvPr id="64" name="TextBox 63"/>
          <p:cNvSpPr txBox="1"/>
          <p:nvPr/>
        </p:nvSpPr>
        <p:spPr>
          <a:xfrm>
            <a:off x="8001000" y="449884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バンガローでキャンプ飯</a:t>
            </a:r>
          </a:p>
        </p:txBody>
      </p:sp>
      <p:sp>
        <p:nvSpPr>
          <p:cNvPr id="65" name="TextBox 64"/>
          <p:cNvSpPr txBox="1"/>
          <p:nvPr/>
        </p:nvSpPr>
        <p:spPr>
          <a:xfrm>
            <a:off x="9509760" y="449884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この日の本命。移動しない</a:t>
            </a:r>
          </a:p>
        </p:txBody>
      </p:sp>
      <p:sp>
        <p:nvSpPr>
          <p:cNvPr id="66" name="Rounded Rectangle 65"/>
          <p:cNvSpPr/>
          <p:nvPr/>
        </p:nvSpPr>
        <p:spPr>
          <a:xfrm>
            <a:off x="7360920" y="495604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434072" y="5010912"/>
            <a:ext cx="566928" cy="228600"/>
          </a:xfrm>
          <a:prstGeom prst="rect">
            <a:avLst/>
          </a:prstGeom>
          <a:noFill/>
        </p:spPr>
        <p:txBody>
          <a:bodyPr wrap="none" lIns="73152" rIns="73152" tIns="36576" bIns="36576">
            <a:spAutoFit/>
          </a:bodyPr>
          <a:lstStyle/>
          <a:p>
            <a:pPr algn="l"/>
            <a:r>
              <a:rPr sz="850" b="1">
                <a:solidFill>
                  <a:srgbClr val="D86352"/>
                </a:solidFill>
                <a:latin typeface="Yu Gothic"/>
              </a:rPr>
              <a:t>甘味</a:t>
            </a:r>
          </a:p>
        </p:txBody>
      </p:sp>
      <p:sp>
        <p:nvSpPr>
          <p:cNvPr id="68" name="TextBox 67"/>
          <p:cNvSpPr txBox="1"/>
          <p:nvPr/>
        </p:nvSpPr>
        <p:spPr>
          <a:xfrm>
            <a:off x="8001000" y="500176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湖畔カフェ / ソフトクリーム</a:t>
            </a:r>
          </a:p>
        </p:txBody>
      </p:sp>
      <p:sp>
        <p:nvSpPr>
          <p:cNvPr id="69" name="TextBox 68"/>
          <p:cNvSpPr txBox="1"/>
          <p:nvPr/>
        </p:nvSpPr>
        <p:spPr>
          <a:xfrm>
            <a:off x="9509760" y="500176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散歩の途中で休憩</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2026-08-03_有珠山ロープウェイ.png"/>
          <p:cNvPicPr>
            <a:picLocks noChangeAspect="1"/>
          </p:cNvPicPr>
          <p:nvPr/>
        </p:nvPicPr>
        <p:blipFill>
          <a:blip r:embed="rId2"/>
          <a:stretch>
            <a:fillRect/>
          </a:stretch>
        </p:blipFill>
        <p:spPr>
          <a:xfrm>
            <a:off x="7059168" y="0"/>
            <a:ext cx="5129784" cy="3886200"/>
          </a:xfrm>
          <a:prstGeom prst="rect">
            <a:avLst/>
          </a:prstGeom>
        </p:spPr>
      </p:pic>
      <p:sp>
        <p:nvSpPr>
          <p:cNvPr id="3" name="Rounded Rectangle 2"/>
          <p:cNvSpPr/>
          <p:nvPr/>
        </p:nvSpPr>
        <p:spPr>
          <a:xfrm>
            <a:off x="502920" y="347472"/>
            <a:ext cx="1325880" cy="329184"/>
          </a:xfrm>
          <a:prstGeom prst="roundRect">
            <a:avLst/>
          </a:prstGeom>
          <a:solidFill>
            <a:srgbClr val="D863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Yu Gothic"/>
              </a:rPr>
              <a:t>DAY 4</a:t>
            </a:r>
          </a:p>
        </p:txBody>
      </p:sp>
      <p:sp>
        <p:nvSpPr>
          <p:cNvPr id="4" name="TextBox 3"/>
          <p:cNvSpPr txBox="1"/>
          <p:nvPr/>
        </p:nvSpPr>
        <p:spPr>
          <a:xfrm>
            <a:off x="502920" y="749808"/>
            <a:ext cx="6126480" cy="548640"/>
          </a:xfrm>
          <a:prstGeom prst="rect">
            <a:avLst/>
          </a:prstGeom>
          <a:noFill/>
        </p:spPr>
        <p:txBody>
          <a:bodyPr wrap="none" lIns="73152" rIns="73152" tIns="36576" bIns="36576">
            <a:spAutoFit/>
          </a:bodyPr>
          <a:lstStyle/>
          <a:p>
            <a:pPr algn="l"/>
            <a:r>
              <a:rPr sz="2200" b="1">
                <a:solidFill>
                  <a:srgbClr val="143753"/>
                </a:solidFill>
                <a:latin typeface="Yu Gothic"/>
              </a:rPr>
              <a:t>2026-08-03  有珠山と洞爺湖周辺ジオパーク</a:t>
            </a:r>
          </a:p>
        </p:txBody>
      </p:sp>
      <p:sp>
        <p:nvSpPr>
          <p:cNvPr id="5" name="TextBox 4"/>
          <p:cNvSpPr txBox="1"/>
          <p:nvPr/>
        </p:nvSpPr>
        <p:spPr>
          <a:xfrm>
            <a:off x="530352" y="1234440"/>
            <a:ext cx="5989320" cy="384048"/>
          </a:xfrm>
          <a:prstGeom prst="rect">
            <a:avLst/>
          </a:prstGeom>
          <a:noFill/>
        </p:spPr>
        <p:txBody>
          <a:bodyPr wrap="none" lIns="73152" rIns="73152" tIns="36576" bIns="36576">
            <a:spAutoFit/>
          </a:bodyPr>
          <a:lstStyle/>
          <a:p>
            <a:pPr algn="l"/>
            <a:r>
              <a:rPr sz="1300" b="1">
                <a:solidFill>
                  <a:srgbClr val="2C73A0"/>
                </a:solidFill>
                <a:latin typeface="Yu Gothic"/>
              </a:rPr>
              <a:t>洞爺湖 / 有珠山 / 壮瞥</a:t>
            </a:r>
          </a:p>
        </p:txBody>
      </p:sp>
      <p:sp>
        <p:nvSpPr>
          <p:cNvPr id="6" name="TextBox 5"/>
          <p:cNvSpPr txBox="1"/>
          <p:nvPr/>
        </p:nvSpPr>
        <p:spPr>
          <a:xfrm>
            <a:off x="530352" y="1719072"/>
            <a:ext cx="6080760" cy="896112"/>
          </a:xfrm>
          <a:prstGeom prst="rect">
            <a:avLst/>
          </a:prstGeom>
          <a:noFill/>
        </p:spPr>
        <p:txBody>
          <a:bodyPr wrap="none" lIns="73152" rIns="73152" tIns="36576" bIns="36576">
            <a:spAutoFit/>
          </a:bodyPr>
          <a:lstStyle/>
          <a:p>
            <a:pPr algn="l"/>
            <a:r>
              <a:rPr sz="1230" b="0">
                <a:solidFill>
                  <a:srgbClr val="222B34"/>
                </a:solidFill>
                <a:latin typeface="Yu Gothic"/>
              </a:rPr>
              <a:t>洞爺湖周辺観光の日。有珠山ロープウェイ、サイロ展望台、壮瞥方面を無理なく回り、火山と湖の景色を楽しみます。夕方はキャンプ場へ戻って休みます。</a:t>
            </a:r>
          </a:p>
        </p:txBody>
      </p:sp>
      <p:sp>
        <p:nvSpPr>
          <p:cNvPr id="7" name="TextBox 6"/>
          <p:cNvSpPr txBox="1"/>
          <p:nvPr/>
        </p:nvSpPr>
        <p:spPr>
          <a:xfrm>
            <a:off x="530352" y="2852928"/>
            <a:ext cx="6126480" cy="292608"/>
          </a:xfrm>
          <a:prstGeom prst="rect">
            <a:avLst/>
          </a:prstGeom>
          <a:noFill/>
        </p:spPr>
        <p:txBody>
          <a:bodyPr wrap="none" lIns="73152" rIns="73152" tIns="36576" bIns="36576">
            <a:spAutoFit/>
          </a:bodyPr>
          <a:lstStyle/>
          <a:p>
            <a:pPr algn="l"/>
            <a:r>
              <a:rPr sz="1500" b="1">
                <a:solidFill>
                  <a:srgbClr val="143753"/>
                </a:solidFill>
                <a:latin typeface="Yu Gothic"/>
              </a:rPr>
              <a:t>この日の流れ</a:t>
            </a:r>
          </a:p>
        </p:txBody>
      </p:sp>
      <p:sp>
        <p:nvSpPr>
          <p:cNvPr id="8" name="Rounded Rectangle 7"/>
          <p:cNvSpPr/>
          <p:nvPr/>
        </p:nvSpPr>
        <p:spPr>
          <a:xfrm>
            <a:off x="502920" y="3246120"/>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3319272"/>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08:00</a:t>
            </a:r>
          </a:p>
        </p:txBody>
      </p:sp>
      <p:sp>
        <p:nvSpPr>
          <p:cNvPr id="10" name="TextBox 9"/>
          <p:cNvSpPr txBox="1"/>
          <p:nvPr/>
        </p:nvSpPr>
        <p:spPr>
          <a:xfrm>
            <a:off x="1417320" y="3319272"/>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朝食</a:t>
            </a:r>
          </a:p>
        </p:txBody>
      </p:sp>
      <p:sp>
        <p:nvSpPr>
          <p:cNvPr id="11" name="TextBox 10"/>
          <p:cNvSpPr txBox="1"/>
          <p:nvPr/>
        </p:nvSpPr>
        <p:spPr>
          <a:xfrm>
            <a:off x="2084831" y="3310128"/>
            <a:ext cx="1234440" cy="274320"/>
          </a:xfrm>
          <a:prstGeom prst="rect">
            <a:avLst/>
          </a:prstGeom>
          <a:noFill/>
        </p:spPr>
        <p:txBody>
          <a:bodyPr wrap="none" lIns="73152" rIns="73152" tIns="36576" bIns="36576">
            <a:spAutoFit/>
          </a:bodyPr>
          <a:lstStyle/>
          <a:p>
            <a:pPr algn="l"/>
            <a:r>
              <a:rPr sz="900" b="1">
                <a:solidFill>
                  <a:srgbClr val="143753"/>
                </a:solidFill>
                <a:latin typeface="Yu Gothic"/>
              </a:rPr>
              <a:t>Green stay Toya</a:t>
            </a:r>
          </a:p>
        </p:txBody>
      </p:sp>
      <p:sp>
        <p:nvSpPr>
          <p:cNvPr id="12" name="TextBox 11"/>
          <p:cNvSpPr txBox="1"/>
          <p:nvPr/>
        </p:nvSpPr>
        <p:spPr>
          <a:xfrm>
            <a:off x="3246120" y="3300984"/>
            <a:ext cx="3063240" cy="310896"/>
          </a:xfrm>
          <a:prstGeom prst="rect">
            <a:avLst/>
          </a:prstGeom>
          <a:noFill/>
        </p:spPr>
        <p:txBody>
          <a:bodyPr wrap="none" lIns="73152" rIns="73152" tIns="36576" bIns="36576">
            <a:spAutoFit/>
          </a:bodyPr>
          <a:lstStyle/>
          <a:p>
            <a:pPr algn="l"/>
            <a:r>
              <a:rPr sz="830" b="0">
                <a:solidFill>
                  <a:srgbClr val="222B34"/>
                </a:solidFill>
                <a:latin typeface="Yu Gothic"/>
              </a:rPr>
              <a:t>朝食と出発準備</a:t>
            </a:r>
          </a:p>
        </p:txBody>
      </p:sp>
      <p:sp>
        <p:nvSpPr>
          <p:cNvPr id="13" name="TextBox 12"/>
          <p:cNvSpPr txBox="1"/>
          <p:nvPr/>
        </p:nvSpPr>
        <p:spPr>
          <a:xfrm>
            <a:off x="6355080" y="3319272"/>
            <a:ext cx="411480" cy="256032"/>
          </a:xfrm>
          <a:prstGeom prst="rect">
            <a:avLst/>
          </a:prstGeom>
          <a:noFill/>
        </p:spPr>
        <p:txBody>
          <a:bodyPr wrap="none" lIns="73152" rIns="73152" tIns="36576" bIns="36576">
            <a:spAutoFit/>
          </a:bodyPr>
          <a:lstStyle/>
          <a:p>
            <a:pPr algn="r"/>
            <a:r>
              <a:rPr sz="830" b="0">
                <a:solidFill>
                  <a:srgbClr val="66707A"/>
                </a:solidFill>
                <a:latin typeface="Yu Gothic"/>
              </a:rPr>
              <a:t>60分</a:t>
            </a:r>
          </a:p>
        </p:txBody>
      </p:sp>
      <p:sp>
        <p:nvSpPr>
          <p:cNvPr id="14" name="Rounded Rectangle 13"/>
          <p:cNvSpPr/>
          <p:nvPr/>
        </p:nvSpPr>
        <p:spPr>
          <a:xfrm>
            <a:off x="502920" y="3813048"/>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 y="3886200"/>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09:15</a:t>
            </a:r>
          </a:p>
        </p:txBody>
      </p:sp>
      <p:sp>
        <p:nvSpPr>
          <p:cNvPr id="16" name="TextBox 15"/>
          <p:cNvSpPr txBox="1"/>
          <p:nvPr/>
        </p:nvSpPr>
        <p:spPr>
          <a:xfrm>
            <a:off x="1417320" y="3886200"/>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移動</a:t>
            </a:r>
          </a:p>
        </p:txBody>
      </p:sp>
      <p:sp>
        <p:nvSpPr>
          <p:cNvPr id="17" name="TextBox 16"/>
          <p:cNvSpPr txBox="1"/>
          <p:nvPr/>
        </p:nvSpPr>
        <p:spPr>
          <a:xfrm>
            <a:off x="2084831" y="3877056"/>
            <a:ext cx="1234440" cy="274320"/>
          </a:xfrm>
          <a:prstGeom prst="rect">
            <a:avLst/>
          </a:prstGeom>
          <a:noFill/>
        </p:spPr>
        <p:txBody>
          <a:bodyPr wrap="none" lIns="73152" rIns="73152" tIns="36576" bIns="36576">
            <a:spAutoFit/>
          </a:bodyPr>
          <a:lstStyle/>
          <a:p>
            <a:pPr algn="l"/>
            <a:r>
              <a:rPr sz="900" b="1">
                <a:solidFill>
                  <a:srgbClr val="143753"/>
                </a:solidFill>
                <a:latin typeface="Yu Gothic"/>
              </a:rPr>
              <a:t>洞爺湖 → 有珠山</a:t>
            </a:r>
          </a:p>
        </p:txBody>
      </p:sp>
      <p:sp>
        <p:nvSpPr>
          <p:cNvPr id="18" name="TextBox 17"/>
          <p:cNvSpPr txBox="1"/>
          <p:nvPr/>
        </p:nvSpPr>
        <p:spPr>
          <a:xfrm>
            <a:off x="3246120" y="3867912"/>
            <a:ext cx="3063240" cy="310896"/>
          </a:xfrm>
          <a:prstGeom prst="rect">
            <a:avLst/>
          </a:prstGeom>
          <a:noFill/>
        </p:spPr>
        <p:txBody>
          <a:bodyPr wrap="none" lIns="73152" rIns="73152" tIns="36576" bIns="36576">
            <a:spAutoFit/>
          </a:bodyPr>
          <a:lstStyle/>
          <a:p>
            <a:pPr algn="l"/>
            <a:r>
              <a:rPr sz="830" b="0">
                <a:solidFill>
                  <a:srgbClr val="222B34"/>
                </a:solidFill>
                <a:latin typeface="Yu Gothic"/>
              </a:rPr>
              <a:t>有珠山ロープウェイ方面へ移動</a:t>
            </a:r>
          </a:p>
        </p:txBody>
      </p:sp>
      <p:sp>
        <p:nvSpPr>
          <p:cNvPr id="19" name="TextBox 18"/>
          <p:cNvSpPr txBox="1"/>
          <p:nvPr/>
        </p:nvSpPr>
        <p:spPr>
          <a:xfrm>
            <a:off x="6355080" y="3886200"/>
            <a:ext cx="411480" cy="256032"/>
          </a:xfrm>
          <a:prstGeom prst="rect">
            <a:avLst/>
          </a:prstGeom>
          <a:noFill/>
        </p:spPr>
        <p:txBody>
          <a:bodyPr wrap="none" lIns="73152" rIns="73152" tIns="36576" bIns="36576">
            <a:spAutoFit/>
          </a:bodyPr>
          <a:lstStyle/>
          <a:p>
            <a:pPr algn="r"/>
            <a:r>
              <a:rPr sz="830" b="0">
                <a:solidFill>
                  <a:srgbClr val="66707A"/>
                </a:solidFill>
                <a:latin typeface="Yu Gothic"/>
              </a:rPr>
              <a:t>約30分</a:t>
            </a:r>
          </a:p>
        </p:txBody>
      </p:sp>
      <p:sp>
        <p:nvSpPr>
          <p:cNvPr id="20" name="Rounded Rectangle 19"/>
          <p:cNvSpPr/>
          <p:nvPr/>
        </p:nvSpPr>
        <p:spPr>
          <a:xfrm>
            <a:off x="502920" y="4379976"/>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1792" y="4453128"/>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10:00</a:t>
            </a:r>
          </a:p>
        </p:txBody>
      </p:sp>
      <p:sp>
        <p:nvSpPr>
          <p:cNvPr id="22" name="TextBox 21"/>
          <p:cNvSpPr txBox="1"/>
          <p:nvPr/>
        </p:nvSpPr>
        <p:spPr>
          <a:xfrm>
            <a:off x="1417320" y="4453128"/>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観光</a:t>
            </a:r>
          </a:p>
        </p:txBody>
      </p:sp>
      <p:sp>
        <p:nvSpPr>
          <p:cNvPr id="23" name="TextBox 22"/>
          <p:cNvSpPr txBox="1"/>
          <p:nvPr/>
        </p:nvSpPr>
        <p:spPr>
          <a:xfrm>
            <a:off x="2084831" y="4443984"/>
            <a:ext cx="1234440" cy="274320"/>
          </a:xfrm>
          <a:prstGeom prst="rect">
            <a:avLst/>
          </a:prstGeom>
          <a:noFill/>
        </p:spPr>
        <p:txBody>
          <a:bodyPr wrap="none" lIns="73152" rIns="73152" tIns="36576" bIns="36576">
            <a:spAutoFit/>
          </a:bodyPr>
          <a:lstStyle/>
          <a:p>
            <a:pPr algn="l"/>
            <a:r>
              <a:rPr sz="900" b="1">
                <a:solidFill>
                  <a:srgbClr val="143753"/>
                </a:solidFill>
                <a:latin typeface="Yu Gothic"/>
              </a:rPr>
              <a:t>有珠山ロープウェイ</a:t>
            </a:r>
          </a:p>
        </p:txBody>
      </p:sp>
      <p:sp>
        <p:nvSpPr>
          <p:cNvPr id="24" name="TextBox 23"/>
          <p:cNvSpPr txBox="1"/>
          <p:nvPr/>
        </p:nvSpPr>
        <p:spPr>
          <a:xfrm>
            <a:off x="3246120" y="4434840"/>
            <a:ext cx="3063240" cy="310896"/>
          </a:xfrm>
          <a:prstGeom prst="rect">
            <a:avLst/>
          </a:prstGeom>
          <a:noFill/>
        </p:spPr>
        <p:txBody>
          <a:bodyPr wrap="none" lIns="73152" rIns="73152" tIns="36576" bIns="36576">
            <a:spAutoFit/>
          </a:bodyPr>
          <a:lstStyle/>
          <a:p>
            <a:pPr algn="l"/>
            <a:r>
              <a:rPr sz="830" b="0">
                <a:solidFill>
                  <a:srgbClr val="222B34"/>
                </a:solidFill>
                <a:latin typeface="Yu Gothic"/>
              </a:rPr>
              <a:t>ロープウェイと展望台。天候が悪ければ短縮</a:t>
            </a:r>
          </a:p>
        </p:txBody>
      </p:sp>
      <p:sp>
        <p:nvSpPr>
          <p:cNvPr id="25" name="TextBox 24"/>
          <p:cNvSpPr txBox="1"/>
          <p:nvPr/>
        </p:nvSpPr>
        <p:spPr>
          <a:xfrm>
            <a:off x="6355080" y="4453128"/>
            <a:ext cx="411480" cy="256032"/>
          </a:xfrm>
          <a:prstGeom prst="rect">
            <a:avLst/>
          </a:prstGeom>
          <a:noFill/>
        </p:spPr>
        <p:txBody>
          <a:bodyPr wrap="none" lIns="73152" rIns="73152" tIns="36576" bIns="36576">
            <a:spAutoFit/>
          </a:bodyPr>
          <a:lstStyle/>
          <a:p>
            <a:pPr algn="r"/>
            <a:r>
              <a:rPr sz="830" b="0">
                <a:solidFill>
                  <a:srgbClr val="66707A"/>
                </a:solidFill>
                <a:latin typeface="Yu Gothic"/>
              </a:rPr>
              <a:t>90分</a:t>
            </a:r>
          </a:p>
        </p:txBody>
      </p:sp>
      <p:sp>
        <p:nvSpPr>
          <p:cNvPr id="26" name="Rounded Rectangle 25"/>
          <p:cNvSpPr/>
          <p:nvPr/>
        </p:nvSpPr>
        <p:spPr>
          <a:xfrm>
            <a:off x="502920" y="4946904"/>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1792" y="5020056"/>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11:45</a:t>
            </a:r>
          </a:p>
        </p:txBody>
      </p:sp>
      <p:sp>
        <p:nvSpPr>
          <p:cNvPr id="28" name="TextBox 27"/>
          <p:cNvSpPr txBox="1"/>
          <p:nvPr/>
        </p:nvSpPr>
        <p:spPr>
          <a:xfrm>
            <a:off x="1417320" y="5020056"/>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昼食</a:t>
            </a:r>
          </a:p>
        </p:txBody>
      </p:sp>
      <p:sp>
        <p:nvSpPr>
          <p:cNvPr id="29" name="TextBox 28"/>
          <p:cNvSpPr txBox="1"/>
          <p:nvPr/>
        </p:nvSpPr>
        <p:spPr>
          <a:xfrm>
            <a:off x="2084831" y="5010912"/>
            <a:ext cx="1234440" cy="274320"/>
          </a:xfrm>
          <a:prstGeom prst="rect">
            <a:avLst/>
          </a:prstGeom>
          <a:noFill/>
        </p:spPr>
        <p:txBody>
          <a:bodyPr wrap="none" lIns="73152" rIns="73152" tIns="36576" bIns="36576">
            <a:spAutoFit/>
          </a:bodyPr>
          <a:lstStyle/>
          <a:p>
            <a:pPr algn="l"/>
            <a:r>
              <a:rPr sz="900" b="1">
                <a:solidFill>
                  <a:srgbClr val="143753"/>
                </a:solidFill>
                <a:latin typeface="Yu Gothic"/>
              </a:rPr>
              <a:t>昭和新山周辺</a:t>
            </a:r>
          </a:p>
        </p:txBody>
      </p:sp>
      <p:sp>
        <p:nvSpPr>
          <p:cNvPr id="30" name="TextBox 29"/>
          <p:cNvSpPr txBox="1"/>
          <p:nvPr/>
        </p:nvSpPr>
        <p:spPr>
          <a:xfrm>
            <a:off x="3246120" y="5001768"/>
            <a:ext cx="3063240" cy="310896"/>
          </a:xfrm>
          <a:prstGeom prst="rect">
            <a:avLst/>
          </a:prstGeom>
          <a:noFill/>
        </p:spPr>
        <p:txBody>
          <a:bodyPr wrap="none" lIns="73152" rIns="73152" tIns="36576" bIns="36576">
            <a:spAutoFit/>
          </a:bodyPr>
          <a:lstStyle/>
          <a:p>
            <a:pPr algn="l"/>
            <a:r>
              <a:rPr sz="830" b="0">
                <a:solidFill>
                  <a:srgbClr val="222B34"/>
                </a:solidFill>
                <a:latin typeface="Yu Gothic"/>
              </a:rPr>
              <a:t>軽食、レストハウス、または周辺食堂</a:t>
            </a:r>
          </a:p>
        </p:txBody>
      </p:sp>
      <p:sp>
        <p:nvSpPr>
          <p:cNvPr id="31" name="TextBox 30"/>
          <p:cNvSpPr txBox="1"/>
          <p:nvPr/>
        </p:nvSpPr>
        <p:spPr>
          <a:xfrm>
            <a:off x="6355080" y="5020056"/>
            <a:ext cx="411480" cy="256032"/>
          </a:xfrm>
          <a:prstGeom prst="rect">
            <a:avLst/>
          </a:prstGeom>
          <a:noFill/>
        </p:spPr>
        <p:txBody>
          <a:bodyPr wrap="none" lIns="73152" rIns="73152" tIns="36576" bIns="36576">
            <a:spAutoFit/>
          </a:bodyPr>
          <a:lstStyle/>
          <a:p>
            <a:pPr algn="r"/>
            <a:r>
              <a:rPr sz="830" b="0">
                <a:solidFill>
                  <a:srgbClr val="66707A"/>
                </a:solidFill>
                <a:latin typeface="Yu Gothic"/>
              </a:rPr>
              <a:t>60分</a:t>
            </a:r>
          </a:p>
        </p:txBody>
      </p:sp>
      <p:sp>
        <p:nvSpPr>
          <p:cNvPr id="32" name="Rounded Rectangle 31"/>
          <p:cNvSpPr/>
          <p:nvPr/>
        </p:nvSpPr>
        <p:spPr>
          <a:xfrm>
            <a:off x="502920" y="5513832"/>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1792" y="5586984"/>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13:00</a:t>
            </a:r>
          </a:p>
        </p:txBody>
      </p:sp>
      <p:sp>
        <p:nvSpPr>
          <p:cNvPr id="34" name="TextBox 33"/>
          <p:cNvSpPr txBox="1"/>
          <p:nvPr/>
        </p:nvSpPr>
        <p:spPr>
          <a:xfrm>
            <a:off x="1417320" y="5586984"/>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観光</a:t>
            </a:r>
          </a:p>
        </p:txBody>
      </p:sp>
      <p:sp>
        <p:nvSpPr>
          <p:cNvPr id="35" name="TextBox 34"/>
          <p:cNvSpPr txBox="1"/>
          <p:nvPr/>
        </p:nvSpPr>
        <p:spPr>
          <a:xfrm>
            <a:off x="2084831" y="5577840"/>
            <a:ext cx="1234440" cy="274320"/>
          </a:xfrm>
          <a:prstGeom prst="rect">
            <a:avLst/>
          </a:prstGeom>
          <a:noFill/>
        </p:spPr>
        <p:txBody>
          <a:bodyPr wrap="none" lIns="73152" rIns="73152" tIns="36576" bIns="36576">
            <a:spAutoFit/>
          </a:bodyPr>
          <a:lstStyle/>
          <a:p>
            <a:pPr algn="l"/>
            <a:r>
              <a:rPr sz="900" b="1">
                <a:solidFill>
                  <a:srgbClr val="143753"/>
                </a:solidFill>
                <a:latin typeface="Yu Gothic"/>
              </a:rPr>
              <a:t>サイロ展望台</a:t>
            </a:r>
          </a:p>
        </p:txBody>
      </p:sp>
      <p:sp>
        <p:nvSpPr>
          <p:cNvPr id="36" name="TextBox 35"/>
          <p:cNvSpPr txBox="1"/>
          <p:nvPr/>
        </p:nvSpPr>
        <p:spPr>
          <a:xfrm>
            <a:off x="3246120" y="5568696"/>
            <a:ext cx="3063240" cy="310896"/>
          </a:xfrm>
          <a:prstGeom prst="rect">
            <a:avLst/>
          </a:prstGeom>
          <a:noFill/>
        </p:spPr>
        <p:txBody>
          <a:bodyPr wrap="none" lIns="73152" rIns="73152" tIns="36576" bIns="36576">
            <a:spAutoFit/>
          </a:bodyPr>
          <a:lstStyle/>
          <a:p>
            <a:pPr algn="l"/>
            <a:r>
              <a:rPr sz="830" b="0">
                <a:solidFill>
                  <a:srgbClr val="222B34"/>
                </a:solidFill>
                <a:latin typeface="Yu Gothic"/>
              </a:rPr>
              <a:t>洞爺湖を見下ろす定番写真スポット</a:t>
            </a:r>
          </a:p>
        </p:txBody>
      </p:sp>
      <p:sp>
        <p:nvSpPr>
          <p:cNvPr id="37" name="TextBox 36"/>
          <p:cNvSpPr txBox="1"/>
          <p:nvPr/>
        </p:nvSpPr>
        <p:spPr>
          <a:xfrm>
            <a:off x="6355080" y="5586984"/>
            <a:ext cx="411480" cy="256032"/>
          </a:xfrm>
          <a:prstGeom prst="rect">
            <a:avLst/>
          </a:prstGeom>
          <a:noFill/>
        </p:spPr>
        <p:txBody>
          <a:bodyPr wrap="none" lIns="73152" rIns="73152" tIns="36576" bIns="36576">
            <a:spAutoFit/>
          </a:bodyPr>
          <a:lstStyle/>
          <a:p>
            <a:pPr algn="r"/>
            <a:r>
              <a:rPr sz="830" b="0">
                <a:solidFill>
                  <a:srgbClr val="66707A"/>
                </a:solidFill>
                <a:latin typeface="Yu Gothic"/>
              </a:rPr>
              <a:t>45分</a:t>
            </a:r>
          </a:p>
        </p:txBody>
      </p:sp>
      <p:sp>
        <p:nvSpPr>
          <p:cNvPr id="38" name="TextBox 37"/>
          <p:cNvSpPr txBox="1"/>
          <p:nvPr/>
        </p:nvSpPr>
        <p:spPr>
          <a:xfrm>
            <a:off x="7150608" y="4251960"/>
            <a:ext cx="4343400" cy="292608"/>
          </a:xfrm>
          <a:prstGeom prst="rect">
            <a:avLst/>
          </a:prstGeom>
          <a:noFill/>
        </p:spPr>
        <p:txBody>
          <a:bodyPr wrap="none" lIns="73152" rIns="73152" tIns="36576" bIns="36576">
            <a:spAutoFit/>
          </a:bodyPr>
          <a:lstStyle/>
          <a:p>
            <a:pPr algn="l"/>
            <a:r>
              <a:rPr sz="1500" b="1">
                <a:solidFill>
                  <a:srgbClr val="143753"/>
                </a:solidFill>
                <a:latin typeface="Yu Gothic"/>
              </a:rPr>
              <a:t>レストラン候補</a:t>
            </a:r>
          </a:p>
        </p:txBody>
      </p:sp>
      <p:sp>
        <p:nvSpPr>
          <p:cNvPr id="39" name="Rounded Rectangle 38"/>
          <p:cNvSpPr/>
          <p:nvPr/>
        </p:nvSpPr>
        <p:spPr>
          <a:xfrm>
            <a:off x="7150608" y="463600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223760" y="4690872"/>
            <a:ext cx="566928" cy="228600"/>
          </a:xfrm>
          <a:prstGeom prst="rect">
            <a:avLst/>
          </a:prstGeom>
          <a:noFill/>
        </p:spPr>
        <p:txBody>
          <a:bodyPr wrap="none" lIns="73152" rIns="73152" tIns="36576" bIns="36576">
            <a:spAutoFit/>
          </a:bodyPr>
          <a:lstStyle/>
          <a:p>
            <a:pPr algn="l"/>
            <a:r>
              <a:rPr sz="850" b="1">
                <a:solidFill>
                  <a:srgbClr val="D86352"/>
                </a:solidFill>
                <a:latin typeface="Yu Gothic"/>
              </a:rPr>
              <a:t>昼食</a:t>
            </a:r>
          </a:p>
        </p:txBody>
      </p:sp>
      <p:sp>
        <p:nvSpPr>
          <p:cNvPr id="41" name="TextBox 40"/>
          <p:cNvSpPr txBox="1"/>
          <p:nvPr/>
        </p:nvSpPr>
        <p:spPr>
          <a:xfrm>
            <a:off x="7790688" y="468172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昭和新山周辺レストハウス</a:t>
            </a:r>
          </a:p>
        </p:txBody>
      </p:sp>
      <p:sp>
        <p:nvSpPr>
          <p:cNvPr id="42" name="TextBox 41"/>
          <p:cNvSpPr txBox="1"/>
          <p:nvPr/>
        </p:nvSpPr>
        <p:spPr>
          <a:xfrm>
            <a:off x="9299448" y="468172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ロープウェイ後に使いやすい</a:t>
            </a:r>
          </a:p>
        </p:txBody>
      </p:sp>
      <p:sp>
        <p:nvSpPr>
          <p:cNvPr id="43" name="Rounded Rectangle 42"/>
          <p:cNvSpPr/>
          <p:nvPr/>
        </p:nvSpPr>
        <p:spPr>
          <a:xfrm>
            <a:off x="7150608" y="513892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223760" y="5193792"/>
            <a:ext cx="566928" cy="228600"/>
          </a:xfrm>
          <a:prstGeom prst="rect">
            <a:avLst/>
          </a:prstGeom>
          <a:noFill/>
        </p:spPr>
        <p:txBody>
          <a:bodyPr wrap="none" lIns="73152" rIns="73152" tIns="36576" bIns="36576">
            <a:spAutoFit/>
          </a:bodyPr>
          <a:lstStyle/>
          <a:p>
            <a:pPr algn="l"/>
            <a:r>
              <a:rPr sz="850" b="1">
                <a:solidFill>
                  <a:srgbClr val="D86352"/>
                </a:solidFill>
                <a:latin typeface="Yu Gothic"/>
              </a:rPr>
              <a:t>昼食</a:t>
            </a:r>
          </a:p>
        </p:txBody>
      </p:sp>
      <p:sp>
        <p:nvSpPr>
          <p:cNvPr id="45" name="TextBox 44"/>
          <p:cNvSpPr txBox="1"/>
          <p:nvPr/>
        </p:nvSpPr>
        <p:spPr>
          <a:xfrm>
            <a:off x="7790688" y="518464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道の駅そうべつ情報館i</a:t>
            </a:r>
          </a:p>
        </p:txBody>
      </p:sp>
      <p:sp>
        <p:nvSpPr>
          <p:cNvPr id="46" name="TextBox 45"/>
          <p:cNvSpPr txBox="1"/>
          <p:nvPr/>
        </p:nvSpPr>
        <p:spPr>
          <a:xfrm>
            <a:off x="9299448" y="518464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休憩と買い物を兼ねる候補</a:t>
            </a:r>
          </a:p>
        </p:txBody>
      </p:sp>
      <p:sp>
        <p:nvSpPr>
          <p:cNvPr id="47" name="Rounded Rectangle 46"/>
          <p:cNvSpPr/>
          <p:nvPr/>
        </p:nvSpPr>
        <p:spPr>
          <a:xfrm>
            <a:off x="7150608" y="564184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223760" y="5696712"/>
            <a:ext cx="566928" cy="228600"/>
          </a:xfrm>
          <a:prstGeom prst="rect">
            <a:avLst/>
          </a:prstGeom>
          <a:noFill/>
        </p:spPr>
        <p:txBody>
          <a:bodyPr wrap="none" lIns="73152" rIns="73152" tIns="36576" bIns="36576">
            <a:spAutoFit/>
          </a:bodyPr>
          <a:lstStyle/>
          <a:p>
            <a:pPr algn="l"/>
            <a:r>
              <a:rPr sz="850" b="1">
                <a:solidFill>
                  <a:srgbClr val="D86352"/>
                </a:solidFill>
                <a:latin typeface="Yu Gothic"/>
              </a:rPr>
              <a:t>夕食</a:t>
            </a:r>
          </a:p>
        </p:txBody>
      </p:sp>
      <p:sp>
        <p:nvSpPr>
          <p:cNvPr id="49" name="TextBox 48"/>
          <p:cNvSpPr txBox="1"/>
          <p:nvPr/>
        </p:nvSpPr>
        <p:spPr>
          <a:xfrm>
            <a:off x="7790688" y="568756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バンガローでキャンプ飯</a:t>
            </a:r>
          </a:p>
        </p:txBody>
      </p:sp>
      <p:sp>
        <p:nvSpPr>
          <p:cNvPr id="50" name="TextBox 49"/>
          <p:cNvSpPr txBox="1"/>
          <p:nvPr/>
        </p:nvSpPr>
        <p:spPr>
          <a:xfrm>
            <a:off x="9299448" y="568756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翌日の移動に備えて早めに済ませる</a:t>
            </a:r>
          </a:p>
        </p:txBody>
      </p:sp>
      <p:sp>
        <p:nvSpPr>
          <p:cNvPr id="51" name="Rounded Rectangle 50"/>
          <p:cNvSpPr/>
          <p:nvPr/>
        </p:nvSpPr>
        <p:spPr>
          <a:xfrm>
            <a:off x="7150608" y="614476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223760" y="6199632"/>
            <a:ext cx="566928" cy="228600"/>
          </a:xfrm>
          <a:prstGeom prst="rect">
            <a:avLst/>
          </a:prstGeom>
          <a:noFill/>
        </p:spPr>
        <p:txBody>
          <a:bodyPr wrap="none" lIns="73152" rIns="73152" tIns="36576" bIns="36576">
            <a:spAutoFit/>
          </a:bodyPr>
          <a:lstStyle/>
          <a:p>
            <a:pPr algn="l"/>
            <a:r>
              <a:rPr sz="850" b="1">
                <a:solidFill>
                  <a:srgbClr val="D86352"/>
                </a:solidFill>
                <a:latin typeface="Yu Gothic"/>
              </a:rPr>
              <a:t>休憩</a:t>
            </a:r>
          </a:p>
        </p:txBody>
      </p:sp>
      <p:sp>
        <p:nvSpPr>
          <p:cNvPr id="53" name="TextBox 52"/>
          <p:cNvSpPr txBox="1"/>
          <p:nvPr/>
        </p:nvSpPr>
        <p:spPr>
          <a:xfrm>
            <a:off x="7790688" y="619048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洞爺湖温泉街カフェ</a:t>
            </a:r>
          </a:p>
        </p:txBody>
      </p:sp>
      <p:sp>
        <p:nvSpPr>
          <p:cNvPr id="54" name="TextBox 53"/>
          <p:cNvSpPr txBox="1"/>
          <p:nvPr/>
        </p:nvSpPr>
        <p:spPr>
          <a:xfrm>
            <a:off x="9299448" y="619048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天候調整用</a:t>
            </a:r>
          </a:p>
        </p:txBody>
      </p:sp>
      <p:sp>
        <p:nvSpPr>
          <p:cNvPr id="55" name="TextBox 54"/>
          <p:cNvSpPr txBox="1"/>
          <p:nvPr/>
        </p:nvSpPr>
        <p:spPr>
          <a:xfrm>
            <a:off x="7150608" y="6199632"/>
            <a:ext cx="4206240" cy="228600"/>
          </a:xfrm>
          <a:prstGeom prst="rect">
            <a:avLst/>
          </a:prstGeom>
          <a:noFill/>
        </p:spPr>
        <p:txBody>
          <a:bodyPr wrap="none" lIns="73152" rIns="73152" tIns="36576" bIns="36576">
            <a:spAutoFit/>
          </a:bodyPr>
          <a:lstStyle/>
          <a:p>
            <a:pPr algn="l"/>
            <a:r>
              <a:rPr sz="780" b="0">
                <a:solidFill>
                  <a:srgbClr val="66707A"/>
                </a:solidFill>
                <a:latin typeface="Yu Gothic"/>
              </a:rPr>
              <a:t>MEMO  有珠山ロープウェイは天候と運行状況を当日確認。 / 翌日は札幌移動なので、夜に荷物を少しまとめる。</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CFCFA"/>
        </a:solidFill>
        <a:effectLst/>
      </p:bgPr>
    </p:bg>
    <p:spTree>
      <p:nvGrpSpPr>
        <p:cNvPr id="1" name=""/>
        <p:cNvGrpSpPr/>
        <p:nvPr/>
      </p:nvGrpSpPr>
      <p:grpSpPr/>
      <p:sp>
        <p:nvSpPr>
          <p:cNvPr id="2" name="Rounded Rectangle 1"/>
          <p:cNvSpPr/>
          <p:nvPr/>
        </p:nvSpPr>
        <p:spPr>
          <a:xfrm>
            <a:off x="502920" y="320040"/>
            <a:ext cx="1325880" cy="329184"/>
          </a:xfrm>
          <a:prstGeom prst="roundRect">
            <a:avLst/>
          </a:prstGeom>
          <a:solidFill>
            <a:srgbClr val="D863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Yu Gothic"/>
              </a:rPr>
              <a:t>DAY 4</a:t>
            </a:r>
          </a:p>
        </p:txBody>
      </p:sp>
      <p:sp>
        <p:nvSpPr>
          <p:cNvPr id="3" name="TextBox 2"/>
          <p:cNvSpPr txBox="1"/>
          <p:nvPr/>
        </p:nvSpPr>
        <p:spPr>
          <a:xfrm>
            <a:off x="502920" y="713232"/>
            <a:ext cx="6217920" cy="384048"/>
          </a:xfrm>
          <a:prstGeom prst="rect">
            <a:avLst/>
          </a:prstGeom>
          <a:noFill/>
        </p:spPr>
        <p:txBody>
          <a:bodyPr wrap="none" lIns="73152" rIns="73152" tIns="36576" bIns="36576">
            <a:spAutoFit/>
          </a:bodyPr>
          <a:lstStyle/>
          <a:p>
            <a:pPr algn="l"/>
            <a:r>
              <a:rPr sz="2200" b="1">
                <a:solidFill>
                  <a:srgbClr val="143753"/>
                </a:solidFill>
                <a:latin typeface="Yu Gothic"/>
              </a:rPr>
              <a:t>時刻ベース詳細スケジュール</a:t>
            </a:r>
          </a:p>
        </p:txBody>
      </p:sp>
      <p:sp>
        <p:nvSpPr>
          <p:cNvPr id="4" name="Rounded Rectangle 3"/>
          <p:cNvSpPr/>
          <p:nvPr/>
        </p:nvSpPr>
        <p:spPr>
          <a:xfrm>
            <a:off x="502920" y="1325880"/>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1399032"/>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08:00</a:t>
            </a:r>
          </a:p>
        </p:txBody>
      </p:sp>
      <p:sp>
        <p:nvSpPr>
          <p:cNvPr id="6" name="TextBox 5"/>
          <p:cNvSpPr txBox="1"/>
          <p:nvPr/>
        </p:nvSpPr>
        <p:spPr>
          <a:xfrm>
            <a:off x="1417320" y="1399032"/>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朝食</a:t>
            </a:r>
          </a:p>
        </p:txBody>
      </p:sp>
      <p:sp>
        <p:nvSpPr>
          <p:cNvPr id="7" name="TextBox 6"/>
          <p:cNvSpPr txBox="1"/>
          <p:nvPr/>
        </p:nvSpPr>
        <p:spPr>
          <a:xfrm>
            <a:off x="2084831" y="1389888"/>
            <a:ext cx="1234440" cy="274320"/>
          </a:xfrm>
          <a:prstGeom prst="rect">
            <a:avLst/>
          </a:prstGeom>
          <a:noFill/>
        </p:spPr>
        <p:txBody>
          <a:bodyPr wrap="none" lIns="73152" rIns="73152" tIns="36576" bIns="36576">
            <a:spAutoFit/>
          </a:bodyPr>
          <a:lstStyle/>
          <a:p>
            <a:pPr algn="l"/>
            <a:r>
              <a:rPr sz="900" b="1">
                <a:solidFill>
                  <a:srgbClr val="143753"/>
                </a:solidFill>
                <a:latin typeface="Yu Gothic"/>
              </a:rPr>
              <a:t>Green stay Toya</a:t>
            </a:r>
          </a:p>
        </p:txBody>
      </p:sp>
      <p:sp>
        <p:nvSpPr>
          <p:cNvPr id="8" name="TextBox 7"/>
          <p:cNvSpPr txBox="1"/>
          <p:nvPr/>
        </p:nvSpPr>
        <p:spPr>
          <a:xfrm>
            <a:off x="3246120" y="1380744"/>
            <a:ext cx="3063240" cy="310896"/>
          </a:xfrm>
          <a:prstGeom prst="rect">
            <a:avLst/>
          </a:prstGeom>
          <a:noFill/>
        </p:spPr>
        <p:txBody>
          <a:bodyPr wrap="none" lIns="73152" rIns="73152" tIns="36576" bIns="36576">
            <a:spAutoFit/>
          </a:bodyPr>
          <a:lstStyle/>
          <a:p>
            <a:pPr algn="l"/>
            <a:r>
              <a:rPr sz="830" b="0">
                <a:solidFill>
                  <a:srgbClr val="222B34"/>
                </a:solidFill>
                <a:latin typeface="Yu Gothic"/>
              </a:rPr>
              <a:t>朝食と出発準備</a:t>
            </a:r>
          </a:p>
        </p:txBody>
      </p:sp>
      <p:sp>
        <p:nvSpPr>
          <p:cNvPr id="9" name="TextBox 8"/>
          <p:cNvSpPr txBox="1"/>
          <p:nvPr/>
        </p:nvSpPr>
        <p:spPr>
          <a:xfrm>
            <a:off x="6355080" y="1399032"/>
            <a:ext cx="411480" cy="256032"/>
          </a:xfrm>
          <a:prstGeom prst="rect">
            <a:avLst/>
          </a:prstGeom>
          <a:noFill/>
        </p:spPr>
        <p:txBody>
          <a:bodyPr wrap="none" lIns="73152" rIns="73152" tIns="36576" bIns="36576">
            <a:spAutoFit/>
          </a:bodyPr>
          <a:lstStyle/>
          <a:p>
            <a:pPr algn="r"/>
            <a:r>
              <a:rPr sz="830" b="0">
                <a:solidFill>
                  <a:srgbClr val="66707A"/>
                </a:solidFill>
                <a:latin typeface="Yu Gothic"/>
              </a:rPr>
              <a:t>60分</a:t>
            </a:r>
          </a:p>
        </p:txBody>
      </p:sp>
      <p:sp>
        <p:nvSpPr>
          <p:cNvPr id="10" name="Rounded Rectangle 9"/>
          <p:cNvSpPr/>
          <p:nvPr/>
        </p:nvSpPr>
        <p:spPr>
          <a:xfrm>
            <a:off x="502920" y="1892808"/>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965960"/>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09:15</a:t>
            </a:r>
          </a:p>
        </p:txBody>
      </p:sp>
      <p:sp>
        <p:nvSpPr>
          <p:cNvPr id="12" name="TextBox 11"/>
          <p:cNvSpPr txBox="1"/>
          <p:nvPr/>
        </p:nvSpPr>
        <p:spPr>
          <a:xfrm>
            <a:off x="1417320" y="1965960"/>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移動</a:t>
            </a:r>
          </a:p>
        </p:txBody>
      </p:sp>
      <p:sp>
        <p:nvSpPr>
          <p:cNvPr id="13" name="TextBox 12"/>
          <p:cNvSpPr txBox="1"/>
          <p:nvPr/>
        </p:nvSpPr>
        <p:spPr>
          <a:xfrm>
            <a:off x="2084831" y="1956816"/>
            <a:ext cx="1234440" cy="274320"/>
          </a:xfrm>
          <a:prstGeom prst="rect">
            <a:avLst/>
          </a:prstGeom>
          <a:noFill/>
        </p:spPr>
        <p:txBody>
          <a:bodyPr wrap="none" lIns="73152" rIns="73152" tIns="36576" bIns="36576">
            <a:spAutoFit/>
          </a:bodyPr>
          <a:lstStyle/>
          <a:p>
            <a:pPr algn="l"/>
            <a:r>
              <a:rPr sz="900" b="1">
                <a:solidFill>
                  <a:srgbClr val="143753"/>
                </a:solidFill>
                <a:latin typeface="Yu Gothic"/>
              </a:rPr>
              <a:t>洞爺湖 → 有珠山</a:t>
            </a:r>
          </a:p>
        </p:txBody>
      </p:sp>
      <p:sp>
        <p:nvSpPr>
          <p:cNvPr id="14" name="TextBox 13"/>
          <p:cNvSpPr txBox="1"/>
          <p:nvPr/>
        </p:nvSpPr>
        <p:spPr>
          <a:xfrm>
            <a:off x="3246120" y="1947672"/>
            <a:ext cx="3063240" cy="310896"/>
          </a:xfrm>
          <a:prstGeom prst="rect">
            <a:avLst/>
          </a:prstGeom>
          <a:noFill/>
        </p:spPr>
        <p:txBody>
          <a:bodyPr wrap="none" lIns="73152" rIns="73152" tIns="36576" bIns="36576">
            <a:spAutoFit/>
          </a:bodyPr>
          <a:lstStyle/>
          <a:p>
            <a:pPr algn="l"/>
            <a:r>
              <a:rPr sz="830" b="0">
                <a:solidFill>
                  <a:srgbClr val="222B34"/>
                </a:solidFill>
                <a:latin typeface="Yu Gothic"/>
              </a:rPr>
              <a:t>有珠山ロープウェイ方面へ移動</a:t>
            </a:r>
          </a:p>
        </p:txBody>
      </p:sp>
      <p:sp>
        <p:nvSpPr>
          <p:cNvPr id="15" name="TextBox 14"/>
          <p:cNvSpPr txBox="1"/>
          <p:nvPr/>
        </p:nvSpPr>
        <p:spPr>
          <a:xfrm>
            <a:off x="6355080" y="1965960"/>
            <a:ext cx="411480" cy="256032"/>
          </a:xfrm>
          <a:prstGeom prst="rect">
            <a:avLst/>
          </a:prstGeom>
          <a:noFill/>
        </p:spPr>
        <p:txBody>
          <a:bodyPr wrap="none" lIns="73152" rIns="73152" tIns="36576" bIns="36576">
            <a:spAutoFit/>
          </a:bodyPr>
          <a:lstStyle/>
          <a:p>
            <a:pPr algn="r"/>
            <a:r>
              <a:rPr sz="830" b="0">
                <a:solidFill>
                  <a:srgbClr val="66707A"/>
                </a:solidFill>
                <a:latin typeface="Yu Gothic"/>
              </a:rPr>
              <a:t>約30分</a:t>
            </a:r>
          </a:p>
        </p:txBody>
      </p:sp>
      <p:sp>
        <p:nvSpPr>
          <p:cNvPr id="16" name="Rounded Rectangle 15"/>
          <p:cNvSpPr/>
          <p:nvPr/>
        </p:nvSpPr>
        <p:spPr>
          <a:xfrm>
            <a:off x="502920" y="2459736"/>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792" y="2532888"/>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10:00</a:t>
            </a:r>
          </a:p>
        </p:txBody>
      </p:sp>
      <p:sp>
        <p:nvSpPr>
          <p:cNvPr id="18" name="TextBox 17"/>
          <p:cNvSpPr txBox="1"/>
          <p:nvPr/>
        </p:nvSpPr>
        <p:spPr>
          <a:xfrm>
            <a:off x="1417320" y="2532888"/>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観光</a:t>
            </a:r>
          </a:p>
        </p:txBody>
      </p:sp>
      <p:sp>
        <p:nvSpPr>
          <p:cNvPr id="19" name="TextBox 18"/>
          <p:cNvSpPr txBox="1"/>
          <p:nvPr/>
        </p:nvSpPr>
        <p:spPr>
          <a:xfrm>
            <a:off x="2084831" y="2523744"/>
            <a:ext cx="1234440" cy="274320"/>
          </a:xfrm>
          <a:prstGeom prst="rect">
            <a:avLst/>
          </a:prstGeom>
          <a:noFill/>
        </p:spPr>
        <p:txBody>
          <a:bodyPr wrap="none" lIns="73152" rIns="73152" tIns="36576" bIns="36576">
            <a:spAutoFit/>
          </a:bodyPr>
          <a:lstStyle/>
          <a:p>
            <a:pPr algn="l"/>
            <a:r>
              <a:rPr sz="900" b="1">
                <a:solidFill>
                  <a:srgbClr val="143753"/>
                </a:solidFill>
                <a:latin typeface="Yu Gothic"/>
              </a:rPr>
              <a:t>有珠山ロープウェイ</a:t>
            </a:r>
          </a:p>
        </p:txBody>
      </p:sp>
      <p:sp>
        <p:nvSpPr>
          <p:cNvPr id="20" name="TextBox 19"/>
          <p:cNvSpPr txBox="1"/>
          <p:nvPr/>
        </p:nvSpPr>
        <p:spPr>
          <a:xfrm>
            <a:off x="3246120" y="2514600"/>
            <a:ext cx="3063240" cy="310896"/>
          </a:xfrm>
          <a:prstGeom prst="rect">
            <a:avLst/>
          </a:prstGeom>
          <a:noFill/>
        </p:spPr>
        <p:txBody>
          <a:bodyPr wrap="none" lIns="73152" rIns="73152" tIns="36576" bIns="36576">
            <a:spAutoFit/>
          </a:bodyPr>
          <a:lstStyle/>
          <a:p>
            <a:pPr algn="l"/>
            <a:r>
              <a:rPr sz="830" b="0">
                <a:solidFill>
                  <a:srgbClr val="222B34"/>
                </a:solidFill>
                <a:latin typeface="Yu Gothic"/>
              </a:rPr>
              <a:t>ロープウェイと展望台。天候が悪ければ短縮</a:t>
            </a:r>
          </a:p>
        </p:txBody>
      </p:sp>
      <p:sp>
        <p:nvSpPr>
          <p:cNvPr id="21" name="TextBox 20"/>
          <p:cNvSpPr txBox="1"/>
          <p:nvPr/>
        </p:nvSpPr>
        <p:spPr>
          <a:xfrm>
            <a:off x="6355080" y="2532888"/>
            <a:ext cx="411480" cy="256032"/>
          </a:xfrm>
          <a:prstGeom prst="rect">
            <a:avLst/>
          </a:prstGeom>
          <a:noFill/>
        </p:spPr>
        <p:txBody>
          <a:bodyPr wrap="none" lIns="73152" rIns="73152" tIns="36576" bIns="36576">
            <a:spAutoFit/>
          </a:bodyPr>
          <a:lstStyle/>
          <a:p>
            <a:pPr algn="r"/>
            <a:r>
              <a:rPr sz="830" b="0">
                <a:solidFill>
                  <a:srgbClr val="66707A"/>
                </a:solidFill>
                <a:latin typeface="Yu Gothic"/>
              </a:rPr>
              <a:t>90分</a:t>
            </a:r>
          </a:p>
        </p:txBody>
      </p:sp>
      <p:sp>
        <p:nvSpPr>
          <p:cNvPr id="22" name="Rounded Rectangle 21"/>
          <p:cNvSpPr/>
          <p:nvPr/>
        </p:nvSpPr>
        <p:spPr>
          <a:xfrm>
            <a:off x="502920" y="3026664"/>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1792" y="3099816"/>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11:45</a:t>
            </a:r>
          </a:p>
        </p:txBody>
      </p:sp>
      <p:sp>
        <p:nvSpPr>
          <p:cNvPr id="24" name="TextBox 23"/>
          <p:cNvSpPr txBox="1"/>
          <p:nvPr/>
        </p:nvSpPr>
        <p:spPr>
          <a:xfrm>
            <a:off x="1417320" y="3099816"/>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昼食</a:t>
            </a:r>
          </a:p>
        </p:txBody>
      </p:sp>
      <p:sp>
        <p:nvSpPr>
          <p:cNvPr id="25" name="TextBox 24"/>
          <p:cNvSpPr txBox="1"/>
          <p:nvPr/>
        </p:nvSpPr>
        <p:spPr>
          <a:xfrm>
            <a:off x="2084831" y="3090672"/>
            <a:ext cx="1234440" cy="274320"/>
          </a:xfrm>
          <a:prstGeom prst="rect">
            <a:avLst/>
          </a:prstGeom>
          <a:noFill/>
        </p:spPr>
        <p:txBody>
          <a:bodyPr wrap="none" lIns="73152" rIns="73152" tIns="36576" bIns="36576">
            <a:spAutoFit/>
          </a:bodyPr>
          <a:lstStyle/>
          <a:p>
            <a:pPr algn="l"/>
            <a:r>
              <a:rPr sz="900" b="1">
                <a:solidFill>
                  <a:srgbClr val="143753"/>
                </a:solidFill>
                <a:latin typeface="Yu Gothic"/>
              </a:rPr>
              <a:t>昭和新山周辺</a:t>
            </a:r>
          </a:p>
        </p:txBody>
      </p:sp>
      <p:sp>
        <p:nvSpPr>
          <p:cNvPr id="26" name="TextBox 25"/>
          <p:cNvSpPr txBox="1"/>
          <p:nvPr/>
        </p:nvSpPr>
        <p:spPr>
          <a:xfrm>
            <a:off x="3246120" y="3081528"/>
            <a:ext cx="3063240" cy="310896"/>
          </a:xfrm>
          <a:prstGeom prst="rect">
            <a:avLst/>
          </a:prstGeom>
          <a:noFill/>
        </p:spPr>
        <p:txBody>
          <a:bodyPr wrap="none" lIns="73152" rIns="73152" tIns="36576" bIns="36576">
            <a:spAutoFit/>
          </a:bodyPr>
          <a:lstStyle/>
          <a:p>
            <a:pPr algn="l"/>
            <a:r>
              <a:rPr sz="830" b="0">
                <a:solidFill>
                  <a:srgbClr val="222B34"/>
                </a:solidFill>
                <a:latin typeface="Yu Gothic"/>
              </a:rPr>
              <a:t>軽食、レストハウス、または周辺食堂</a:t>
            </a:r>
          </a:p>
        </p:txBody>
      </p:sp>
      <p:sp>
        <p:nvSpPr>
          <p:cNvPr id="27" name="TextBox 26"/>
          <p:cNvSpPr txBox="1"/>
          <p:nvPr/>
        </p:nvSpPr>
        <p:spPr>
          <a:xfrm>
            <a:off x="6355080" y="3099816"/>
            <a:ext cx="411480" cy="256032"/>
          </a:xfrm>
          <a:prstGeom prst="rect">
            <a:avLst/>
          </a:prstGeom>
          <a:noFill/>
        </p:spPr>
        <p:txBody>
          <a:bodyPr wrap="none" lIns="73152" rIns="73152" tIns="36576" bIns="36576">
            <a:spAutoFit/>
          </a:bodyPr>
          <a:lstStyle/>
          <a:p>
            <a:pPr algn="r"/>
            <a:r>
              <a:rPr sz="830" b="0">
                <a:solidFill>
                  <a:srgbClr val="66707A"/>
                </a:solidFill>
                <a:latin typeface="Yu Gothic"/>
              </a:rPr>
              <a:t>60分</a:t>
            </a:r>
          </a:p>
        </p:txBody>
      </p:sp>
      <p:sp>
        <p:nvSpPr>
          <p:cNvPr id="28" name="Rounded Rectangle 27"/>
          <p:cNvSpPr/>
          <p:nvPr/>
        </p:nvSpPr>
        <p:spPr>
          <a:xfrm>
            <a:off x="502920" y="3593592"/>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1792" y="3666744"/>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13:00</a:t>
            </a:r>
          </a:p>
        </p:txBody>
      </p:sp>
      <p:sp>
        <p:nvSpPr>
          <p:cNvPr id="30" name="TextBox 29"/>
          <p:cNvSpPr txBox="1"/>
          <p:nvPr/>
        </p:nvSpPr>
        <p:spPr>
          <a:xfrm>
            <a:off x="1417320" y="3666744"/>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観光</a:t>
            </a:r>
          </a:p>
        </p:txBody>
      </p:sp>
      <p:sp>
        <p:nvSpPr>
          <p:cNvPr id="31" name="TextBox 30"/>
          <p:cNvSpPr txBox="1"/>
          <p:nvPr/>
        </p:nvSpPr>
        <p:spPr>
          <a:xfrm>
            <a:off x="2084831" y="3657600"/>
            <a:ext cx="1234440" cy="274320"/>
          </a:xfrm>
          <a:prstGeom prst="rect">
            <a:avLst/>
          </a:prstGeom>
          <a:noFill/>
        </p:spPr>
        <p:txBody>
          <a:bodyPr wrap="none" lIns="73152" rIns="73152" tIns="36576" bIns="36576">
            <a:spAutoFit/>
          </a:bodyPr>
          <a:lstStyle/>
          <a:p>
            <a:pPr algn="l"/>
            <a:r>
              <a:rPr sz="900" b="1">
                <a:solidFill>
                  <a:srgbClr val="143753"/>
                </a:solidFill>
                <a:latin typeface="Yu Gothic"/>
              </a:rPr>
              <a:t>サイロ展望台</a:t>
            </a:r>
          </a:p>
        </p:txBody>
      </p:sp>
      <p:sp>
        <p:nvSpPr>
          <p:cNvPr id="32" name="TextBox 31"/>
          <p:cNvSpPr txBox="1"/>
          <p:nvPr/>
        </p:nvSpPr>
        <p:spPr>
          <a:xfrm>
            <a:off x="3246120" y="3648456"/>
            <a:ext cx="3063240" cy="310896"/>
          </a:xfrm>
          <a:prstGeom prst="rect">
            <a:avLst/>
          </a:prstGeom>
          <a:noFill/>
        </p:spPr>
        <p:txBody>
          <a:bodyPr wrap="none" lIns="73152" rIns="73152" tIns="36576" bIns="36576">
            <a:spAutoFit/>
          </a:bodyPr>
          <a:lstStyle/>
          <a:p>
            <a:pPr algn="l"/>
            <a:r>
              <a:rPr sz="830" b="0">
                <a:solidFill>
                  <a:srgbClr val="222B34"/>
                </a:solidFill>
                <a:latin typeface="Yu Gothic"/>
              </a:rPr>
              <a:t>洞爺湖を見下ろす定番写真スポット</a:t>
            </a:r>
          </a:p>
        </p:txBody>
      </p:sp>
      <p:sp>
        <p:nvSpPr>
          <p:cNvPr id="33" name="TextBox 32"/>
          <p:cNvSpPr txBox="1"/>
          <p:nvPr/>
        </p:nvSpPr>
        <p:spPr>
          <a:xfrm>
            <a:off x="6355080" y="3666744"/>
            <a:ext cx="411480" cy="256032"/>
          </a:xfrm>
          <a:prstGeom prst="rect">
            <a:avLst/>
          </a:prstGeom>
          <a:noFill/>
        </p:spPr>
        <p:txBody>
          <a:bodyPr wrap="none" lIns="73152" rIns="73152" tIns="36576" bIns="36576">
            <a:spAutoFit/>
          </a:bodyPr>
          <a:lstStyle/>
          <a:p>
            <a:pPr algn="r"/>
            <a:r>
              <a:rPr sz="830" b="0">
                <a:solidFill>
                  <a:srgbClr val="66707A"/>
                </a:solidFill>
                <a:latin typeface="Yu Gothic"/>
              </a:rPr>
              <a:t>45分</a:t>
            </a:r>
          </a:p>
        </p:txBody>
      </p:sp>
      <p:sp>
        <p:nvSpPr>
          <p:cNvPr id="34" name="Rounded Rectangle 33"/>
          <p:cNvSpPr/>
          <p:nvPr/>
        </p:nvSpPr>
        <p:spPr>
          <a:xfrm>
            <a:off x="502920" y="4160520"/>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1792" y="4233672"/>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14:00</a:t>
            </a:r>
          </a:p>
        </p:txBody>
      </p:sp>
      <p:sp>
        <p:nvSpPr>
          <p:cNvPr id="36" name="TextBox 35"/>
          <p:cNvSpPr txBox="1"/>
          <p:nvPr/>
        </p:nvSpPr>
        <p:spPr>
          <a:xfrm>
            <a:off x="1417320" y="4233672"/>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観光</a:t>
            </a:r>
          </a:p>
        </p:txBody>
      </p:sp>
      <p:sp>
        <p:nvSpPr>
          <p:cNvPr id="37" name="TextBox 36"/>
          <p:cNvSpPr txBox="1"/>
          <p:nvPr/>
        </p:nvSpPr>
        <p:spPr>
          <a:xfrm>
            <a:off x="2084831" y="4224528"/>
            <a:ext cx="1234440" cy="274320"/>
          </a:xfrm>
          <a:prstGeom prst="rect">
            <a:avLst/>
          </a:prstGeom>
          <a:noFill/>
        </p:spPr>
        <p:txBody>
          <a:bodyPr wrap="none" lIns="73152" rIns="73152" tIns="36576" bIns="36576">
            <a:spAutoFit/>
          </a:bodyPr>
          <a:lstStyle/>
          <a:p>
            <a:pPr algn="l"/>
            <a:r>
              <a:rPr sz="900" b="1">
                <a:solidFill>
                  <a:srgbClr val="143753"/>
                </a:solidFill>
                <a:latin typeface="Yu Gothic"/>
              </a:rPr>
              <a:t>壮瞥方面</a:t>
            </a:r>
          </a:p>
        </p:txBody>
      </p:sp>
      <p:sp>
        <p:nvSpPr>
          <p:cNvPr id="38" name="TextBox 37"/>
          <p:cNvSpPr txBox="1"/>
          <p:nvPr/>
        </p:nvSpPr>
        <p:spPr>
          <a:xfrm>
            <a:off x="3246120" y="4215384"/>
            <a:ext cx="3063240" cy="310896"/>
          </a:xfrm>
          <a:prstGeom prst="rect">
            <a:avLst/>
          </a:prstGeom>
          <a:noFill/>
        </p:spPr>
        <p:txBody>
          <a:bodyPr wrap="none" lIns="73152" rIns="73152" tIns="36576" bIns="36576">
            <a:spAutoFit/>
          </a:bodyPr>
          <a:lstStyle/>
          <a:p>
            <a:pPr algn="l"/>
            <a:r>
              <a:rPr sz="830" b="0">
                <a:solidFill>
                  <a:srgbClr val="222B34"/>
                </a:solidFill>
                <a:latin typeface="Yu Gothic"/>
              </a:rPr>
              <a:t>果物直売所、道の駅、湖畔ドライブ</a:t>
            </a:r>
          </a:p>
        </p:txBody>
      </p:sp>
      <p:sp>
        <p:nvSpPr>
          <p:cNvPr id="39" name="TextBox 38"/>
          <p:cNvSpPr txBox="1"/>
          <p:nvPr/>
        </p:nvSpPr>
        <p:spPr>
          <a:xfrm>
            <a:off x="6355080" y="4233672"/>
            <a:ext cx="411480" cy="256032"/>
          </a:xfrm>
          <a:prstGeom prst="rect">
            <a:avLst/>
          </a:prstGeom>
          <a:noFill/>
        </p:spPr>
        <p:txBody>
          <a:bodyPr wrap="none" lIns="73152" rIns="73152" tIns="36576" bIns="36576">
            <a:spAutoFit/>
          </a:bodyPr>
          <a:lstStyle/>
          <a:p>
            <a:pPr algn="r"/>
            <a:r>
              <a:rPr sz="830" b="0">
                <a:solidFill>
                  <a:srgbClr val="66707A"/>
                </a:solidFill>
                <a:latin typeface="Yu Gothic"/>
              </a:rPr>
              <a:t>90分</a:t>
            </a:r>
          </a:p>
        </p:txBody>
      </p:sp>
      <p:sp>
        <p:nvSpPr>
          <p:cNvPr id="40" name="Rounded Rectangle 39"/>
          <p:cNvSpPr/>
          <p:nvPr/>
        </p:nvSpPr>
        <p:spPr>
          <a:xfrm>
            <a:off x="502920" y="4727448"/>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21792" y="4800600"/>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15:45</a:t>
            </a:r>
          </a:p>
        </p:txBody>
      </p:sp>
      <p:sp>
        <p:nvSpPr>
          <p:cNvPr id="42" name="TextBox 41"/>
          <p:cNvSpPr txBox="1"/>
          <p:nvPr/>
        </p:nvSpPr>
        <p:spPr>
          <a:xfrm>
            <a:off x="1417320" y="4800600"/>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休憩</a:t>
            </a:r>
          </a:p>
        </p:txBody>
      </p:sp>
      <p:sp>
        <p:nvSpPr>
          <p:cNvPr id="43" name="TextBox 42"/>
          <p:cNvSpPr txBox="1"/>
          <p:nvPr/>
        </p:nvSpPr>
        <p:spPr>
          <a:xfrm>
            <a:off x="2084831" y="4791456"/>
            <a:ext cx="1234440" cy="274320"/>
          </a:xfrm>
          <a:prstGeom prst="rect">
            <a:avLst/>
          </a:prstGeom>
          <a:noFill/>
        </p:spPr>
        <p:txBody>
          <a:bodyPr wrap="none" lIns="73152" rIns="73152" tIns="36576" bIns="36576">
            <a:spAutoFit/>
          </a:bodyPr>
          <a:lstStyle/>
          <a:p>
            <a:pPr algn="l"/>
            <a:r>
              <a:rPr sz="900" b="1">
                <a:solidFill>
                  <a:srgbClr val="143753"/>
                </a:solidFill>
                <a:latin typeface="Yu Gothic"/>
              </a:rPr>
              <a:t>洞爺湖温泉街</a:t>
            </a:r>
          </a:p>
        </p:txBody>
      </p:sp>
      <p:sp>
        <p:nvSpPr>
          <p:cNvPr id="44" name="TextBox 43"/>
          <p:cNvSpPr txBox="1"/>
          <p:nvPr/>
        </p:nvSpPr>
        <p:spPr>
          <a:xfrm>
            <a:off x="3246120" y="4782312"/>
            <a:ext cx="3063240" cy="310896"/>
          </a:xfrm>
          <a:prstGeom prst="rect">
            <a:avLst/>
          </a:prstGeom>
          <a:noFill/>
        </p:spPr>
        <p:txBody>
          <a:bodyPr wrap="none" lIns="73152" rIns="73152" tIns="36576" bIns="36576">
            <a:spAutoFit/>
          </a:bodyPr>
          <a:lstStyle/>
          <a:p>
            <a:pPr algn="l"/>
            <a:r>
              <a:rPr sz="830" b="0">
                <a:solidFill>
                  <a:srgbClr val="222B34"/>
                </a:solidFill>
                <a:latin typeface="Yu Gothic"/>
              </a:rPr>
              <a:t>カフェまたは日帰り温泉候補</a:t>
            </a:r>
          </a:p>
        </p:txBody>
      </p:sp>
      <p:sp>
        <p:nvSpPr>
          <p:cNvPr id="45" name="TextBox 44"/>
          <p:cNvSpPr txBox="1"/>
          <p:nvPr/>
        </p:nvSpPr>
        <p:spPr>
          <a:xfrm>
            <a:off x="6355080" y="4800600"/>
            <a:ext cx="411480" cy="256032"/>
          </a:xfrm>
          <a:prstGeom prst="rect">
            <a:avLst/>
          </a:prstGeom>
          <a:noFill/>
        </p:spPr>
        <p:txBody>
          <a:bodyPr wrap="none" lIns="73152" rIns="73152" tIns="36576" bIns="36576">
            <a:spAutoFit/>
          </a:bodyPr>
          <a:lstStyle/>
          <a:p>
            <a:pPr algn="r"/>
            <a:r>
              <a:rPr sz="830" b="0">
                <a:solidFill>
                  <a:srgbClr val="66707A"/>
                </a:solidFill>
                <a:latin typeface="Yu Gothic"/>
              </a:rPr>
              <a:t>60分</a:t>
            </a:r>
          </a:p>
        </p:txBody>
      </p:sp>
      <p:sp>
        <p:nvSpPr>
          <p:cNvPr id="46" name="Rounded Rectangle 45"/>
          <p:cNvSpPr/>
          <p:nvPr/>
        </p:nvSpPr>
        <p:spPr>
          <a:xfrm>
            <a:off x="502920" y="5294376"/>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21792" y="5367528"/>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17:00</a:t>
            </a:r>
          </a:p>
        </p:txBody>
      </p:sp>
      <p:sp>
        <p:nvSpPr>
          <p:cNvPr id="48" name="TextBox 47"/>
          <p:cNvSpPr txBox="1"/>
          <p:nvPr/>
        </p:nvSpPr>
        <p:spPr>
          <a:xfrm>
            <a:off x="1417320" y="5367528"/>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移動</a:t>
            </a:r>
          </a:p>
        </p:txBody>
      </p:sp>
      <p:sp>
        <p:nvSpPr>
          <p:cNvPr id="49" name="TextBox 48"/>
          <p:cNvSpPr txBox="1"/>
          <p:nvPr/>
        </p:nvSpPr>
        <p:spPr>
          <a:xfrm>
            <a:off x="2084831" y="5358384"/>
            <a:ext cx="1234440" cy="274320"/>
          </a:xfrm>
          <a:prstGeom prst="rect">
            <a:avLst/>
          </a:prstGeom>
          <a:noFill/>
        </p:spPr>
        <p:txBody>
          <a:bodyPr wrap="none" lIns="73152" rIns="73152" tIns="36576" bIns="36576">
            <a:spAutoFit/>
          </a:bodyPr>
          <a:lstStyle/>
          <a:p>
            <a:pPr algn="l"/>
            <a:r>
              <a:rPr sz="900" b="1">
                <a:solidFill>
                  <a:srgbClr val="143753"/>
                </a:solidFill>
                <a:latin typeface="Yu Gothic"/>
              </a:rPr>
              <a:t>洞爺湖温泉街 → キャンプ場</a:t>
            </a:r>
          </a:p>
        </p:txBody>
      </p:sp>
      <p:sp>
        <p:nvSpPr>
          <p:cNvPr id="50" name="TextBox 49"/>
          <p:cNvSpPr txBox="1"/>
          <p:nvPr/>
        </p:nvSpPr>
        <p:spPr>
          <a:xfrm>
            <a:off x="3246120" y="5349240"/>
            <a:ext cx="3063240" cy="310896"/>
          </a:xfrm>
          <a:prstGeom prst="rect">
            <a:avLst/>
          </a:prstGeom>
          <a:noFill/>
        </p:spPr>
        <p:txBody>
          <a:bodyPr wrap="none" lIns="73152" rIns="73152" tIns="36576" bIns="36576">
            <a:spAutoFit/>
          </a:bodyPr>
          <a:lstStyle/>
          <a:p>
            <a:pPr algn="l"/>
            <a:r>
              <a:rPr sz="830" b="0">
                <a:solidFill>
                  <a:srgbClr val="222B34"/>
                </a:solidFill>
                <a:latin typeface="Yu Gothic"/>
              </a:rPr>
              <a:t>夕食前に戻る</a:t>
            </a:r>
          </a:p>
        </p:txBody>
      </p:sp>
      <p:sp>
        <p:nvSpPr>
          <p:cNvPr id="51" name="TextBox 50"/>
          <p:cNvSpPr txBox="1"/>
          <p:nvPr/>
        </p:nvSpPr>
        <p:spPr>
          <a:xfrm>
            <a:off x="6355080" y="5367528"/>
            <a:ext cx="411480" cy="256032"/>
          </a:xfrm>
          <a:prstGeom prst="rect">
            <a:avLst/>
          </a:prstGeom>
          <a:noFill/>
        </p:spPr>
        <p:txBody>
          <a:bodyPr wrap="none" lIns="73152" rIns="73152" tIns="36576" bIns="36576">
            <a:spAutoFit/>
          </a:bodyPr>
          <a:lstStyle/>
          <a:p>
            <a:pPr algn="r"/>
            <a:r>
              <a:rPr sz="830" b="0">
                <a:solidFill>
                  <a:srgbClr val="66707A"/>
                </a:solidFill>
                <a:latin typeface="Yu Gothic"/>
              </a:rPr>
              <a:t>30分</a:t>
            </a:r>
          </a:p>
        </p:txBody>
      </p:sp>
      <p:sp>
        <p:nvSpPr>
          <p:cNvPr id="52" name="Rounded Rectangle 51"/>
          <p:cNvSpPr/>
          <p:nvPr/>
        </p:nvSpPr>
        <p:spPr>
          <a:xfrm>
            <a:off x="502920" y="5861304"/>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1792" y="5934456"/>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18:00</a:t>
            </a:r>
          </a:p>
        </p:txBody>
      </p:sp>
      <p:sp>
        <p:nvSpPr>
          <p:cNvPr id="54" name="TextBox 53"/>
          <p:cNvSpPr txBox="1"/>
          <p:nvPr/>
        </p:nvSpPr>
        <p:spPr>
          <a:xfrm>
            <a:off x="1417320" y="5934456"/>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夕食</a:t>
            </a:r>
          </a:p>
        </p:txBody>
      </p:sp>
      <p:sp>
        <p:nvSpPr>
          <p:cNvPr id="55" name="TextBox 54"/>
          <p:cNvSpPr txBox="1"/>
          <p:nvPr/>
        </p:nvSpPr>
        <p:spPr>
          <a:xfrm>
            <a:off x="2084831" y="5925312"/>
            <a:ext cx="1234440" cy="274320"/>
          </a:xfrm>
          <a:prstGeom prst="rect">
            <a:avLst/>
          </a:prstGeom>
          <a:noFill/>
        </p:spPr>
        <p:txBody>
          <a:bodyPr wrap="none" lIns="73152" rIns="73152" tIns="36576" bIns="36576">
            <a:spAutoFit/>
          </a:bodyPr>
          <a:lstStyle/>
          <a:p>
            <a:pPr algn="l"/>
            <a:r>
              <a:rPr sz="900" b="1">
                <a:solidFill>
                  <a:srgbClr val="143753"/>
                </a:solidFill>
                <a:latin typeface="Yu Gothic"/>
              </a:rPr>
              <a:t>キャンプ場</a:t>
            </a:r>
          </a:p>
        </p:txBody>
      </p:sp>
      <p:sp>
        <p:nvSpPr>
          <p:cNvPr id="56" name="TextBox 55"/>
          <p:cNvSpPr txBox="1"/>
          <p:nvPr/>
        </p:nvSpPr>
        <p:spPr>
          <a:xfrm>
            <a:off x="3246120" y="5916168"/>
            <a:ext cx="3063240" cy="310896"/>
          </a:xfrm>
          <a:prstGeom prst="rect">
            <a:avLst/>
          </a:prstGeom>
          <a:noFill/>
        </p:spPr>
        <p:txBody>
          <a:bodyPr wrap="none" lIns="73152" rIns="73152" tIns="36576" bIns="36576">
            <a:spAutoFit/>
          </a:bodyPr>
          <a:lstStyle/>
          <a:p>
            <a:pPr algn="l"/>
            <a:r>
              <a:rPr sz="830" b="0">
                <a:solidFill>
                  <a:srgbClr val="222B34"/>
                </a:solidFill>
                <a:latin typeface="Yu Gothic"/>
              </a:rPr>
              <a:t>キャンプ飯。翌日の札幌移動準備</a:t>
            </a:r>
          </a:p>
        </p:txBody>
      </p:sp>
      <p:sp>
        <p:nvSpPr>
          <p:cNvPr id="57" name="TextBox 56"/>
          <p:cNvSpPr txBox="1"/>
          <p:nvPr/>
        </p:nvSpPr>
        <p:spPr>
          <a:xfrm>
            <a:off x="6355080" y="5934456"/>
            <a:ext cx="411480" cy="256032"/>
          </a:xfrm>
          <a:prstGeom prst="rect">
            <a:avLst/>
          </a:prstGeom>
          <a:noFill/>
        </p:spPr>
        <p:txBody>
          <a:bodyPr wrap="none" lIns="73152" rIns="73152" tIns="36576" bIns="36576">
            <a:spAutoFit/>
          </a:bodyPr>
          <a:lstStyle/>
          <a:p>
            <a:pPr algn="r"/>
            <a:r>
              <a:rPr sz="830" b="0">
                <a:solidFill>
                  <a:srgbClr val="66707A"/>
                </a:solidFill>
                <a:latin typeface="Yu Gothic"/>
              </a:rPr>
              <a:t>90分</a:t>
            </a:r>
          </a:p>
        </p:txBody>
      </p:sp>
      <p:pic>
        <p:nvPicPr>
          <p:cNvPr id="58" name="Picture 57" descr="2026-08-03_有珠山ロープウェイ.png"/>
          <p:cNvPicPr>
            <a:picLocks noChangeAspect="1"/>
          </p:cNvPicPr>
          <p:nvPr/>
        </p:nvPicPr>
        <p:blipFill>
          <a:blip r:embed="rId2"/>
          <a:stretch>
            <a:fillRect/>
          </a:stretch>
        </p:blipFill>
        <p:spPr>
          <a:xfrm>
            <a:off x="7360920" y="502920"/>
            <a:ext cx="4160520" cy="2331720"/>
          </a:xfrm>
          <a:prstGeom prst="rect">
            <a:avLst/>
          </a:prstGeom>
        </p:spPr>
      </p:pic>
      <p:sp>
        <p:nvSpPr>
          <p:cNvPr id="59" name="TextBox 58"/>
          <p:cNvSpPr txBox="1"/>
          <p:nvPr/>
        </p:nvSpPr>
        <p:spPr>
          <a:xfrm>
            <a:off x="7360920" y="3063240"/>
            <a:ext cx="4343400" cy="292608"/>
          </a:xfrm>
          <a:prstGeom prst="rect">
            <a:avLst/>
          </a:prstGeom>
          <a:noFill/>
        </p:spPr>
        <p:txBody>
          <a:bodyPr wrap="none" lIns="73152" rIns="73152" tIns="36576" bIns="36576">
            <a:spAutoFit/>
          </a:bodyPr>
          <a:lstStyle/>
          <a:p>
            <a:pPr algn="l"/>
            <a:r>
              <a:rPr sz="1500" b="1">
                <a:solidFill>
                  <a:srgbClr val="143753"/>
                </a:solidFill>
                <a:latin typeface="Yu Gothic"/>
              </a:rPr>
              <a:t>レストラン候補</a:t>
            </a:r>
          </a:p>
        </p:txBody>
      </p:sp>
      <p:sp>
        <p:nvSpPr>
          <p:cNvPr id="60" name="Rounded Rectangle 59"/>
          <p:cNvSpPr/>
          <p:nvPr/>
        </p:nvSpPr>
        <p:spPr>
          <a:xfrm>
            <a:off x="7360920" y="344728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434072" y="3502152"/>
            <a:ext cx="566928" cy="228600"/>
          </a:xfrm>
          <a:prstGeom prst="rect">
            <a:avLst/>
          </a:prstGeom>
          <a:noFill/>
        </p:spPr>
        <p:txBody>
          <a:bodyPr wrap="none" lIns="73152" rIns="73152" tIns="36576" bIns="36576">
            <a:spAutoFit/>
          </a:bodyPr>
          <a:lstStyle/>
          <a:p>
            <a:pPr algn="l"/>
            <a:r>
              <a:rPr sz="850" b="1">
                <a:solidFill>
                  <a:srgbClr val="D86352"/>
                </a:solidFill>
                <a:latin typeface="Yu Gothic"/>
              </a:rPr>
              <a:t>昼食</a:t>
            </a:r>
          </a:p>
        </p:txBody>
      </p:sp>
      <p:sp>
        <p:nvSpPr>
          <p:cNvPr id="62" name="TextBox 61"/>
          <p:cNvSpPr txBox="1"/>
          <p:nvPr/>
        </p:nvSpPr>
        <p:spPr>
          <a:xfrm>
            <a:off x="8001000" y="349300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昭和新山周辺レストハウス</a:t>
            </a:r>
          </a:p>
        </p:txBody>
      </p:sp>
      <p:sp>
        <p:nvSpPr>
          <p:cNvPr id="63" name="TextBox 62"/>
          <p:cNvSpPr txBox="1"/>
          <p:nvPr/>
        </p:nvSpPr>
        <p:spPr>
          <a:xfrm>
            <a:off x="9509760" y="349300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ロープウェイ後に使いやすい</a:t>
            </a:r>
          </a:p>
        </p:txBody>
      </p:sp>
      <p:sp>
        <p:nvSpPr>
          <p:cNvPr id="64" name="Rounded Rectangle 63"/>
          <p:cNvSpPr/>
          <p:nvPr/>
        </p:nvSpPr>
        <p:spPr>
          <a:xfrm>
            <a:off x="7360920" y="395020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434072" y="4005072"/>
            <a:ext cx="566928" cy="228600"/>
          </a:xfrm>
          <a:prstGeom prst="rect">
            <a:avLst/>
          </a:prstGeom>
          <a:noFill/>
        </p:spPr>
        <p:txBody>
          <a:bodyPr wrap="none" lIns="73152" rIns="73152" tIns="36576" bIns="36576">
            <a:spAutoFit/>
          </a:bodyPr>
          <a:lstStyle/>
          <a:p>
            <a:pPr algn="l"/>
            <a:r>
              <a:rPr sz="850" b="1">
                <a:solidFill>
                  <a:srgbClr val="D86352"/>
                </a:solidFill>
                <a:latin typeface="Yu Gothic"/>
              </a:rPr>
              <a:t>昼食</a:t>
            </a:r>
          </a:p>
        </p:txBody>
      </p:sp>
      <p:sp>
        <p:nvSpPr>
          <p:cNvPr id="66" name="TextBox 65"/>
          <p:cNvSpPr txBox="1"/>
          <p:nvPr/>
        </p:nvSpPr>
        <p:spPr>
          <a:xfrm>
            <a:off x="8001000" y="399592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道の駅そうべつ情報館i</a:t>
            </a:r>
          </a:p>
        </p:txBody>
      </p:sp>
      <p:sp>
        <p:nvSpPr>
          <p:cNvPr id="67" name="TextBox 66"/>
          <p:cNvSpPr txBox="1"/>
          <p:nvPr/>
        </p:nvSpPr>
        <p:spPr>
          <a:xfrm>
            <a:off x="9509760" y="399592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休憩と買い物を兼ねる候補</a:t>
            </a:r>
          </a:p>
        </p:txBody>
      </p:sp>
      <p:sp>
        <p:nvSpPr>
          <p:cNvPr id="68" name="Rounded Rectangle 67"/>
          <p:cNvSpPr/>
          <p:nvPr/>
        </p:nvSpPr>
        <p:spPr>
          <a:xfrm>
            <a:off x="7360920" y="445312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434072" y="4507992"/>
            <a:ext cx="566928" cy="228600"/>
          </a:xfrm>
          <a:prstGeom prst="rect">
            <a:avLst/>
          </a:prstGeom>
          <a:noFill/>
        </p:spPr>
        <p:txBody>
          <a:bodyPr wrap="none" lIns="73152" rIns="73152" tIns="36576" bIns="36576">
            <a:spAutoFit/>
          </a:bodyPr>
          <a:lstStyle/>
          <a:p>
            <a:pPr algn="l"/>
            <a:r>
              <a:rPr sz="850" b="1">
                <a:solidFill>
                  <a:srgbClr val="D86352"/>
                </a:solidFill>
                <a:latin typeface="Yu Gothic"/>
              </a:rPr>
              <a:t>夕食</a:t>
            </a:r>
          </a:p>
        </p:txBody>
      </p:sp>
      <p:sp>
        <p:nvSpPr>
          <p:cNvPr id="70" name="TextBox 69"/>
          <p:cNvSpPr txBox="1"/>
          <p:nvPr/>
        </p:nvSpPr>
        <p:spPr>
          <a:xfrm>
            <a:off x="8001000" y="449884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バンガローでキャンプ飯</a:t>
            </a:r>
          </a:p>
        </p:txBody>
      </p:sp>
      <p:sp>
        <p:nvSpPr>
          <p:cNvPr id="71" name="TextBox 70"/>
          <p:cNvSpPr txBox="1"/>
          <p:nvPr/>
        </p:nvSpPr>
        <p:spPr>
          <a:xfrm>
            <a:off x="9509760" y="449884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翌日の移動に備えて早めに済ませる</a:t>
            </a:r>
          </a:p>
        </p:txBody>
      </p:sp>
      <p:sp>
        <p:nvSpPr>
          <p:cNvPr id="72" name="Rounded Rectangle 71"/>
          <p:cNvSpPr/>
          <p:nvPr/>
        </p:nvSpPr>
        <p:spPr>
          <a:xfrm>
            <a:off x="7360920" y="495604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434072" y="5010912"/>
            <a:ext cx="566928" cy="228600"/>
          </a:xfrm>
          <a:prstGeom prst="rect">
            <a:avLst/>
          </a:prstGeom>
          <a:noFill/>
        </p:spPr>
        <p:txBody>
          <a:bodyPr wrap="none" lIns="73152" rIns="73152" tIns="36576" bIns="36576">
            <a:spAutoFit/>
          </a:bodyPr>
          <a:lstStyle/>
          <a:p>
            <a:pPr algn="l"/>
            <a:r>
              <a:rPr sz="850" b="1">
                <a:solidFill>
                  <a:srgbClr val="D86352"/>
                </a:solidFill>
                <a:latin typeface="Yu Gothic"/>
              </a:rPr>
              <a:t>休憩</a:t>
            </a:r>
          </a:p>
        </p:txBody>
      </p:sp>
      <p:sp>
        <p:nvSpPr>
          <p:cNvPr id="74" name="TextBox 73"/>
          <p:cNvSpPr txBox="1"/>
          <p:nvPr/>
        </p:nvSpPr>
        <p:spPr>
          <a:xfrm>
            <a:off x="8001000" y="500176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洞爺湖温泉街カフェ</a:t>
            </a:r>
          </a:p>
        </p:txBody>
      </p:sp>
      <p:sp>
        <p:nvSpPr>
          <p:cNvPr id="75" name="TextBox 74"/>
          <p:cNvSpPr txBox="1"/>
          <p:nvPr/>
        </p:nvSpPr>
        <p:spPr>
          <a:xfrm>
            <a:off x="9509760" y="500176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天候調整用</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2026-08-04_北海道大学.png"/>
          <p:cNvPicPr>
            <a:picLocks noChangeAspect="1"/>
          </p:cNvPicPr>
          <p:nvPr/>
        </p:nvPicPr>
        <p:blipFill>
          <a:blip r:embed="rId2"/>
          <a:stretch>
            <a:fillRect/>
          </a:stretch>
        </p:blipFill>
        <p:spPr>
          <a:xfrm>
            <a:off x="7059168" y="0"/>
            <a:ext cx="5129784" cy="3886200"/>
          </a:xfrm>
          <a:prstGeom prst="rect">
            <a:avLst/>
          </a:prstGeom>
        </p:spPr>
      </p:pic>
      <p:sp>
        <p:nvSpPr>
          <p:cNvPr id="3" name="Rounded Rectangle 2"/>
          <p:cNvSpPr/>
          <p:nvPr/>
        </p:nvSpPr>
        <p:spPr>
          <a:xfrm>
            <a:off x="502920" y="347472"/>
            <a:ext cx="1325880" cy="329184"/>
          </a:xfrm>
          <a:prstGeom prst="roundRect">
            <a:avLst/>
          </a:prstGeom>
          <a:solidFill>
            <a:srgbClr val="D863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Yu Gothic"/>
              </a:rPr>
              <a:t>DAY 5</a:t>
            </a:r>
          </a:p>
        </p:txBody>
      </p:sp>
      <p:sp>
        <p:nvSpPr>
          <p:cNvPr id="4" name="TextBox 3"/>
          <p:cNvSpPr txBox="1"/>
          <p:nvPr/>
        </p:nvSpPr>
        <p:spPr>
          <a:xfrm>
            <a:off x="502920" y="749808"/>
            <a:ext cx="6126480" cy="548640"/>
          </a:xfrm>
          <a:prstGeom prst="rect">
            <a:avLst/>
          </a:prstGeom>
          <a:noFill/>
        </p:spPr>
        <p:txBody>
          <a:bodyPr wrap="none" lIns="73152" rIns="73152" tIns="36576" bIns="36576">
            <a:spAutoFit/>
          </a:bodyPr>
          <a:lstStyle/>
          <a:p>
            <a:pPr algn="l"/>
            <a:r>
              <a:rPr sz="2200" b="1">
                <a:solidFill>
                  <a:srgbClr val="143753"/>
                </a:solidFill>
                <a:latin typeface="Yu Gothic"/>
              </a:rPr>
              <a:t>2026-08-04  洞爺湖から札幌へ、北大散策と串鳥</a:t>
            </a:r>
          </a:p>
        </p:txBody>
      </p:sp>
      <p:sp>
        <p:nvSpPr>
          <p:cNvPr id="5" name="TextBox 4"/>
          <p:cNvSpPr txBox="1"/>
          <p:nvPr/>
        </p:nvSpPr>
        <p:spPr>
          <a:xfrm>
            <a:off x="530352" y="1234440"/>
            <a:ext cx="5989320" cy="384048"/>
          </a:xfrm>
          <a:prstGeom prst="rect">
            <a:avLst/>
          </a:prstGeom>
          <a:noFill/>
        </p:spPr>
        <p:txBody>
          <a:bodyPr wrap="none" lIns="73152" rIns="73152" tIns="36576" bIns="36576">
            <a:spAutoFit/>
          </a:bodyPr>
          <a:lstStyle/>
          <a:p>
            <a:pPr algn="l"/>
            <a:r>
              <a:rPr sz="1300" b="1">
                <a:solidFill>
                  <a:srgbClr val="2C73A0"/>
                </a:solidFill>
                <a:latin typeface="Yu Gothic"/>
              </a:rPr>
              <a:t>洞爺湖 / 札幌駅前 / 北海道大学</a:t>
            </a:r>
          </a:p>
        </p:txBody>
      </p:sp>
      <p:sp>
        <p:nvSpPr>
          <p:cNvPr id="6" name="TextBox 5"/>
          <p:cNvSpPr txBox="1"/>
          <p:nvPr/>
        </p:nvSpPr>
        <p:spPr>
          <a:xfrm>
            <a:off x="530352" y="1719072"/>
            <a:ext cx="6080760" cy="896112"/>
          </a:xfrm>
          <a:prstGeom prst="rect">
            <a:avLst/>
          </a:prstGeom>
          <a:noFill/>
        </p:spPr>
        <p:txBody>
          <a:bodyPr wrap="none" lIns="73152" rIns="73152" tIns="36576" bIns="36576">
            <a:spAutoFit/>
          </a:bodyPr>
          <a:lstStyle/>
          <a:p>
            <a:pPr algn="l"/>
            <a:r>
              <a:rPr sz="1230" b="0">
                <a:solidFill>
                  <a:srgbClr val="222B34"/>
                </a:solidFill>
                <a:latin typeface="Yu Gothic"/>
              </a:rPr>
              <a:t>洞爺湖のキャンプ滞在を終えて札幌へ。ホテルに入り、北海道大学の緑の多いキャンパスを散策します。夜は札幌駅前の串鳥で夕食予定です。</a:t>
            </a:r>
          </a:p>
        </p:txBody>
      </p:sp>
      <p:sp>
        <p:nvSpPr>
          <p:cNvPr id="7" name="TextBox 6"/>
          <p:cNvSpPr txBox="1"/>
          <p:nvPr/>
        </p:nvSpPr>
        <p:spPr>
          <a:xfrm>
            <a:off x="530352" y="2852928"/>
            <a:ext cx="6126480" cy="292608"/>
          </a:xfrm>
          <a:prstGeom prst="rect">
            <a:avLst/>
          </a:prstGeom>
          <a:noFill/>
        </p:spPr>
        <p:txBody>
          <a:bodyPr wrap="none" lIns="73152" rIns="73152" tIns="36576" bIns="36576">
            <a:spAutoFit/>
          </a:bodyPr>
          <a:lstStyle/>
          <a:p>
            <a:pPr algn="l"/>
            <a:r>
              <a:rPr sz="1500" b="1">
                <a:solidFill>
                  <a:srgbClr val="143753"/>
                </a:solidFill>
                <a:latin typeface="Yu Gothic"/>
              </a:rPr>
              <a:t>この日の流れ</a:t>
            </a:r>
          </a:p>
        </p:txBody>
      </p:sp>
      <p:sp>
        <p:nvSpPr>
          <p:cNvPr id="8" name="Rounded Rectangle 7"/>
          <p:cNvSpPr/>
          <p:nvPr/>
        </p:nvSpPr>
        <p:spPr>
          <a:xfrm>
            <a:off x="502920" y="3246120"/>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3319272"/>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08:00</a:t>
            </a:r>
          </a:p>
        </p:txBody>
      </p:sp>
      <p:sp>
        <p:nvSpPr>
          <p:cNvPr id="10" name="TextBox 9"/>
          <p:cNvSpPr txBox="1"/>
          <p:nvPr/>
        </p:nvSpPr>
        <p:spPr>
          <a:xfrm>
            <a:off x="1417320" y="3319272"/>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朝食</a:t>
            </a:r>
          </a:p>
        </p:txBody>
      </p:sp>
      <p:sp>
        <p:nvSpPr>
          <p:cNvPr id="11" name="TextBox 10"/>
          <p:cNvSpPr txBox="1"/>
          <p:nvPr/>
        </p:nvSpPr>
        <p:spPr>
          <a:xfrm>
            <a:off x="2084831" y="3310128"/>
            <a:ext cx="1234440" cy="274320"/>
          </a:xfrm>
          <a:prstGeom prst="rect">
            <a:avLst/>
          </a:prstGeom>
          <a:noFill/>
        </p:spPr>
        <p:txBody>
          <a:bodyPr wrap="none" lIns="73152" rIns="73152" tIns="36576" bIns="36576">
            <a:spAutoFit/>
          </a:bodyPr>
          <a:lstStyle/>
          <a:p>
            <a:pPr algn="l"/>
            <a:r>
              <a:rPr sz="900" b="1">
                <a:solidFill>
                  <a:srgbClr val="143753"/>
                </a:solidFill>
                <a:latin typeface="Yu Gothic"/>
              </a:rPr>
              <a:t>Green stay Toya</a:t>
            </a:r>
          </a:p>
        </p:txBody>
      </p:sp>
      <p:sp>
        <p:nvSpPr>
          <p:cNvPr id="12" name="TextBox 11"/>
          <p:cNvSpPr txBox="1"/>
          <p:nvPr/>
        </p:nvSpPr>
        <p:spPr>
          <a:xfrm>
            <a:off x="3246120" y="3300984"/>
            <a:ext cx="3063240" cy="310896"/>
          </a:xfrm>
          <a:prstGeom prst="rect">
            <a:avLst/>
          </a:prstGeom>
          <a:noFill/>
        </p:spPr>
        <p:txBody>
          <a:bodyPr wrap="none" lIns="73152" rIns="73152" tIns="36576" bIns="36576">
            <a:spAutoFit/>
          </a:bodyPr>
          <a:lstStyle/>
          <a:p>
            <a:pPr algn="l"/>
            <a:r>
              <a:rPr sz="830" b="0">
                <a:solidFill>
                  <a:srgbClr val="222B34"/>
                </a:solidFill>
                <a:latin typeface="Yu Gothic"/>
              </a:rPr>
              <a:t>朝食、片付け、チェックアウト準備</a:t>
            </a:r>
          </a:p>
        </p:txBody>
      </p:sp>
      <p:sp>
        <p:nvSpPr>
          <p:cNvPr id="13" name="TextBox 12"/>
          <p:cNvSpPr txBox="1"/>
          <p:nvPr/>
        </p:nvSpPr>
        <p:spPr>
          <a:xfrm>
            <a:off x="6355080" y="3319272"/>
            <a:ext cx="411480" cy="256032"/>
          </a:xfrm>
          <a:prstGeom prst="rect">
            <a:avLst/>
          </a:prstGeom>
          <a:noFill/>
        </p:spPr>
        <p:txBody>
          <a:bodyPr wrap="none" lIns="73152" rIns="73152" tIns="36576" bIns="36576">
            <a:spAutoFit/>
          </a:bodyPr>
          <a:lstStyle/>
          <a:p>
            <a:pPr algn="r"/>
            <a:r>
              <a:rPr sz="830" b="0">
                <a:solidFill>
                  <a:srgbClr val="66707A"/>
                </a:solidFill>
                <a:latin typeface="Yu Gothic"/>
              </a:rPr>
              <a:t>75分</a:t>
            </a:r>
          </a:p>
        </p:txBody>
      </p:sp>
      <p:sp>
        <p:nvSpPr>
          <p:cNvPr id="14" name="Rounded Rectangle 13"/>
          <p:cNvSpPr/>
          <p:nvPr/>
        </p:nvSpPr>
        <p:spPr>
          <a:xfrm>
            <a:off x="502920" y="3813048"/>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 y="3886200"/>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09:30</a:t>
            </a:r>
          </a:p>
        </p:txBody>
      </p:sp>
      <p:sp>
        <p:nvSpPr>
          <p:cNvPr id="16" name="TextBox 15"/>
          <p:cNvSpPr txBox="1"/>
          <p:nvPr/>
        </p:nvSpPr>
        <p:spPr>
          <a:xfrm>
            <a:off x="1417320" y="3886200"/>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移動</a:t>
            </a:r>
          </a:p>
        </p:txBody>
      </p:sp>
      <p:sp>
        <p:nvSpPr>
          <p:cNvPr id="17" name="TextBox 16"/>
          <p:cNvSpPr txBox="1"/>
          <p:nvPr/>
        </p:nvSpPr>
        <p:spPr>
          <a:xfrm>
            <a:off x="2084831" y="3877056"/>
            <a:ext cx="1234440" cy="274320"/>
          </a:xfrm>
          <a:prstGeom prst="rect">
            <a:avLst/>
          </a:prstGeom>
          <a:noFill/>
        </p:spPr>
        <p:txBody>
          <a:bodyPr wrap="none" lIns="73152" rIns="73152" tIns="36576" bIns="36576">
            <a:spAutoFit/>
          </a:bodyPr>
          <a:lstStyle/>
          <a:p>
            <a:pPr algn="l"/>
            <a:r>
              <a:rPr sz="900" b="1">
                <a:solidFill>
                  <a:srgbClr val="143753"/>
                </a:solidFill>
                <a:latin typeface="Yu Gothic"/>
              </a:rPr>
              <a:t>洞爺湖 → 中山峠方面</a:t>
            </a:r>
          </a:p>
        </p:txBody>
      </p:sp>
      <p:sp>
        <p:nvSpPr>
          <p:cNvPr id="18" name="TextBox 17"/>
          <p:cNvSpPr txBox="1"/>
          <p:nvPr/>
        </p:nvSpPr>
        <p:spPr>
          <a:xfrm>
            <a:off x="3246120" y="3867912"/>
            <a:ext cx="3063240" cy="310896"/>
          </a:xfrm>
          <a:prstGeom prst="rect">
            <a:avLst/>
          </a:prstGeom>
          <a:noFill/>
        </p:spPr>
        <p:txBody>
          <a:bodyPr wrap="none" lIns="73152" rIns="73152" tIns="36576" bIns="36576">
            <a:spAutoFit/>
          </a:bodyPr>
          <a:lstStyle/>
          <a:p>
            <a:pPr algn="l"/>
            <a:r>
              <a:rPr sz="830" b="0">
                <a:solidFill>
                  <a:srgbClr val="222B34"/>
                </a:solidFill>
                <a:latin typeface="Yu Gothic"/>
              </a:rPr>
              <a:t>札幌へ移動。途中で休憩を入れる</a:t>
            </a:r>
          </a:p>
        </p:txBody>
      </p:sp>
      <p:sp>
        <p:nvSpPr>
          <p:cNvPr id="19" name="TextBox 18"/>
          <p:cNvSpPr txBox="1"/>
          <p:nvPr/>
        </p:nvSpPr>
        <p:spPr>
          <a:xfrm>
            <a:off x="6355080" y="3886200"/>
            <a:ext cx="411480" cy="256032"/>
          </a:xfrm>
          <a:prstGeom prst="rect">
            <a:avLst/>
          </a:prstGeom>
          <a:noFill/>
        </p:spPr>
        <p:txBody>
          <a:bodyPr wrap="none" lIns="73152" rIns="73152" tIns="36576" bIns="36576">
            <a:spAutoFit/>
          </a:bodyPr>
          <a:lstStyle/>
          <a:p>
            <a:pPr algn="r"/>
            <a:r>
              <a:rPr sz="830" b="0">
                <a:solidFill>
                  <a:srgbClr val="66707A"/>
                </a:solidFill>
                <a:latin typeface="Yu Gothic"/>
              </a:rPr>
              <a:t>約2時間</a:t>
            </a:r>
          </a:p>
        </p:txBody>
      </p:sp>
      <p:sp>
        <p:nvSpPr>
          <p:cNvPr id="20" name="Rounded Rectangle 19"/>
          <p:cNvSpPr/>
          <p:nvPr/>
        </p:nvSpPr>
        <p:spPr>
          <a:xfrm>
            <a:off x="502920" y="4379976"/>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1792" y="4453128"/>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11:30</a:t>
            </a:r>
          </a:p>
        </p:txBody>
      </p:sp>
      <p:sp>
        <p:nvSpPr>
          <p:cNvPr id="22" name="TextBox 21"/>
          <p:cNvSpPr txBox="1"/>
          <p:nvPr/>
        </p:nvSpPr>
        <p:spPr>
          <a:xfrm>
            <a:off x="1417320" y="4453128"/>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休憩</a:t>
            </a:r>
          </a:p>
        </p:txBody>
      </p:sp>
      <p:sp>
        <p:nvSpPr>
          <p:cNvPr id="23" name="TextBox 22"/>
          <p:cNvSpPr txBox="1"/>
          <p:nvPr/>
        </p:nvSpPr>
        <p:spPr>
          <a:xfrm>
            <a:off x="2084831" y="4443984"/>
            <a:ext cx="1234440" cy="274320"/>
          </a:xfrm>
          <a:prstGeom prst="rect">
            <a:avLst/>
          </a:prstGeom>
          <a:noFill/>
        </p:spPr>
        <p:txBody>
          <a:bodyPr wrap="none" lIns="73152" rIns="73152" tIns="36576" bIns="36576">
            <a:spAutoFit/>
          </a:bodyPr>
          <a:lstStyle/>
          <a:p>
            <a:pPr algn="l"/>
            <a:r>
              <a:rPr sz="900" b="1">
                <a:solidFill>
                  <a:srgbClr val="143753"/>
                </a:solidFill>
                <a:latin typeface="Yu Gothic"/>
              </a:rPr>
              <a:t>中山峠 / 定山渓方面</a:t>
            </a:r>
          </a:p>
        </p:txBody>
      </p:sp>
      <p:sp>
        <p:nvSpPr>
          <p:cNvPr id="24" name="TextBox 23"/>
          <p:cNvSpPr txBox="1"/>
          <p:nvPr/>
        </p:nvSpPr>
        <p:spPr>
          <a:xfrm>
            <a:off x="3246120" y="4434840"/>
            <a:ext cx="3063240" cy="310896"/>
          </a:xfrm>
          <a:prstGeom prst="rect">
            <a:avLst/>
          </a:prstGeom>
          <a:noFill/>
        </p:spPr>
        <p:txBody>
          <a:bodyPr wrap="none" lIns="73152" rIns="73152" tIns="36576" bIns="36576">
            <a:spAutoFit/>
          </a:bodyPr>
          <a:lstStyle/>
          <a:p>
            <a:pPr algn="l"/>
            <a:r>
              <a:rPr sz="830" b="0">
                <a:solidFill>
                  <a:srgbClr val="222B34"/>
                </a:solidFill>
                <a:latin typeface="Yu Gothic"/>
              </a:rPr>
              <a:t>トイレ、軽食、天気確認</a:t>
            </a:r>
          </a:p>
        </p:txBody>
      </p:sp>
      <p:sp>
        <p:nvSpPr>
          <p:cNvPr id="25" name="TextBox 24"/>
          <p:cNvSpPr txBox="1"/>
          <p:nvPr/>
        </p:nvSpPr>
        <p:spPr>
          <a:xfrm>
            <a:off x="6355080" y="4453128"/>
            <a:ext cx="411480" cy="256032"/>
          </a:xfrm>
          <a:prstGeom prst="rect">
            <a:avLst/>
          </a:prstGeom>
          <a:noFill/>
        </p:spPr>
        <p:txBody>
          <a:bodyPr wrap="none" lIns="73152" rIns="73152" tIns="36576" bIns="36576">
            <a:spAutoFit/>
          </a:bodyPr>
          <a:lstStyle/>
          <a:p>
            <a:pPr algn="r"/>
            <a:r>
              <a:rPr sz="830" b="0">
                <a:solidFill>
                  <a:srgbClr val="66707A"/>
                </a:solidFill>
                <a:latin typeface="Yu Gothic"/>
              </a:rPr>
              <a:t>30分</a:t>
            </a:r>
          </a:p>
        </p:txBody>
      </p:sp>
      <p:sp>
        <p:nvSpPr>
          <p:cNvPr id="26" name="Rounded Rectangle 25"/>
          <p:cNvSpPr/>
          <p:nvPr/>
        </p:nvSpPr>
        <p:spPr>
          <a:xfrm>
            <a:off x="502920" y="4946904"/>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1792" y="5020056"/>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12:30</a:t>
            </a:r>
          </a:p>
        </p:txBody>
      </p:sp>
      <p:sp>
        <p:nvSpPr>
          <p:cNvPr id="28" name="TextBox 27"/>
          <p:cNvSpPr txBox="1"/>
          <p:nvPr/>
        </p:nvSpPr>
        <p:spPr>
          <a:xfrm>
            <a:off x="1417320" y="5020056"/>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昼食</a:t>
            </a:r>
          </a:p>
        </p:txBody>
      </p:sp>
      <p:sp>
        <p:nvSpPr>
          <p:cNvPr id="29" name="TextBox 28"/>
          <p:cNvSpPr txBox="1"/>
          <p:nvPr/>
        </p:nvSpPr>
        <p:spPr>
          <a:xfrm>
            <a:off x="2084831" y="5010912"/>
            <a:ext cx="1234440" cy="274320"/>
          </a:xfrm>
          <a:prstGeom prst="rect">
            <a:avLst/>
          </a:prstGeom>
          <a:noFill/>
        </p:spPr>
        <p:txBody>
          <a:bodyPr wrap="none" lIns="73152" rIns="73152" tIns="36576" bIns="36576">
            <a:spAutoFit/>
          </a:bodyPr>
          <a:lstStyle/>
          <a:p>
            <a:pPr algn="l"/>
            <a:r>
              <a:rPr sz="900" b="1">
                <a:solidFill>
                  <a:srgbClr val="143753"/>
                </a:solidFill>
                <a:latin typeface="Yu Gothic"/>
              </a:rPr>
              <a:t>札幌市内</a:t>
            </a:r>
          </a:p>
        </p:txBody>
      </p:sp>
      <p:sp>
        <p:nvSpPr>
          <p:cNvPr id="30" name="TextBox 29"/>
          <p:cNvSpPr txBox="1"/>
          <p:nvPr/>
        </p:nvSpPr>
        <p:spPr>
          <a:xfrm>
            <a:off x="3246120" y="5001768"/>
            <a:ext cx="3063240" cy="310896"/>
          </a:xfrm>
          <a:prstGeom prst="rect">
            <a:avLst/>
          </a:prstGeom>
          <a:noFill/>
        </p:spPr>
        <p:txBody>
          <a:bodyPr wrap="none" lIns="73152" rIns="73152" tIns="36576" bIns="36576">
            <a:spAutoFit/>
          </a:bodyPr>
          <a:lstStyle/>
          <a:p>
            <a:pPr algn="l"/>
            <a:r>
              <a:rPr sz="830" b="0">
                <a:solidFill>
                  <a:srgbClr val="222B34"/>
                </a:solidFill>
                <a:latin typeface="Yu Gothic"/>
              </a:rPr>
              <a:t>駐車しやすい場所で昼食</a:t>
            </a:r>
          </a:p>
        </p:txBody>
      </p:sp>
      <p:sp>
        <p:nvSpPr>
          <p:cNvPr id="31" name="TextBox 30"/>
          <p:cNvSpPr txBox="1"/>
          <p:nvPr/>
        </p:nvSpPr>
        <p:spPr>
          <a:xfrm>
            <a:off x="6355080" y="5020056"/>
            <a:ext cx="411480" cy="256032"/>
          </a:xfrm>
          <a:prstGeom prst="rect">
            <a:avLst/>
          </a:prstGeom>
          <a:noFill/>
        </p:spPr>
        <p:txBody>
          <a:bodyPr wrap="none" lIns="73152" rIns="73152" tIns="36576" bIns="36576">
            <a:spAutoFit/>
          </a:bodyPr>
          <a:lstStyle/>
          <a:p>
            <a:pPr algn="r"/>
            <a:r>
              <a:rPr sz="830" b="0">
                <a:solidFill>
                  <a:srgbClr val="66707A"/>
                </a:solidFill>
                <a:latin typeface="Yu Gothic"/>
              </a:rPr>
              <a:t>60分</a:t>
            </a:r>
          </a:p>
        </p:txBody>
      </p:sp>
      <p:sp>
        <p:nvSpPr>
          <p:cNvPr id="32" name="Rounded Rectangle 31"/>
          <p:cNvSpPr/>
          <p:nvPr/>
        </p:nvSpPr>
        <p:spPr>
          <a:xfrm>
            <a:off x="502920" y="5513832"/>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1792" y="5586984"/>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14:00</a:t>
            </a:r>
          </a:p>
        </p:txBody>
      </p:sp>
      <p:sp>
        <p:nvSpPr>
          <p:cNvPr id="34" name="TextBox 33"/>
          <p:cNvSpPr txBox="1"/>
          <p:nvPr/>
        </p:nvSpPr>
        <p:spPr>
          <a:xfrm>
            <a:off x="1417320" y="5586984"/>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手続き</a:t>
            </a:r>
          </a:p>
        </p:txBody>
      </p:sp>
      <p:sp>
        <p:nvSpPr>
          <p:cNvPr id="35" name="TextBox 34"/>
          <p:cNvSpPr txBox="1"/>
          <p:nvPr/>
        </p:nvSpPr>
        <p:spPr>
          <a:xfrm>
            <a:off x="2084831" y="5577840"/>
            <a:ext cx="1234440" cy="274320"/>
          </a:xfrm>
          <a:prstGeom prst="rect">
            <a:avLst/>
          </a:prstGeom>
          <a:noFill/>
        </p:spPr>
        <p:txBody>
          <a:bodyPr wrap="none" lIns="73152" rIns="73152" tIns="36576" bIns="36576">
            <a:spAutoFit/>
          </a:bodyPr>
          <a:lstStyle/>
          <a:p>
            <a:pPr algn="l"/>
            <a:r>
              <a:rPr sz="900" b="1">
                <a:solidFill>
                  <a:srgbClr val="143753"/>
                </a:solidFill>
                <a:latin typeface="Yu Gothic"/>
              </a:rPr>
              <a:t>HOTEL MYSTAYS Sapporo Aspen</a:t>
            </a:r>
          </a:p>
        </p:txBody>
      </p:sp>
      <p:sp>
        <p:nvSpPr>
          <p:cNvPr id="36" name="TextBox 35"/>
          <p:cNvSpPr txBox="1"/>
          <p:nvPr/>
        </p:nvSpPr>
        <p:spPr>
          <a:xfrm>
            <a:off x="3246120" y="5568696"/>
            <a:ext cx="3063240" cy="310896"/>
          </a:xfrm>
          <a:prstGeom prst="rect">
            <a:avLst/>
          </a:prstGeom>
          <a:noFill/>
        </p:spPr>
        <p:txBody>
          <a:bodyPr wrap="none" lIns="73152" rIns="73152" tIns="36576" bIns="36576">
            <a:spAutoFit/>
          </a:bodyPr>
          <a:lstStyle/>
          <a:p>
            <a:pPr algn="l"/>
            <a:r>
              <a:rPr sz="830" b="0">
                <a:solidFill>
                  <a:srgbClr val="222B34"/>
                </a:solidFill>
                <a:latin typeface="Yu Gothic"/>
              </a:rPr>
              <a:t>荷物預けまたはチェックイン</a:t>
            </a:r>
          </a:p>
        </p:txBody>
      </p:sp>
      <p:sp>
        <p:nvSpPr>
          <p:cNvPr id="37" name="TextBox 36"/>
          <p:cNvSpPr txBox="1"/>
          <p:nvPr/>
        </p:nvSpPr>
        <p:spPr>
          <a:xfrm>
            <a:off x="6355080" y="5586984"/>
            <a:ext cx="411480" cy="256032"/>
          </a:xfrm>
          <a:prstGeom prst="rect">
            <a:avLst/>
          </a:prstGeom>
          <a:noFill/>
        </p:spPr>
        <p:txBody>
          <a:bodyPr wrap="none" lIns="73152" rIns="73152" tIns="36576" bIns="36576">
            <a:spAutoFit/>
          </a:bodyPr>
          <a:lstStyle/>
          <a:p>
            <a:pPr algn="r"/>
            <a:r>
              <a:rPr sz="830" b="0">
                <a:solidFill>
                  <a:srgbClr val="66707A"/>
                </a:solidFill>
                <a:latin typeface="Yu Gothic"/>
              </a:rPr>
              <a:t>45分</a:t>
            </a:r>
          </a:p>
        </p:txBody>
      </p:sp>
      <p:sp>
        <p:nvSpPr>
          <p:cNvPr id="38" name="TextBox 37"/>
          <p:cNvSpPr txBox="1"/>
          <p:nvPr/>
        </p:nvSpPr>
        <p:spPr>
          <a:xfrm>
            <a:off x="7150608" y="4251960"/>
            <a:ext cx="4343400" cy="292608"/>
          </a:xfrm>
          <a:prstGeom prst="rect">
            <a:avLst/>
          </a:prstGeom>
          <a:noFill/>
        </p:spPr>
        <p:txBody>
          <a:bodyPr wrap="none" lIns="73152" rIns="73152" tIns="36576" bIns="36576">
            <a:spAutoFit/>
          </a:bodyPr>
          <a:lstStyle/>
          <a:p>
            <a:pPr algn="l"/>
            <a:r>
              <a:rPr sz="1500" b="1">
                <a:solidFill>
                  <a:srgbClr val="143753"/>
                </a:solidFill>
                <a:latin typeface="Yu Gothic"/>
              </a:rPr>
              <a:t>レストラン候補</a:t>
            </a:r>
          </a:p>
        </p:txBody>
      </p:sp>
      <p:sp>
        <p:nvSpPr>
          <p:cNvPr id="39" name="Rounded Rectangle 38"/>
          <p:cNvSpPr/>
          <p:nvPr/>
        </p:nvSpPr>
        <p:spPr>
          <a:xfrm>
            <a:off x="7150608" y="463600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223760" y="4690872"/>
            <a:ext cx="566928" cy="228600"/>
          </a:xfrm>
          <a:prstGeom prst="rect">
            <a:avLst/>
          </a:prstGeom>
          <a:noFill/>
        </p:spPr>
        <p:txBody>
          <a:bodyPr wrap="none" lIns="73152" rIns="73152" tIns="36576" bIns="36576">
            <a:spAutoFit/>
          </a:bodyPr>
          <a:lstStyle/>
          <a:p>
            <a:pPr algn="l"/>
            <a:r>
              <a:rPr sz="850" b="1">
                <a:solidFill>
                  <a:srgbClr val="D86352"/>
                </a:solidFill>
                <a:latin typeface="Yu Gothic"/>
              </a:rPr>
              <a:t>昼食</a:t>
            </a:r>
          </a:p>
        </p:txBody>
      </p:sp>
      <p:sp>
        <p:nvSpPr>
          <p:cNvPr id="41" name="TextBox 40"/>
          <p:cNvSpPr txBox="1"/>
          <p:nvPr/>
        </p:nvSpPr>
        <p:spPr>
          <a:xfrm>
            <a:off x="7790688" y="468172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札幌駅周辺ランチ</a:t>
            </a:r>
          </a:p>
        </p:txBody>
      </p:sp>
      <p:sp>
        <p:nvSpPr>
          <p:cNvPr id="42" name="TextBox 41"/>
          <p:cNvSpPr txBox="1"/>
          <p:nvPr/>
        </p:nvSpPr>
        <p:spPr>
          <a:xfrm>
            <a:off x="9299448" y="468172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ホテル近くで駐車しやすい店を選ぶ</a:t>
            </a:r>
          </a:p>
        </p:txBody>
      </p:sp>
      <p:sp>
        <p:nvSpPr>
          <p:cNvPr id="43" name="Rounded Rectangle 42"/>
          <p:cNvSpPr/>
          <p:nvPr/>
        </p:nvSpPr>
        <p:spPr>
          <a:xfrm>
            <a:off x="7150608" y="513892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223760" y="5193792"/>
            <a:ext cx="566928" cy="228600"/>
          </a:xfrm>
          <a:prstGeom prst="rect">
            <a:avLst/>
          </a:prstGeom>
          <a:noFill/>
        </p:spPr>
        <p:txBody>
          <a:bodyPr wrap="none" lIns="73152" rIns="73152" tIns="36576" bIns="36576">
            <a:spAutoFit/>
          </a:bodyPr>
          <a:lstStyle/>
          <a:p>
            <a:pPr algn="l"/>
            <a:r>
              <a:rPr sz="850" b="1">
                <a:solidFill>
                  <a:srgbClr val="D86352"/>
                </a:solidFill>
                <a:latin typeface="Yu Gothic"/>
              </a:rPr>
              <a:t>夕食</a:t>
            </a:r>
          </a:p>
        </p:txBody>
      </p:sp>
      <p:sp>
        <p:nvSpPr>
          <p:cNvPr id="45" name="TextBox 44"/>
          <p:cNvSpPr txBox="1"/>
          <p:nvPr/>
        </p:nvSpPr>
        <p:spPr>
          <a:xfrm>
            <a:off x="7790688" y="518464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串鳥 札幌駅前</a:t>
            </a:r>
          </a:p>
        </p:txBody>
      </p:sp>
      <p:sp>
        <p:nvSpPr>
          <p:cNvPr id="46" name="TextBox 45"/>
          <p:cNvSpPr txBox="1"/>
          <p:nvPr/>
        </p:nvSpPr>
        <p:spPr>
          <a:xfrm>
            <a:off x="9299448" y="518464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この日の予約・本命候補</a:t>
            </a:r>
          </a:p>
        </p:txBody>
      </p:sp>
      <p:sp>
        <p:nvSpPr>
          <p:cNvPr id="47" name="Rounded Rectangle 46"/>
          <p:cNvSpPr/>
          <p:nvPr/>
        </p:nvSpPr>
        <p:spPr>
          <a:xfrm>
            <a:off x="7150608" y="564184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223760" y="5696712"/>
            <a:ext cx="566928" cy="228600"/>
          </a:xfrm>
          <a:prstGeom prst="rect">
            <a:avLst/>
          </a:prstGeom>
          <a:noFill/>
        </p:spPr>
        <p:txBody>
          <a:bodyPr wrap="none" lIns="73152" rIns="73152" tIns="36576" bIns="36576">
            <a:spAutoFit/>
          </a:bodyPr>
          <a:lstStyle/>
          <a:p>
            <a:pPr algn="l"/>
            <a:r>
              <a:rPr sz="850" b="1">
                <a:solidFill>
                  <a:srgbClr val="D86352"/>
                </a:solidFill>
                <a:latin typeface="Yu Gothic"/>
              </a:rPr>
              <a:t>休憩</a:t>
            </a:r>
          </a:p>
        </p:txBody>
      </p:sp>
      <p:sp>
        <p:nvSpPr>
          <p:cNvPr id="49" name="TextBox 48"/>
          <p:cNvSpPr txBox="1"/>
          <p:nvPr/>
        </p:nvSpPr>
        <p:spPr>
          <a:xfrm>
            <a:off x="7790688" y="568756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北大カフェ / 札幌駅カフェ</a:t>
            </a:r>
          </a:p>
        </p:txBody>
      </p:sp>
      <p:sp>
        <p:nvSpPr>
          <p:cNvPr id="50" name="TextBox 49"/>
          <p:cNvSpPr txBox="1"/>
          <p:nvPr/>
        </p:nvSpPr>
        <p:spPr>
          <a:xfrm>
            <a:off x="9299448" y="568756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散策中の休憩候補</a:t>
            </a:r>
          </a:p>
        </p:txBody>
      </p:sp>
      <p:sp>
        <p:nvSpPr>
          <p:cNvPr id="51" name="Rounded Rectangle 50"/>
          <p:cNvSpPr/>
          <p:nvPr/>
        </p:nvSpPr>
        <p:spPr>
          <a:xfrm>
            <a:off x="7150608" y="614476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223760" y="6199632"/>
            <a:ext cx="566928" cy="228600"/>
          </a:xfrm>
          <a:prstGeom prst="rect">
            <a:avLst/>
          </a:prstGeom>
          <a:noFill/>
        </p:spPr>
        <p:txBody>
          <a:bodyPr wrap="none" lIns="73152" rIns="73152" tIns="36576" bIns="36576">
            <a:spAutoFit/>
          </a:bodyPr>
          <a:lstStyle/>
          <a:p>
            <a:pPr algn="l"/>
            <a:r>
              <a:rPr sz="850" b="1">
                <a:solidFill>
                  <a:srgbClr val="D86352"/>
                </a:solidFill>
                <a:latin typeface="Yu Gothic"/>
              </a:rPr>
              <a:t>予備</a:t>
            </a:r>
          </a:p>
        </p:txBody>
      </p:sp>
      <p:sp>
        <p:nvSpPr>
          <p:cNvPr id="53" name="TextBox 52"/>
          <p:cNvSpPr txBox="1"/>
          <p:nvPr/>
        </p:nvSpPr>
        <p:spPr>
          <a:xfrm>
            <a:off x="7790688" y="619048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ホテル近くのテイクアウト</a:t>
            </a:r>
          </a:p>
        </p:txBody>
      </p:sp>
      <p:sp>
        <p:nvSpPr>
          <p:cNvPr id="54" name="TextBox 53"/>
          <p:cNvSpPr txBox="1"/>
          <p:nvPr/>
        </p:nvSpPr>
        <p:spPr>
          <a:xfrm>
            <a:off x="9299448" y="619048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疲れた場合のバックアップ</a:t>
            </a:r>
          </a:p>
        </p:txBody>
      </p:sp>
      <p:sp>
        <p:nvSpPr>
          <p:cNvPr id="55" name="TextBox 54"/>
          <p:cNvSpPr txBox="1"/>
          <p:nvPr/>
        </p:nvSpPr>
        <p:spPr>
          <a:xfrm>
            <a:off x="7150608" y="6199632"/>
            <a:ext cx="4206240" cy="228600"/>
          </a:xfrm>
          <a:prstGeom prst="rect">
            <a:avLst/>
          </a:prstGeom>
          <a:noFill/>
        </p:spPr>
        <p:txBody>
          <a:bodyPr wrap="none" lIns="73152" rIns="73152" tIns="36576" bIns="36576">
            <a:spAutoFit/>
          </a:bodyPr>
          <a:lstStyle/>
          <a:p>
            <a:pPr algn="l"/>
            <a:r>
              <a:rPr sz="780" b="0">
                <a:solidFill>
                  <a:srgbClr val="66707A"/>
                </a:solidFill>
                <a:latin typeface="Yu Gothic"/>
              </a:rPr>
              <a:t>MEMO  北海道大学は歩く距離が長くなりやすいので、子どもの疲れを見て短縮する。 / 串鳥は混雑する可能性があるため、できれば事前予約または早め入店。</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CFCFA"/>
        </a:solidFill>
        <a:effectLst/>
      </p:bgPr>
    </p:bg>
    <p:spTree>
      <p:nvGrpSpPr>
        <p:cNvPr id="1" name=""/>
        <p:cNvGrpSpPr/>
        <p:nvPr/>
      </p:nvGrpSpPr>
      <p:grpSpPr/>
      <p:sp>
        <p:nvSpPr>
          <p:cNvPr id="2" name="Rounded Rectangle 1"/>
          <p:cNvSpPr/>
          <p:nvPr/>
        </p:nvSpPr>
        <p:spPr>
          <a:xfrm>
            <a:off x="502920" y="320040"/>
            <a:ext cx="1325880" cy="329184"/>
          </a:xfrm>
          <a:prstGeom prst="roundRect">
            <a:avLst/>
          </a:prstGeom>
          <a:solidFill>
            <a:srgbClr val="D863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Yu Gothic"/>
              </a:rPr>
              <a:t>DAY 5</a:t>
            </a:r>
          </a:p>
        </p:txBody>
      </p:sp>
      <p:sp>
        <p:nvSpPr>
          <p:cNvPr id="3" name="TextBox 2"/>
          <p:cNvSpPr txBox="1"/>
          <p:nvPr/>
        </p:nvSpPr>
        <p:spPr>
          <a:xfrm>
            <a:off x="502920" y="713232"/>
            <a:ext cx="6217920" cy="384048"/>
          </a:xfrm>
          <a:prstGeom prst="rect">
            <a:avLst/>
          </a:prstGeom>
          <a:noFill/>
        </p:spPr>
        <p:txBody>
          <a:bodyPr wrap="none" lIns="73152" rIns="73152" tIns="36576" bIns="36576">
            <a:spAutoFit/>
          </a:bodyPr>
          <a:lstStyle/>
          <a:p>
            <a:pPr algn="l"/>
            <a:r>
              <a:rPr sz="2200" b="1">
                <a:solidFill>
                  <a:srgbClr val="143753"/>
                </a:solidFill>
                <a:latin typeface="Yu Gothic"/>
              </a:rPr>
              <a:t>時刻ベース詳細スケジュール</a:t>
            </a:r>
          </a:p>
        </p:txBody>
      </p:sp>
      <p:sp>
        <p:nvSpPr>
          <p:cNvPr id="4" name="Rounded Rectangle 3"/>
          <p:cNvSpPr/>
          <p:nvPr/>
        </p:nvSpPr>
        <p:spPr>
          <a:xfrm>
            <a:off x="502920" y="1325880"/>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1399032"/>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08:00</a:t>
            </a:r>
          </a:p>
        </p:txBody>
      </p:sp>
      <p:sp>
        <p:nvSpPr>
          <p:cNvPr id="6" name="TextBox 5"/>
          <p:cNvSpPr txBox="1"/>
          <p:nvPr/>
        </p:nvSpPr>
        <p:spPr>
          <a:xfrm>
            <a:off x="1417320" y="1399032"/>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朝食</a:t>
            </a:r>
          </a:p>
        </p:txBody>
      </p:sp>
      <p:sp>
        <p:nvSpPr>
          <p:cNvPr id="7" name="TextBox 6"/>
          <p:cNvSpPr txBox="1"/>
          <p:nvPr/>
        </p:nvSpPr>
        <p:spPr>
          <a:xfrm>
            <a:off x="2084831" y="1389888"/>
            <a:ext cx="1234440" cy="274320"/>
          </a:xfrm>
          <a:prstGeom prst="rect">
            <a:avLst/>
          </a:prstGeom>
          <a:noFill/>
        </p:spPr>
        <p:txBody>
          <a:bodyPr wrap="none" lIns="73152" rIns="73152" tIns="36576" bIns="36576">
            <a:spAutoFit/>
          </a:bodyPr>
          <a:lstStyle/>
          <a:p>
            <a:pPr algn="l"/>
            <a:r>
              <a:rPr sz="900" b="1">
                <a:solidFill>
                  <a:srgbClr val="143753"/>
                </a:solidFill>
                <a:latin typeface="Yu Gothic"/>
              </a:rPr>
              <a:t>Green stay Toya</a:t>
            </a:r>
          </a:p>
        </p:txBody>
      </p:sp>
      <p:sp>
        <p:nvSpPr>
          <p:cNvPr id="8" name="TextBox 7"/>
          <p:cNvSpPr txBox="1"/>
          <p:nvPr/>
        </p:nvSpPr>
        <p:spPr>
          <a:xfrm>
            <a:off x="3246120" y="1380744"/>
            <a:ext cx="3063240" cy="310896"/>
          </a:xfrm>
          <a:prstGeom prst="rect">
            <a:avLst/>
          </a:prstGeom>
          <a:noFill/>
        </p:spPr>
        <p:txBody>
          <a:bodyPr wrap="none" lIns="73152" rIns="73152" tIns="36576" bIns="36576">
            <a:spAutoFit/>
          </a:bodyPr>
          <a:lstStyle/>
          <a:p>
            <a:pPr algn="l"/>
            <a:r>
              <a:rPr sz="830" b="0">
                <a:solidFill>
                  <a:srgbClr val="222B34"/>
                </a:solidFill>
                <a:latin typeface="Yu Gothic"/>
              </a:rPr>
              <a:t>朝食、片付け、チェックアウト準備</a:t>
            </a:r>
          </a:p>
        </p:txBody>
      </p:sp>
      <p:sp>
        <p:nvSpPr>
          <p:cNvPr id="9" name="TextBox 8"/>
          <p:cNvSpPr txBox="1"/>
          <p:nvPr/>
        </p:nvSpPr>
        <p:spPr>
          <a:xfrm>
            <a:off x="6355080" y="1399032"/>
            <a:ext cx="411480" cy="256032"/>
          </a:xfrm>
          <a:prstGeom prst="rect">
            <a:avLst/>
          </a:prstGeom>
          <a:noFill/>
        </p:spPr>
        <p:txBody>
          <a:bodyPr wrap="none" lIns="73152" rIns="73152" tIns="36576" bIns="36576">
            <a:spAutoFit/>
          </a:bodyPr>
          <a:lstStyle/>
          <a:p>
            <a:pPr algn="r"/>
            <a:r>
              <a:rPr sz="830" b="0">
                <a:solidFill>
                  <a:srgbClr val="66707A"/>
                </a:solidFill>
                <a:latin typeface="Yu Gothic"/>
              </a:rPr>
              <a:t>75分</a:t>
            </a:r>
          </a:p>
        </p:txBody>
      </p:sp>
      <p:sp>
        <p:nvSpPr>
          <p:cNvPr id="10" name="Rounded Rectangle 9"/>
          <p:cNvSpPr/>
          <p:nvPr/>
        </p:nvSpPr>
        <p:spPr>
          <a:xfrm>
            <a:off x="502920" y="1892808"/>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965960"/>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09:30</a:t>
            </a:r>
          </a:p>
        </p:txBody>
      </p:sp>
      <p:sp>
        <p:nvSpPr>
          <p:cNvPr id="12" name="TextBox 11"/>
          <p:cNvSpPr txBox="1"/>
          <p:nvPr/>
        </p:nvSpPr>
        <p:spPr>
          <a:xfrm>
            <a:off x="1417320" y="1965960"/>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移動</a:t>
            </a:r>
          </a:p>
        </p:txBody>
      </p:sp>
      <p:sp>
        <p:nvSpPr>
          <p:cNvPr id="13" name="TextBox 12"/>
          <p:cNvSpPr txBox="1"/>
          <p:nvPr/>
        </p:nvSpPr>
        <p:spPr>
          <a:xfrm>
            <a:off x="2084831" y="1956816"/>
            <a:ext cx="1234440" cy="274320"/>
          </a:xfrm>
          <a:prstGeom prst="rect">
            <a:avLst/>
          </a:prstGeom>
          <a:noFill/>
        </p:spPr>
        <p:txBody>
          <a:bodyPr wrap="none" lIns="73152" rIns="73152" tIns="36576" bIns="36576">
            <a:spAutoFit/>
          </a:bodyPr>
          <a:lstStyle/>
          <a:p>
            <a:pPr algn="l"/>
            <a:r>
              <a:rPr sz="900" b="1">
                <a:solidFill>
                  <a:srgbClr val="143753"/>
                </a:solidFill>
                <a:latin typeface="Yu Gothic"/>
              </a:rPr>
              <a:t>洞爺湖 → 中山峠方面</a:t>
            </a:r>
          </a:p>
        </p:txBody>
      </p:sp>
      <p:sp>
        <p:nvSpPr>
          <p:cNvPr id="14" name="TextBox 13"/>
          <p:cNvSpPr txBox="1"/>
          <p:nvPr/>
        </p:nvSpPr>
        <p:spPr>
          <a:xfrm>
            <a:off x="3246120" y="1947672"/>
            <a:ext cx="3063240" cy="310896"/>
          </a:xfrm>
          <a:prstGeom prst="rect">
            <a:avLst/>
          </a:prstGeom>
          <a:noFill/>
        </p:spPr>
        <p:txBody>
          <a:bodyPr wrap="none" lIns="73152" rIns="73152" tIns="36576" bIns="36576">
            <a:spAutoFit/>
          </a:bodyPr>
          <a:lstStyle/>
          <a:p>
            <a:pPr algn="l"/>
            <a:r>
              <a:rPr sz="830" b="0">
                <a:solidFill>
                  <a:srgbClr val="222B34"/>
                </a:solidFill>
                <a:latin typeface="Yu Gothic"/>
              </a:rPr>
              <a:t>札幌へ移動。途中で休憩を入れる</a:t>
            </a:r>
          </a:p>
        </p:txBody>
      </p:sp>
      <p:sp>
        <p:nvSpPr>
          <p:cNvPr id="15" name="TextBox 14"/>
          <p:cNvSpPr txBox="1"/>
          <p:nvPr/>
        </p:nvSpPr>
        <p:spPr>
          <a:xfrm>
            <a:off x="6355080" y="1965960"/>
            <a:ext cx="411480" cy="256032"/>
          </a:xfrm>
          <a:prstGeom prst="rect">
            <a:avLst/>
          </a:prstGeom>
          <a:noFill/>
        </p:spPr>
        <p:txBody>
          <a:bodyPr wrap="none" lIns="73152" rIns="73152" tIns="36576" bIns="36576">
            <a:spAutoFit/>
          </a:bodyPr>
          <a:lstStyle/>
          <a:p>
            <a:pPr algn="r"/>
            <a:r>
              <a:rPr sz="830" b="0">
                <a:solidFill>
                  <a:srgbClr val="66707A"/>
                </a:solidFill>
                <a:latin typeface="Yu Gothic"/>
              </a:rPr>
              <a:t>約2時間</a:t>
            </a:r>
          </a:p>
        </p:txBody>
      </p:sp>
      <p:sp>
        <p:nvSpPr>
          <p:cNvPr id="16" name="Rounded Rectangle 15"/>
          <p:cNvSpPr/>
          <p:nvPr/>
        </p:nvSpPr>
        <p:spPr>
          <a:xfrm>
            <a:off x="502920" y="2459736"/>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792" y="2532888"/>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11:30</a:t>
            </a:r>
          </a:p>
        </p:txBody>
      </p:sp>
      <p:sp>
        <p:nvSpPr>
          <p:cNvPr id="18" name="TextBox 17"/>
          <p:cNvSpPr txBox="1"/>
          <p:nvPr/>
        </p:nvSpPr>
        <p:spPr>
          <a:xfrm>
            <a:off x="1417320" y="2532888"/>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休憩</a:t>
            </a:r>
          </a:p>
        </p:txBody>
      </p:sp>
      <p:sp>
        <p:nvSpPr>
          <p:cNvPr id="19" name="TextBox 18"/>
          <p:cNvSpPr txBox="1"/>
          <p:nvPr/>
        </p:nvSpPr>
        <p:spPr>
          <a:xfrm>
            <a:off x="2084831" y="2523744"/>
            <a:ext cx="1234440" cy="274320"/>
          </a:xfrm>
          <a:prstGeom prst="rect">
            <a:avLst/>
          </a:prstGeom>
          <a:noFill/>
        </p:spPr>
        <p:txBody>
          <a:bodyPr wrap="none" lIns="73152" rIns="73152" tIns="36576" bIns="36576">
            <a:spAutoFit/>
          </a:bodyPr>
          <a:lstStyle/>
          <a:p>
            <a:pPr algn="l"/>
            <a:r>
              <a:rPr sz="900" b="1">
                <a:solidFill>
                  <a:srgbClr val="143753"/>
                </a:solidFill>
                <a:latin typeface="Yu Gothic"/>
              </a:rPr>
              <a:t>中山峠 / 定山渓方面</a:t>
            </a:r>
          </a:p>
        </p:txBody>
      </p:sp>
      <p:sp>
        <p:nvSpPr>
          <p:cNvPr id="20" name="TextBox 19"/>
          <p:cNvSpPr txBox="1"/>
          <p:nvPr/>
        </p:nvSpPr>
        <p:spPr>
          <a:xfrm>
            <a:off x="3246120" y="2514600"/>
            <a:ext cx="3063240" cy="310896"/>
          </a:xfrm>
          <a:prstGeom prst="rect">
            <a:avLst/>
          </a:prstGeom>
          <a:noFill/>
        </p:spPr>
        <p:txBody>
          <a:bodyPr wrap="none" lIns="73152" rIns="73152" tIns="36576" bIns="36576">
            <a:spAutoFit/>
          </a:bodyPr>
          <a:lstStyle/>
          <a:p>
            <a:pPr algn="l"/>
            <a:r>
              <a:rPr sz="830" b="0">
                <a:solidFill>
                  <a:srgbClr val="222B34"/>
                </a:solidFill>
                <a:latin typeface="Yu Gothic"/>
              </a:rPr>
              <a:t>トイレ、軽食、天気確認</a:t>
            </a:r>
          </a:p>
        </p:txBody>
      </p:sp>
      <p:sp>
        <p:nvSpPr>
          <p:cNvPr id="21" name="TextBox 20"/>
          <p:cNvSpPr txBox="1"/>
          <p:nvPr/>
        </p:nvSpPr>
        <p:spPr>
          <a:xfrm>
            <a:off x="6355080" y="2532888"/>
            <a:ext cx="411480" cy="256032"/>
          </a:xfrm>
          <a:prstGeom prst="rect">
            <a:avLst/>
          </a:prstGeom>
          <a:noFill/>
        </p:spPr>
        <p:txBody>
          <a:bodyPr wrap="none" lIns="73152" rIns="73152" tIns="36576" bIns="36576">
            <a:spAutoFit/>
          </a:bodyPr>
          <a:lstStyle/>
          <a:p>
            <a:pPr algn="r"/>
            <a:r>
              <a:rPr sz="830" b="0">
                <a:solidFill>
                  <a:srgbClr val="66707A"/>
                </a:solidFill>
                <a:latin typeface="Yu Gothic"/>
              </a:rPr>
              <a:t>30分</a:t>
            </a:r>
          </a:p>
        </p:txBody>
      </p:sp>
      <p:sp>
        <p:nvSpPr>
          <p:cNvPr id="22" name="Rounded Rectangle 21"/>
          <p:cNvSpPr/>
          <p:nvPr/>
        </p:nvSpPr>
        <p:spPr>
          <a:xfrm>
            <a:off x="502920" y="3026664"/>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1792" y="3099816"/>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12:30</a:t>
            </a:r>
          </a:p>
        </p:txBody>
      </p:sp>
      <p:sp>
        <p:nvSpPr>
          <p:cNvPr id="24" name="TextBox 23"/>
          <p:cNvSpPr txBox="1"/>
          <p:nvPr/>
        </p:nvSpPr>
        <p:spPr>
          <a:xfrm>
            <a:off x="1417320" y="3099816"/>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昼食</a:t>
            </a:r>
          </a:p>
        </p:txBody>
      </p:sp>
      <p:sp>
        <p:nvSpPr>
          <p:cNvPr id="25" name="TextBox 24"/>
          <p:cNvSpPr txBox="1"/>
          <p:nvPr/>
        </p:nvSpPr>
        <p:spPr>
          <a:xfrm>
            <a:off x="2084831" y="3090672"/>
            <a:ext cx="1234440" cy="274320"/>
          </a:xfrm>
          <a:prstGeom prst="rect">
            <a:avLst/>
          </a:prstGeom>
          <a:noFill/>
        </p:spPr>
        <p:txBody>
          <a:bodyPr wrap="none" lIns="73152" rIns="73152" tIns="36576" bIns="36576">
            <a:spAutoFit/>
          </a:bodyPr>
          <a:lstStyle/>
          <a:p>
            <a:pPr algn="l"/>
            <a:r>
              <a:rPr sz="900" b="1">
                <a:solidFill>
                  <a:srgbClr val="143753"/>
                </a:solidFill>
                <a:latin typeface="Yu Gothic"/>
              </a:rPr>
              <a:t>札幌市内</a:t>
            </a:r>
          </a:p>
        </p:txBody>
      </p:sp>
      <p:sp>
        <p:nvSpPr>
          <p:cNvPr id="26" name="TextBox 25"/>
          <p:cNvSpPr txBox="1"/>
          <p:nvPr/>
        </p:nvSpPr>
        <p:spPr>
          <a:xfrm>
            <a:off x="3246120" y="3081528"/>
            <a:ext cx="3063240" cy="310896"/>
          </a:xfrm>
          <a:prstGeom prst="rect">
            <a:avLst/>
          </a:prstGeom>
          <a:noFill/>
        </p:spPr>
        <p:txBody>
          <a:bodyPr wrap="none" lIns="73152" rIns="73152" tIns="36576" bIns="36576">
            <a:spAutoFit/>
          </a:bodyPr>
          <a:lstStyle/>
          <a:p>
            <a:pPr algn="l"/>
            <a:r>
              <a:rPr sz="830" b="0">
                <a:solidFill>
                  <a:srgbClr val="222B34"/>
                </a:solidFill>
                <a:latin typeface="Yu Gothic"/>
              </a:rPr>
              <a:t>駐車しやすい場所で昼食</a:t>
            </a:r>
          </a:p>
        </p:txBody>
      </p:sp>
      <p:sp>
        <p:nvSpPr>
          <p:cNvPr id="27" name="TextBox 26"/>
          <p:cNvSpPr txBox="1"/>
          <p:nvPr/>
        </p:nvSpPr>
        <p:spPr>
          <a:xfrm>
            <a:off x="6355080" y="3099816"/>
            <a:ext cx="411480" cy="256032"/>
          </a:xfrm>
          <a:prstGeom prst="rect">
            <a:avLst/>
          </a:prstGeom>
          <a:noFill/>
        </p:spPr>
        <p:txBody>
          <a:bodyPr wrap="none" lIns="73152" rIns="73152" tIns="36576" bIns="36576">
            <a:spAutoFit/>
          </a:bodyPr>
          <a:lstStyle/>
          <a:p>
            <a:pPr algn="r"/>
            <a:r>
              <a:rPr sz="830" b="0">
                <a:solidFill>
                  <a:srgbClr val="66707A"/>
                </a:solidFill>
                <a:latin typeface="Yu Gothic"/>
              </a:rPr>
              <a:t>60分</a:t>
            </a:r>
          </a:p>
        </p:txBody>
      </p:sp>
      <p:sp>
        <p:nvSpPr>
          <p:cNvPr id="28" name="Rounded Rectangle 27"/>
          <p:cNvSpPr/>
          <p:nvPr/>
        </p:nvSpPr>
        <p:spPr>
          <a:xfrm>
            <a:off x="502920" y="3593592"/>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1792" y="3666744"/>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14:00</a:t>
            </a:r>
          </a:p>
        </p:txBody>
      </p:sp>
      <p:sp>
        <p:nvSpPr>
          <p:cNvPr id="30" name="TextBox 29"/>
          <p:cNvSpPr txBox="1"/>
          <p:nvPr/>
        </p:nvSpPr>
        <p:spPr>
          <a:xfrm>
            <a:off x="1417320" y="3666744"/>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手続き</a:t>
            </a:r>
          </a:p>
        </p:txBody>
      </p:sp>
      <p:sp>
        <p:nvSpPr>
          <p:cNvPr id="31" name="TextBox 30"/>
          <p:cNvSpPr txBox="1"/>
          <p:nvPr/>
        </p:nvSpPr>
        <p:spPr>
          <a:xfrm>
            <a:off x="2084831" y="3657600"/>
            <a:ext cx="1234440" cy="274320"/>
          </a:xfrm>
          <a:prstGeom prst="rect">
            <a:avLst/>
          </a:prstGeom>
          <a:noFill/>
        </p:spPr>
        <p:txBody>
          <a:bodyPr wrap="none" lIns="73152" rIns="73152" tIns="36576" bIns="36576">
            <a:spAutoFit/>
          </a:bodyPr>
          <a:lstStyle/>
          <a:p>
            <a:pPr algn="l"/>
            <a:r>
              <a:rPr sz="900" b="1">
                <a:solidFill>
                  <a:srgbClr val="143753"/>
                </a:solidFill>
                <a:latin typeface="Yu Gothic"/>
              </a:rPr>
              <a:t>HOTEL MYSTAYS Sapporo Aspen</a:t>
            </a:r>
          </a:p>
        </p:txBody>
      </p:sp>
      <p:sp>
        <p:nvSpPr>
          <p:cNvPr id="32" name="TextBox 31"/>
          <p:cNvSpPr txBox="1"/>
          <p:nvPr/>
        </p:nvSpPr>
        <p:spPr>
          <a:xfrm>
            <a:off x="3246120" y="3648456"/>
            <a:ext cx="3063240" cy="310896"/>
          </a:xfrm>
          <a:prstGeom prst="rect">
            <a:avLst/>
          </a:prstGeom>
          <a:noFill/>
        </p:spPr>
        <p:txBody>
          <a:bodyPr wrap="none" lIns="73152" rIns="73152" tIns="36576" bIns="36576">
            <a:spAutoFit/>
          </a:bodyPr>
          <a:lstStyle/>
          <a:p>
            <a:pPr algn="l"/>
            <a:r>
              <a:rPr sz="830" b="0">
                <a:solidFill>
                  <a:srgbClr val="222B34"/>
                </a:solidFill>
                <a:latin typeface="Yu Gothic"/>
              </a:rPr>
              <a:t>荷物預けまたはチェックイン</a:t>
            </a:r>
          </a:p>
        </p:txBody>
      </p:sp>
      <p:sp>
        <p:nvSpPr>
          <p:cNvPr id="33" name="TextBox 32"/>
          <p:cNvSpPr txBox="1"/>
          <p:nvPr/>
        </p:nvSpPr>
        <p:spPr>
          <a:xfrm>
            <a:off x="6355080" y="3666744"/>
            <a:ext cx="411480" cy="256032"/>
          </a:xfrm>
          <a:prstGeom prst="rect">
            <a:avLst/>
          </a:prstGeom>
          <a:noFill/>
        </p:spPr>
        <p:txBody>
          <a:bodyPr wrap="none" lIns="73152" rIns="73152" tIns="36576" bIns="36576">
            <a:spAutoFit/>
          </a:bodyPr>
          <a:lstStyle/>
          <a:p>
            <a:pPr algn="r"/>
            <a:r>
              <a:rPr sz="830" b="0">
                <a:solidFill>
                  <a:srgbClr val="66707A"/>
                </a:solidFill>
                <a:latin typeface="Yu Gothic"/>
              </a:rPr>
              <a:t>45分</a:t>
            </a:r>
          </a:p>
        </p:txBody>
      </p:sp>
      <p:sp>
        <p:nvSpPr>
          <p:cNvPr id="34" name="Rounded Rectangle 33"/>
          <p:cNvSpPr/>
          <p:nvPr/>
        </p:nvSpPr>
        <p:spPr>
          <a:xfrm>
            <a:off x="502920" y="4160520"/>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1792" y="4233672"/>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15:00</a:t>
            </a:r>
          </a:p>
        </p:txBody>
      </p:sp>
      <p:sp>
        <p:nvSpPr>
          <p:cNvPr id="36" name="TextBox 35"/>
          <p:cNvSpPr txBox="1"/>
          <p:nvPr/>
        </p:nvSpPr>
        <p:spPr>
          <a:xfrm>
            <a:off x="1417320" y="4233672"/>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観光</a:t>
            </a:r>
          </a:p>
        </p:txBody>
      </p:sp>
      <p:sp>
        <p:nvSpPr>
          <p:cNvPr id="37" name="TextBox 36"/>
          <p:cNvSpPr txBox="1"/>
          <p:nvPr/>
        </p:nvSpPr>
        <p:spPr>
          <a:xfrm>
            <a:off x="2084831" y="4224528"/>
            <a:ext cx="1234440" cy="274320"/>
          </a:xfrm>
          <a:prstGeom prst="rect">
            <a:avLst/>
          </a:prstGeom>
          <a:noFill/>
        </p:spPr>
        <p:txBody>
          <a:bodyPr wrap="none" lIns="73152" rIns="73152" tIns="36576" bIns="36576">
            <a:spAutoFit/>
          </a:bodyPr>
          <a:lstStyle/>
          <a:p>
            <a:pPr algn="l"/>
            <a:r>
              <a:rPr sz="900" b="1">
                <a:solidFill>
                  <a:srgbClr val="143753"/>
                </a:solidFill>
                <a:latin typeface="Yu Gothic"/>
              </a:rPr>
              <a:t>北海道大学</a:t>
            </a:r>
          </a:p>
        </p:txBody>
      </p:sp>
      <p:sp>
        <p:nvSpPr>
          <p:cNvPr id="38" name="TextBox 37"/>
          <p:cNvSpPr txBox="1"/>
          <p:nvPr/>
        </p:nvSpPr>
        <p:spPr>
          <a:xfrm>
            <a:off x="3246120" y="4215384"/>
            <a:ext cx="3063240" cy="310896"/>
          </a:xfrm>
          <a:prstGeom prst="rect">
            <a:avLst/>
          </a:prstGeom>
          <a:noFill/>
        </p:spPr>
        <p:txBody>
          <a:bodyPr wrap="none" lIns="73152" rIns="73152" tIns="36576" bIns="36576">
            <a:spAutoFit/>
          </a:bodyPr>
          <a:lstStyle/>
          <a:p>
            <a:pPr algn="l"/>
            <a:r>
              <a:rPr sz="830" b="0">
                <a:solidFill>
                  <a:srgbClr val="222B34"/>
                </a:solidFill>
                <a:latin typeface="Yu Gothic"/>
              </a:rPr>
              <a:t>ポプラ並木、総合博物館周辺、キャンパス散策</a:t>
            </a:r>
          </a:p>
        </p:txBody>
      </p:sp>
      <p:sp>
        <p:nvSpPr>
          <p:cNvPr id="39" name="TextBox 38"/>
          <p:cNvSpPr txBox="1"/>
          <p:nvPr/>
        </p:nvSpPr>
        <p:spPr>
          <a:xfrm>
            <a:off x="6355080" y="4233672"/>
            <a:ext cx="411480" cy="256032"/>
          </a:xfrm>
          <a:prstGeom prst="rect">
            <a:avLst/>
          </a:prstGeom>
          <a:noFill/>
        </p:spPr>
        <p:txBody>
          <a:bodyPr wrap="none" lIns="73152" rIns="73152" tIns="36576" bIns="36576">
            <a:spAutoFit/>
          </a:bodyPr>
          <a:lstStyle/>
          <a:p>
            <a:pPr algn="r"/>
            <a:r>
              <a:rPr sz="830" b="0">
                <a:solidFill>
                  <a:srgbClr val="66707A"/>
                </a:solidFill>
                <a:latin typeface="Yu Gothic"/>
              </a:rPr>
              <a:t>120分</a:t>
            </a:r>
          </a:p>
        </p:txBody>
      </p:sp>
      <p:sp>
        <p:nvSpPr>
          <p:cNvPr id="40" name="Rounded Rectangle 39"/>
          <p:cNvSpPr/>
          <p:nvPr/>
        </p:nvSpPr>
        <p:spPr>
          <a:xfrm>
            <a:off x="502920" y="4727448"/>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21792" y="4800600"/>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17:30</a:t>
            </a:r>
          </a:p>
        </p:txBody>
      </p:sp>
      <p:sp>
        <p:nvSpPr>
          <p:cNvPr id="42" name="TextBox 41"/>
          <p:cNvSpPr txBox="1"/>
          <p:nvPr/>
        </p:nvSpPr>
        <p:spPr>
          <a:xfrm>
            <a:off x="1417320" y="4800600"/>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休憩</a:t>
            </a:r>
          </a:p>
        </p:txBody>
      </p:sp>
      <p:sp>
        <p:nvSpPr>
          <p:cNvPr id="43" name="TextBox 42"/>
          <p:cNvSpPr txBox="1"/>
          <p:nvPr/>
        </p:nvSpPr>
        <p:spPr>
          <a:xfrm>
            <a:off x="2084831" y="4791456"/>
            <a:ext cx="1234440" cy="274320"/>
          </a:xfrm>
          <a:prstGeom prst="rect">
            <a:avLst/>
          </a:prstGeom>
          <a:noFill/>
        </p:spPr>
        <p:txBody>
          <a:bodyPr wrap="none" lIns="73152" rIns="73152" tIns="36576" bIns="36576">
            <a:spAutoFit/>
          </a:bodyPr>
          <a:lstStyle/>
          <a:p>
            <a:pPr algn="l"/>
            <a:r>
              <a:rPr sz="900" b="1">
                <a:solidFill>
                  <a:srgbClr val="143753"/>
                </a:solidFill>
                <a:latin typeface="Yu Gothic"/>
              </a:rPr>
              <a:t>ホテル</a:t>
            </a:r>
          </a:p>
        </p:txBody>
      </p:sp>
      <p:sp>
        <p:nvSpPr>
          <p:cNvPr id="44" name="TextBox 43"/>
          <p:cNvSpPr txBox="1"/>
          <p:nvPr/>
        </p:nvSpPr>
        <p:spPr>
          <a:xfrm>
            <a:off x="3246120" y="4782312"/>
            <a:ext cx="3063240" cy="310896"/>
          </a:xfrm>
          <a:prstGeom prst="rect">
            <a:avLst/>
          </a:prstGeom>
          <a:noFill/>
        </p:spPr>
        <p:txBody>
          <a:bodyPr wrap="none" lIns="73152" rIns="73152" tIns="36576" bIns="36576">
            <a:spAutoFit/>
          </a:bodyPr>
          <a:lstStyle/>
          <a:p>
            <a:pPr algn="l"/>
            <a:r>
              <a:rPr sz="830" b="0">
                <a:solidFill>
                  <a:srgbClr val="222B34"/>
                </a:solidFill>
                <a:latin typeface="Yu Gothic"/>
              </a:rPr>
              <a:t>夕食前に休憩、着替え、洗濯</a:t>
            </a:r>
          </a:p>
        </p:txBody>
      </p:sp>
      <p:sp>
        <p:nvSpPr>
          <p:cNvPr id="45" name="TextBox 44"/>
          <p:cNvSpPr txBox="1"/>
          <p:nvPr/>
        </p:nvSpPr>
        <p:spPr>
          <a:xfrm>
            <a:off x="6355080" y="4800600"/>
            <a:ext cx="411480" cy="256032"/>
          </a:xfrm>
          <a:prstGeom prst="rect">
            <a:avLst/>
          </a:prstGeom>
          <a:noFill/>
        </p:spPr>
        <p:txBody>
          <a:bodyPr wrap="none" lIns="73152" rIns="73152" tIns="36576" bIns="36576">
            <a:spAutoFit/>
          </a:bodyPr>
          <a:lstStyle/>
          <a:p>
            <a:pPr algn="r"/>
            <a:r>
              <a:rPr sz="830" b="0">
                <a:solidFill>
                  <a:srgbClr val="66707A"/>
                </a:solidFill>
                <a:latin typeface="Yu Gothic"/>
              </a:rPr>
              <a:t>60分</a:t>
            </a:r>
          </a:p>
        </p:txBody>
      </p:sp>
      <p:sp>
        <p:nvSpPr>
          <p:cNvPr id="46" name="Rounded Rectangle 45"/>
          <p:cNvSpPr/>
          <p:nvPr/>
        </p:nvSpPr>
        <p:spPr>
          <a:xfrm>
            <a:off x="502920" y="5294376"/>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21792" y="5367528"/>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19:00</a:t>
            </a:r>
          </a:p>
        </p:txBody>
      </p:sp>
      <p:sp>
        <p:nvSpPr>
          <p:cNvPr id="48" name="TextBox 47"/>
          <p:cNvSpPr txBox="1"/>
          <p:nvPr/>
        </p:nvSpPr>
        <p:spPr>
          <a:xfrm>
            <a:off x="1417320" y="5367528"/>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夕食</a:t>
            </a:r>
          </a:p>
        </p:txBody>
      </p:sp>
      <p:sp>
        <p:nvSpPr>
          <p:cNvPr id="49" name="TextBox 48"/>
          <p:cNvSpPr txBox="1"/>
          <p:nvPr/>
        </p:nvSpPr>
        <p:spPr>
          <a:xfrm>
            <a:off x="2084831" y="5358384"/>
            <a:ext cx="1234440" cy="274320"/>
          </a:xfrm>
          <a:prstGeom prst="rect">
            <a:avLst/>
          </a:prstGeom>
          <a:noFill/>
        </p:spPr>
        <p:txBody>
          <a:bodyPr wrap="none" lIns="73152" rIns="73152" tIns="36576" bIns="36576">
            <a:spAutoFit/>
          </a:bodyPr>
          <a:lstStyle/>
          <a:p>
            <a:pPr algn="l"/>
            <a:r>
              <a:rPr sz="900" b="1">
                <a:solidFill>
                  <a:srgbClr val="143753"/>
                </a:solidFill>
                <a:latin typeface="Yu Gothic"/>
              </a:rPr>
              <a:t>串鳥 札幌駅前</a:t>
            </a:r>
          </a:p>
        </p:txBody>
      </p:sp>
      <p:sp>
        <p:nvSpPr>
          <p:cNvPr id="50" name="TextBox 49"/>
          <p:cNvSpPr txBox="1"/>
          <p:nvPr/>
        </p:nvSpPr>
        <p:spPr>
          <a:xfrm>
            <a:off x="3246120" y="5349240"/>
            <a:ext cx="3063240" cy="310896"/>
          </a:xfrm>
          <a:prstGeom prst="rect">
            <a:avLst/>
          </a:prstGeom>
          <a:noFill/>
        </p:spPr>
        <p:txBody>
          <a:bodyPr wrap="none" lIns="73152" rIns="73152" tIns="36576" bIns="36576">
            <a:spAutoFit/>
          </a:bodyPr>
          <a:lstStyle/>
          <a:p>
            <a:pPr algn="l"/>
            <a:r>
              <a:rPr sz="830" b="0">
                <a:solidFill>
                  <a:srgbClr val="222B34"/>
                </a:solidFill>
                <a:latin typeface="Yu Gothic"/>
              </a:rPr>
              <a:t>札幌駅前の串鳥で夜ご飯</a:t>
            </a:r>
          </a:p>
        </p:txBody>
      </p:sp>
      <p:sp>
        <p:nvSpPr>
          <p:cNvPr id="51" name="TextBox 50"/>
          <p:cNvSpPr txBox="1"/>
          <p:nvPr/>
        </p:nvSpPr>
        <p:spPr>
          <a:xfrm>
            <a:off x="6355080" y="5367528"/>
            <a:ext cx="411480" cy="256032"/>
          </a:xfrm>
          <a:prstGeom prst="rect">
            <a:avLst/>
          </a:prstGeom>
          <a:noFill/>
        </p:spPr>
        <p:txBody>
          <a:bodyPr wrap="none" lIns="73152" rIns="73152" tIns="36576" bIns="36576">
            <a:spAutoFit/>
          </a:bodyPr>
          <a:lstStyle/>
          <a:p>
            <a:pPr algn="r"/>
            <a:r>
              <a:rPr sz="830" b="0">
                <a:solidFill>
                  <a:srgbClr val="66707A"/>
                </a:solidFill>
                <a:latin typeface="Yu Gothic"/>
              </a:rPr>
              <a:t>90分</a:t>
            </a:r>
          </a:p>
        </p:txBody>
      </p:sp>
      <p:sp>
        <p:nvSpPr>
          <p:cNvPr id="52" name="Rounded Rectangle 51"/>
          <p:cNvSpPr/>
          <p:nvPr/>
        </p:nvSpPr>
        <p:spPr>
          <a:xfrm>
            <a:off x="502920" y="5861304"/>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1792" y="5934456"/>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21:00</a:t>
            </a:r>
          </a:p>
        </p:txBody>
      </p:sp>
      <p:sp>
        <p:nvSpPr>
          <p:cNvPr id="54" name="TextBox 53"/>
          <p:cNvSpPr txBox="1"/>
          <p:nvPr/>
        </p:nvSpPr>
        <p:spPr>
          <a:xfrm>
            <a:off x="1417320" y="5934456"/>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休憩</a:t>
            </a:r>
          </a:p>
        </p:txBody>
      </p:sp>
      <p:sp>
        <p:nvSpPr>
          <p:cNvPr id="55" name="TextBox 54"/>
          <p:cNvSpPr txBox="1"/>
          <p:nvPr/>
        </p:nvSpPr>
        <p:spPr>
          <a:xfrm>
            <a:off x="2084831" y="5925312"/>
            <a:ext cx="1234440" cy="274320"/>
          </a:xfrm>
          <a:prstGeom prst="rect">
            <a:avLst/>
          </a:prstGeom>
          <a:noFill/>
        </p:spPr>
        <p:txBody>
          <a:bodyPr wrap="none" lIns="73152" rIns="73152" tIns="36576" bIns="36576">
            <a:spAutoFit/>
          </a:bodyPr>
          <a:lstStyle/>
          <a:p>
            <a:pPr algn="l"/>
            <a:r>
              <a:rPr sz="900" b="1">
                <a:solidFill>
                  <a:srgbClr val="143753"/>
                </a:solidFill>
                <a:latin typeface="Yu Gothic"/>
              </a:rPr>
              <a:t>ホテル</a:t>
            </a:r>
          </a:p>
        </p:txBody>
      </p:sp>
      <p:sp>
        <p:nvSpPr>
          <p:cNvPr id="56" name="TextBox 55"/>
          <p:cNvSpPr txBox="1"/>
          <p:nvPr/>
        </p:nvSpPr>
        <p:spPr>
          <a:xfrm>
            <a:off x="3246120" y="5916168"/>
            <a:ext cx="3063240" cy="310896"/>
          </a:xfrm>
          <a:prstGeom prst="rect">
            <a:avLst/>
          </a:prstGeom>
          <a:noFill/>
        </p:spPr>
        <p:txBody>
          <a:bodyPr wrap="none" lIns="73152" rIns="73152" tIns="36576" bIns="36576">
            <a:spAutoFit/>
          </a:bodyPr>
          <a:lstStyle/>
          <a:p>
            <a:pPr algn="l"/>
            <a:r>
              <a:rPr sz="830" b="0">
                <a:solidFill>
                  <a:srgbClr val="222B34"/>
                </a:solidFill>
                <a:latin typeface="Yu Gothic"/>
              </a:rPr>
              <a:t>翌日の富良野・層雲峡移動に備えて早寝</a:t>
            </a:r>
          </a:p>
        </p:txBody>
      </p:sp>
      <p:sp>
        <p:nvSpPr>
          <p:cNvPr id="57" name="TextBox 56"/>
          <p:cNvSpPr txBox="1"/>
          <p:nvPr/>
        </p:nvSpPr>
        <p:spPr>
          <a:xfrm>
            <a:off x="6355080" y="5934456"/>
            <a:ext cx="411480" cy="256032"/>
          </a:xfrm>
          <a:prstGeom prst="rect">
            <a:avLst/>
          </a:prstGeom>
          <a:noFill/>
        </p:spPr>
        <p:txBody>
          <a:bodyPr wrap="none" lIns="73152" rIns="73152" tIns="36576" bIns="36576">
            <a:spAutoFit/>
          </a:bodyPr>
          <a:lstStyle/>
          <a:p>
            <a:pPr algn="r"/>
            <a:r>
              <a:rPr sz="830" b="0">
                <a:solidFill>
                  <a:srgbClr val="66707A"/>
                </a:solidFill>
                <a:latin typeface="Yu Gothic"/>
              </a:rPr>
              <a:t>-</a:t>
            </a:r>
          </a:p>
        </p:txBody>
      </p:sp>
      <p:pic>
        <p:nvPicPr>
          <p:cNvPr id="58" name="Picture 57" descr="2026-08-04_北海道大学.png"/>
          <p:cNvPicPr>
            <a:picLocks noChangeAspect="1"/>
          </p:cNvPicPr>
          <p:nvPr/>
        </p:nvPicPr>
        <p:blipFill>
          <a:blip r:embed="rId2"/>
          <a:stretch>
            <a:fillRect/>
          </a:stretch>
        </p:blipFill>
        <p:spPr>
          <a:xfrm>
            <a:off x="7360920" y="502920"/>
            <a:ext cx="4160520" cy="2331720"/>
          </a:xfrm>
          <a:prstGeom prst="rect">
            <a:avLst/>
          </a:prstGeom>
        </p:spPr>
      </p:pic>
      <p:sp>
        <p:nvSpPr>
          <p:cNvPr id="59" name="TextBox 58"/>
          <p:cNvSpPr txBox="1"/>
          <p:nvPr/>
        </p:nvSpPr>
        <p:spPr>
          <a:xfrm>
            <a:off x="7360920" y="3063240"/>
            <a:ext cx="4343400" cy="292608"/>
          </a:xfrm>
          <a:prstGeom prst="rect">
            <a:avLst/>
          </a:prstGeom>
          <a:noFill/>
        </p:spPr>
        <p:txBody>
          <a:bodyPr wrap="none" lIns="73152" rIns="73152" tIns="36576" bIns="36576">
            <a:spAutoFit/>
          </a:bodyPr>
          <a:lstStyle/>
          <a:p>
            <a:pPr algn="l"/>
            <a:r>
              <a:rPr sz="1500" b="1">
                <a:solidFill>
                  <a:srgbClr val="143753"/>
                </a:solidFill>
                <a:latin typeface="Yu Gothic"/>
              </a:rPr>
              <a:t>レストラン候補</a:t>
            </a:r>
          </a:p>
        </p:txBody>
      </p:sp>
      <p:sp>
        <p:nvSpPr>
          <p:cNvPr id="60" name="Rounded Rectangle 59"/>
          <p:cNvSpPr/>
          <p:nvPr/>
        </p:nvSpPr>
        <p:spPr>
          <a:xfrm>
            <a:off x="7360920" y="344728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434072" y="3502152"/>
            <a:ext cx="566928" cy="228600"/>
          </a:xfrm>
          <a:prstGeom prst="rect">
            <a:avLst/>
          </a:prstGeom>
          <a:noFill/>
        </p:spPr>
        <p:txBody>
          <a:bodyPr wrap="none" lIns="73152" rIns="73152" tIns="36576" bIns="36576">
            <a:spAutoFit/>
          </a:bodyPr>
          <a:lstStyle/>
          <a:p>
            <a:pPr algn="l"/>
            <a:r>
              <a:rPr sz="850" b="1">
                <a:solidFill>
                  <a:srgbClr val="D86352"/>
                </a:solidFill>
                <a:latin typeface="Yu Gothic"/>
              </a:rPr>
              <a:t>昼食</a:t>
            </a:r>
          </a:p>
        </p:txBody>
      </p:sp>
      <p:sp>
        <p:nvSpPr>
          <p:cNvPr id="62" name="TextBox 61"/>
          <p:cNvSpPr txBox="1"/>
          <p:nvPr/>
        </p:nvSpPr>
        <p:spPr>
          <a:xfrm>
            <a:off x="8001000" y="349300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札幌駅周辺ランチ</a:t>
            </a:r>
          </a:p>
        </p:txBody>
      </p:sp>
      <p:sp>
        <p:nvSpPr>
          <p:cNvPr id="63" name="TextBox 62"/>
          <p:cNvSpPr txBox="1"/>
          <p:nvPr/>
        </p:nvSpPr>
        <p:spPr>
          <a:xfrm>
            <a:off x="9509760" y="349300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ホテル近くで駐車しやすい店を選ぶ</a:t>
            </a:r>
          </a:p>
        </p:txBody>
      </p:sp>
      <p:sp>
        <p:nvSpPr>
          <p:cNvPr id="64" name="Rounded Rectangle 63"/>
          <p:cNvSpPr/>
          <p:nvPr/>
        </p:nvSpPr>
        <p:spPr>
          <a:xfrm>
            <a:off x="7360920" y="395020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434072" y="4005072"/>
            <a:ext cx="566928" cy="228600"/>
          </a:xfrm>
          <a:prstGeom prst="rect">
            <a:avLst/>
          </a:prstGeom>
          <a:noFill/>
        </p:spPr>
        <p:txBody>
          <a:bodyPr wrap="none" lIns="73152" rIns="73152" tIns="36576" bIns="36576">
            <a:spAutoFit/>
          </a:bodyPr>
          <a:lstStyle/>
          <a:p>
            <a:pPr algn="l"/>
            <a:r>
              <a:rPr sz="850" b="1">
                <a:solidFill>
                  <a:srgbClr val="D86352"/>
                </a:solidFill>
                <a:latin typeface="Yu Gothic"/>
              </a:rPr>
              <a:t>夕食</a:t>
            </a:r>
          </a:p>
        </p:txBody>
      </p:sp>
      <p:sp>
        <p:nvSpPr>
          <p:cNvPr id="66" name="TextBox 65"/>
          <p:cNvSpPr txBox="1"/>
          <p:nvPr/>
        </p:nvSpPr>
        <p:spPr>
          <a:xfrm>
            <a:off x="8001000" y="399592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串鳥 札幌駅前</a:t>
            </a:r>
          </a:p>
        </p:txBody>
      </p:sp>
      <p:sp>
        <p:nvSpPr>
          <p:cNvPr id="67" name="TextBox 66"/>
          <p:cNvSpPr txBox="1"/>
          <p:nvPr/>
        </p:nvSpPr>
        <p:spPr>
          <a:xfrm>
            <a:off x="9509760" y="399592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この日の予約・本命候補</a:t>
            </a:r>
          </a:p>
        </p:txBody>
      </p:sp>
      <p:sp>
        <p:nvSpPr>
          <p:cNvPr id="68" name="Rounded Rectangle 67"/>
          <p:cNvSpPr/>
          <p:nvPr/>
        </p:nvSpPr>
        <p:spPr>
          <a:xfrm>
            <a:off x="7360920" y="445312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434072" y="4507992"/>
            <a:ext cx="566928" cy="228600"/>
          </a:xfrm>
          <a:prstGeom prst="rect">
            <a:avLst/>
          </a:prstGeom>
          <a:noFill/>
        </p:spPr>
        <p:txBody>
          <a:bodyPr wrap="none" lIns="73152" rIns="73152" tIns="36576" bIns="36576">
            <a:spAutoFit/>
          </a:bodyPr>
          <a:lstStyle/>
          <a:p>
            <a:pPr algn="l"/>
            <a:r>
              <a:rPr sz="850" b="1">
                <a:solidFill>
                  <a:srgbClr val="D86352"/>
                </a:solidFill>
                <a:latin typeface="Yu Gothic"/>
              </a:rPr>
              <a:t>休憩</a:t>
            </a:r>
          </a:p>
        </p:txBody>
      </p:sp>
      <p:sp>
        <p:nvSpPr>
          <p:cNvPr id="70" name="TextBox 69"/>
          <p:cNvSpPr txBox="1"/>
          <p:nvPr/>
        </p:nvSpPr>
        <p:spPr>
          <a:xfrm>
            <a:off x="8001000" y="449884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北大カフェ / 札幌駅カフェ</a:t>
            </a:r>
          </a:p>
        </p:txBody>
      </p:sp>
      <p:sp>
        <p:nvSpPr>
          <p:cNvPr id="71" name="TextBox 70"/>
          <p:cNvSpPr txBox="1"/>
          <p:nvPr/>
        </p:nvSpPr>
        <p:spPr>
          <a:xfrm>
            <a:off x="9509760" y="449884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散策中の休憩候補</a:t>
            </a:r>
          </a:p>
        </p:txBody>
      </p:sp>
      <p:sp>
        <p:nvSpPr>
          <p:cNvPr id="72" name="Rounded Rectangle 71"/>
          <p:cNvSpPr/>
          <p:nvPr/>
        </p:nvSpPr>
        <p:spPr>
          <a:xfrm>
            <a:off x="7360920" y="495604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434072" y="5010912"/>
            <a:ext cx="566928" cy="228600"/>
          </a:xfrm>
          <a:prstGeom prst="rect">
            <a:avLst/>
          </a:prstGeom>
          <a:noFill/>
        </p:spPr>
        <p:txBody>
          <a:bodyPr wrap="none" lIns="73152" rIns="73152" tIns="36576" bIns="36576">
            <a:spAutoFit/>
          </a:bodyPr>
          <a:lstStyle/>
          <a:p>
            <a:pPr algn="l"/>
            <a:r>
              <a:rPr sz="850" b="1">
                <a:solidFill>
                  <a:srgbClr val="D86352"/>
                </a:solidFill>
                <a:latin typeface="Yu Gothic"/>
              </a:rPr>
              <a:t>予備</a:t>
            </a:r>
          </a:p>
        </p:txBody>
      </p:sp>
      <p:sp>
        <p:nvSpPr>
          <p:cNvPr id="74" name="TextBox 73"/>
          <p:cNvSpPr txBox="1"/>
          <p:nvPr/>
        </p:nvSpPr>
        <p:spPr>
          <a:xfrm>
            <a:off x="8001000" y="500176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ホテル近くのテイクアウト</a:t>
            </a:r>
          </a:p>
        </p:txBody>
      </p:sp>
      <p:sp>
        <p:nvSpPr>
          <p:cNvPr id="75" name="TextBox 74"/>
          <p:cNvSpPr txBox="1"/>
          <p:nvPr/>
        </p:nvSpPr>
        <p:spPr>
          <a:xfrm>
            <a:off x="9509760" y="500176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疲れた場合のバックアップ</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2026-08-05_ファーム富田.png"/>
          <p:cNvPicPr>
            <a:picLocks noChangeAspect="1"/>
          </p:cNvPicPr>
          <p:nvPr/>
        </p:nvPicPr>
        <p:blipFill>
          <a:blip r:embed="rId2"/>
          <a:stretch>
            <a:fillRect/>
          </a:stretch>
        </p:blipFill>
        <p:spPr>
          <a:xfrm>
            <a:off x="7059168" y="0"/>
            <a:ext cx="5129784" cy="3886200"/>
          </a:xfrm>
          <a:prstGeom prst="rect">
            <a:avLst/>
          </a:prstGeom>
        </p:spPr>
      </p:pic>
      <p:sp>
        <p:nvSpPr>
          <p:cNvPr id="3" name="Rounded Rectangle 2"/>
          <p:cNvSpPr/>
          <p:nvPr/>
        </p:nvSpPr>
        <p:spPr>
          <a:xfrm>
            <a:off x="502920" y="347472"/>
            <a:ext cx="1325880" cy="329184"/>
          </a:xfrm>
          <a:prstGeom prst="roundRect">
            <a:avLst/>
          </a:prstGeom>
          <a:solidFill>
            <a:srgbClr val="D863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Yu Gothic"/>
              </a:rPr>
              <a:t>DAY 6</a:t>
            </a:r>
          </a:p>
        </p:txBody>
      </p:sp>
      <p:sp>
        <p:nvSpPr>
          <p:cNvPr id="4" name="TextBox 3"/>
          <p:cNvSpPr txBox="1"/>
          <p:nvPr/>
        </p:nvSpPr>
        <p:spPr>
          <a:xfrm>
            <a:off x="502920" y="749808"/>
            <a:ext cx="6126480" cy="548640"/>
          </a:xfrm>
          <a:prstGeom prst="rect">
            <a:avLst/>
          </a:prstGeom>
          <a:noFill/>
        </p:spPr>
        <p:txBody>
          <a:bodyPr wrap="none" lIns="73152" rIns="73152" tIns="36576" bIns="36576">
            <a:spAutoFit/>
          </a:bodyPr>
          <a:lstStyle/>
          <a:p>
            <a:pPr algn="l"/>
            <a:r>
              <a:rPr sz="2200" b="1">
                <a:solidFill>
                  <a:srgbClr val="143753"/>
                </a:solidFill>
                <a:latin typeface="Yu Gothic"/>
              </a:rPr>
              <a:t>2026-08-05  札幌11時発、富良野・美瑛を抜けて層雲峡へ</a:t>
            </a:r>
          </a:p>
        </p:txBody>
      </p:sp>
      <p:sp>
        <p:nvSpPr>
          <p:cNvPr id="5" name="TextBox 4"/>
          <p:cNvSpPr txBox="1"/>
          <p:nvPr/>
        </p:nvSpPr>
        <p:spPr>
          <a:xfrm>
            <a:off x="530352" y="1234440"/>
            <a:ext cx="5989320" cy="384048"/>
          </a:xfrm>
          <a:prstGeom prst="rect">
            <a:avLst/>
          </a:prstGeom>
          <a:noFill/>
        </p:spPr>
        <p:txBody>
          <a:bodyPr wrap="none" lIns="73152" rIns="73152" tIns="36576" bIns="36576">
            <a:spAutoFit/>
          </a:bodyPr>
          <a:lstStyle/>
          <a:p>
            <a:pPr algn="l"/>
            <a:r>
              <a:rPr sz="1300" b="1">
                <a:solidFill>
                  <a:srgbClr val="2C73A0"/>
                </a:solidFill>
                <a:latin typeface="Yu Gothic"/>
              </a:rPr>
              <a:t>札幌 / 富良野 / 美瑛 / 層雲峡</a:t>
            </a:r>
          </a:p>
        </p:txBody>
      </p:sp>
      <p:sp>
        <p:nvSpPr>
          <p:cNvPr id="6" name="TextBox 5"/>
          <p:cNvSpPr txBox="1"/>
          <p:nvPr/>
        </p:nvSpPr>
        <p:spPr>
          <a:xfrm>
            <a:off x="530352" y="1719072"/>
            <a:ext cx="6080760" cy="896112"/>
          </a:xfrm>
          <a:prstGeom prst="rect">
            <a:avLst/>
          </a:prstGeom>
          <a:noFill/>
        </p:spPr>
        <p:txBody>
          <a:bodyPr wrap="none" lIns="73152" rIns="73152" tIns="36576" bIns="36576">
            <a:spAutoFit/>
          </a:bodyPr>
          <a:lstStyle/>
          <a:p>
            <a:pPr algn="l"/>
            <a:r>
              <a:rPr sz="1230" b="0">
                <a:solidFill>
                  <a:srgbClr val="222B34"/>
                </a:solidFill>
                <a:latin typeface="Yu Gothic"/>
              </a:rPr>
              <a:t>札幌を11時ごろ出発し、富良野周辺の花畑や美瑛の景色を楽しみながら層雲峡へ向かいます。観光を入れつつも移動日なので、夕方のチェックインを優先します。</a:t>
            </a:r>
          </a:p>
        </p:txBody>
      </p:sp>
      <p:sp>
        <p:nvSpPr>
          <p:cNvPr id="7" name="TextBox 6"/>
          <p:cNvSpPr txBox="1"/>
          <p:nvPr/>
        </p:nvSpPr>
        <p:spPr>
          <a:xfrm>
            <a:off x="530352" y="2852928"/>
            <a:ext cx="6126480" cy="292608"/>
          </a:xfrm>
          <a:prstGeom prst="rect">
            <a:avLst/>
          </a:prstGeom>
          <a:noFill/>
        </p:spPr>
        <p:txBody>
          <a:bodyPr wrap="none" lIns="73152" rIns="73152" tIns="36576" bIns="36576">
            <a:spAutoFit/>
          </a:bodyPr>
          <a:lstStyle/>
          <a:p>
            <a:pPr algn="l"/>
            <a:r>
              <a:rPr sz="1500" b="1">
                <a:solidFill>
                  <a:srgbClr val="143753"/>
                </a:solidFill>
                <a:latin typeface="Yu Gothic"/>
              </a:rPr>
              <a:t>この日の流れ</a:t>
            </a:r>
          </a:p>
        </p:txBody>
      </p:sp>
      <p:sp>
        <p:nvSpPr>
          <p:cNvPr id="8" name="Rounded Rectangle 7"/>
          <p:cNvSpPr/>
          <p:nvPr/>
        </p:nvSpPr>
        <p:spPr>
          <a:xfrm>
            <a:off x="502920" y="3246120"/>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3319272"/>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08:30</a:t>
            </a:r>
          </a:p>
        </p:txBody>
      </p:sp>
      <p:sp>
        <p:nvSpPr>
          <p:cNvPr id="10" name="TextBox 9"/>
          <p:cNvSpPr txBox="1"/>
          <p:nvPr/>
        </p:nvSpPr>
        <p:spPr>
          <a:xfrm>
            <a:off x="1417320" y="3319272"/>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朝食</a:t>
            </a:r>
          </a:p>
        </p:txBody>
      </p:sp>
      <p:sp>
        <p:nvSpPr>
          <p:cNvPr id="11" name="TextBox 10"/>
          <p:cNvSpPr txBox="1"/>
          <p:nvPr/>
        </p:nvSpPr>
        <p:spPr>
          <a:xfrm>
            <a:off x="2084831" y="3310128"/>
            <a:ext cx="1234440" cy="274320"/>
          </a:xfrm>
          <a:prstGeom prst="rect">
            <a:avLst/>
          </a:prstGeom>
          <a:noFill/>
        </p:spPr>
        <p:txBody>
          <a:bodyPr wrap="none" lIns="73152" rIns="73152" tIns="36576" bIns="36576">
            <a:spAutoFit/>
          </a:bodyPr>
          <a:lstStyle/>
          <a:p>
            <a:pPr algn="l"/>
            <a:r>
              <a:rPr sz="900" b="1">
                <a:solidFill>
                  <a:srgbClr val="143753"/>
                </a:solidFill>
                <a:latin typeface="Yu Gothic"/>
              </a:rPr>
              <a:t>札幌駅周辺</a:t>
            </a:r>
          </a:p>
        </p:txBody>
      </p:sp>
      <p:sp>
        <p:nvSpPr>
          <p:cNvPr id="12" name="TextBox 11"/>
          <p:cNvSpPr txBox="1"/>
          <p:nvPr/>
        </p:nvSpPr>
        <p:spPr>
          <a:xfrm>
            <a:off x="3246120" y="3300984"/>
            <a:ext cx="3063240" cy="310896"/>
          </a:xfrm>
          <a:prstGeom prst="rect">
            <a:avLst/>
          </a:prstGeom>
          <a:noFill/>
        </p:spPr>
        <p:txBody>
          <a:bodyPr wrap="none" lIns="73152" rIns="73152" tIns="36576" bIns="36576">
            <a:spAutoFit/>
          </a:bodyPr>
          <a:lstStyle/>
          <a:p>
            <a:pPr algn="l"/>
            <a:r>
              <a:rPr sz="830" b="0">
                <a:solidFill>
                  <a:srgbClr val="222B34"/>
                </a:solidFill>
                <a:latin typeface="Yu Gothic"/>
              </a:rPr>
              <a:t>ゆっくり朝食。車内飲み物と軽食を補充</a:t>
            </a:r>
          </a:p>
        </p:txBody>
      </p:sp>
      <p:sp>
        <p:nvSpPr>
          <p:cNvPr id="13" name="TextBox 12"/>
          <p:cNvSpPr txBox="1"/>
          <p:nvPr/>
        </p:nvSpPr>
        <p:spPr>
          <a:xfrm>
            <a:off x="6355080" y="3319272"/>
            <a:ext cx="411480" cy="256032"/>
          </a:xfrm>
          <a:prstGeom prst="rect">
            <a:avLst/>
          </a:prstGeom>
          <a:noFill/>
        </p:spPr>
        <p:txBody>
          <a:bodyPr wrap="none" lIns="73152" rIns="73152" tIns="36576" bIns="36576">
            <a:spAutoFit/>
          </a:bodyPr>
          <a:lstStyle/>
          <a:p>
            <a:pPr algn="r"/>
            <a:r>
              <a:rPr sz="830" b="0">
                <a:solidFill>
                  <a:srgbClr val="66707A"/>
                </a:solidFill>
                <a:latin typeface="Yu Gothic"/>
              </a:rPr>
              <a:t>60分</a:t>
            </a:r>
          </a:p>
        </p:txBody>
      </p:sp>
      <p:sp>
        <p:nvSpPr>
          <p:cNvPr id="14" name="Rounded Rectangle 13"/>
          <p:cNvSpPr/>
          <p:nvPr/>
        </p:nvSpPr>
        <p:spPr>
          <a:xfrm>
            <a:off x="502920" y="3813048"/>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 y="3886200"/>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10:00</a:t>
            </a:r>
          </a:p>
        </p:txBody>
      </p:sp>
      <p:sp>
        <p:nvSpPr>
          <p:cNvPr id="16" name="TextBox 15"/>
          <p:cNvSpPr txBox="1"/>
          <p:nvPr/>
        </p:nvSpPr>
        <p:spPr>
          <a:xfrm>
            <a:off x="1417320" y="3886200"/>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準備</a:t>
            </a:r>
          </a:p>
        </p:txBody>
      </p:sp>
      <p:sp>
        <p:nvSpPr>
          <p:cNvPr id="17" name="TextBox 16"/>
          <p:cNvSpPr txBox="1"/>
          <p:nvPr/>
        </p:nvSpPr>
        <p:spPr>
          <a:xfrm>
            <a:off x="2084831" y="3877056"/>
            <a:ext cx="1234440" cy="274320"/>
          </a:xfrm>
          <a:prstGeom prst="rect">
            <a:avLst/>
          </a:prstGeom>
          <a:noFill/>
        </p:spPr>
        <p:txBody>
          <a:bodyPr wrap="none" lIns="73152" rIns="73152" tIns="36576" bIns="36576">
            <a:spAutoFit/>
          </a:bodyPr>
          <a:lstStyle/>
          <a:p>
            <a:pPr algn="l"/>
            <a:r>
              <a:rPr sz="900" b="1">
                <a:solidFill>
                  <a:srgbClr val="143753"/>
                </a:solidFill>
                <a:latin typeface="Yu Gothic"/>
              </a:rPr>
              <a:t>HOTEL MYSTAYS Sapporo Aspen</a:t>
            </a:r>
          </a:p>
        </p:txBody>
      </p:sp>
      <p:sp>
        <p:nvSpPr>
          <p:cNvPr id="18" name="TextBox 17"/>
          <p:cNvSpPr txBox="1"/>
          <p:nvPr/>
        </p:nvSpPr>
        <p:spPr>
          <a:xfrm>
            <a:off x="3246120" y="3867912"/>
            <a:ext cx="3063240" cy="310896"/>
          </a:xfrm>
          <a:prstGeom prst="rect">
            <a:avLst/>
          </a:prstGeom>
          <a:noFill/>
        </p:spPr>
        <p:txBody>
          <a:bodyPr wrap="none" lIns="73152" rIns="73152" tIns="36576" bIns="36576">
            <a:spAutoFit/>
          </a:bodyPr>
          <a:lstStyle/>
          <a:p>
            <a:pPr algn="l"/>
            <a:r>
              <a:rPr sz="830" b="0">
                <a:solidFill>
                  <a:srgbClr val="222B34"/>
                </a:solidFill>
                <a:latin typeface="Yu Gothic"/>
              </a:rPr>
              <a:t>チェックアウト、荷物積み込み</a:t>
            </a:r>
          </a:p>
        </p:txBody>
      </p:sp>
      <p:sp>
        <p:nvSpPr>
          <p:cNvPr id="19" name="TextBox 18"/>
          <p:cNvSpPr txBox="1"/>
          <p:nvPr/>
        </p:nvSpPr>
        <p:spPr>
          <a:xfrm>
            <a:off x="6355080" y="3886200"/>
            <a:ext cx="411480" cy="256032"/>
          </a:xfrm>
          <a:prstGeom prst="rect">
            <a:avLst/>
          </a:prstGeom>
          <a:noFill/>
        </p:spPr>
        <p:txBody>
          <a:bodyPr wrap="none" lIns="73152" rIns="73152" tIns="36576" bIns="36576">
            <a:spAutoFit/>
          </a:bodyPr>
          <a:lstStyle/>
          <a:p>
            <a:pPr algn="r"/>
            <a:r>
              <a:rPr sz="830" b="0">
                <a:solidFill>
                  <a:srgbClr val="66707A"/>
                </a:solidFill>
                <a:latin typeface="Yu Gothic"/>
              </a:rPr>
              <a:t>45分</a:t>
            </a:r>
          </a:p>
        </p:txBody>
      </p:sp>
      <p:sp>
        <p:nvSpPr>
          <p:cNvPr id="20" name="Rounded Rectangle 19"/>
          <p:cNvSpPr/>
          <p:nvPr/>
        </p:nvSpPr>
        <p:spPr>
          <a:xfrm>
            <a:off x="502920" y="4379976"/>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1792" y="4453128"/>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11:00</a:t>
            </a:r>
          </a:p>
        </p:txBody>
      </p:sp>
      <p:sp>
        <p:nvSpPr>
          <p:cNvPr id="22" name="TextBox 21"/>
          <p:cNvSpPr txBox="1"/>
          <p:nvPr/>
        </p:nvSpPr>
        <p:spPr>
          <a:xfrm>
            <a:off x="1417320" y="4453128"/>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移動</a:t>
            </a:r>
          </a:p>
        </p:txBody>
      </p:sp>
      <p:sp>
        <p:nvSpPr>
          <p:cNvPr id="23" name="TextBox 22"/>
          <p:cNvSpPr txBox="1"/>
          <p:nvPr/>
        </p:nvSpPr>
        <p:spPr>
          <a:xfrm>
            <a:off x="2084831" y="4443984"/>
            <a:ext cx="1234440" cy="274320"/>
          </a:xfrm>
          <a:prstGeom prst="rect">
            <a:avLst/>
          </a:prstGeom>
          <a:noFill/>
        </p:spPr>
        <p:txBody>
          <a:bodyPr wrap="none" lIns="73152" rIns="73152" tIns="36576" bIns="36576">
            <a:spAutoFit/>
          </a:bodyPr>
          <a:lstStyle/>
          <a:p>
            <a:pPr algn="l"/>
            <a:r>
              <a:rPr sz="900" b="1">
                <a:solidFill>
                  <a:srgbClr val="143753"/>
                </a:solidFill>
                <a:latin typeface="Yu Gothic"/>
              </a:rPr>
              <a:t>札幌 → 富良野</a:t>
            </a:r>
          </a:p>
        </p:txBody>
      </p:sp>
      <p:sp>
        <p:nvSpPr>
          <p:cNvPr id="24" name="TextBox 23"/>
          <p:cNvSpPr txBox="1"/>
          <p:nvPr/>
        </p:nvSpPr>
        <p:spPr>
          <a:xfrm>
            <a:off x="3246120" y="4434840"/>
            <a:ext cx="3063240" cy="310896"/>
          </a:xfrm>
          <a:prstGeom prst="rect">
            <a:avLst/>
          </a:prstGeom>
          <a:noFill/>
        </p:spPr>
        <p:txBody>
          <a:bodyPr wrap="none" lIns="73152" rIns="73152" tIns="36576" bIns="36576">
            <a:spAutoFit/>
          </a:bodyPr>
          <a:lstStyle/>
          <a:p>
            <a:pPr algn="l"/>
            <a:r>
              <a:rPr sz="830" b="0">
                <a:solidFill>
                  <a:srgbClr val="222B34"/>
                </a:solidFill>
                <a:latin typeface="Yu Gothic"/>
              </a:rPr>
              <a:t>高速と一般道で富良野方面へ</a:t>
            </a:r>
          </a:p>
        </p:txBody>
      </p:sp>
      <p:sp>
        <p:nvSpPr>
          <p:cNvPr id="25" name="TextBox 24"/>
          <p:cNvSpPr txBox="1"/>
          <p:nvPr/>
        </p:nvSpPr>
        <p:spPr>
          <a:xfrm>
            <a:off x="6355080" y="4453128"/>
            <a:ext cx="411480" cy="256032"/>
          </a:xfrm>
          <a:prstGeom prst="rect">
            <a:avLst/>
          </a:prstGeom>
          <a:noFill/>
        </p:spPr>
        <p:txBody>
          <a:bodyPr wrap="none" lIns="73152" rIns="73152" tIns="36576" bIns="36576">
            <a:spAutoFit/>
          </a:bodyPr>
          <a:lstStyle/>
          <a:p>
            <a:pPr algn="r"/>
            <a:r>
              <a:rPr sz="830" b="0">
                <a:solidFill>
                  <a:srgbClr val="66707A"/>
                </a:solidFill>
                <a:latin typeface="Yu Gothic"/>
              </a:rPr>
              <a:t>約2時間15分</a:t>
            </a:r>
          </a:p>
        </p:txBody>
      </p:sp>
      <p:sp>
        <p:nvSpPr>
          <p:cNvPr id="26" name="Rounded Rectangle 25"/>
          <p:cNvSpPr/>
          <p:nvPr/>
        </p:nvSpPr>
        <p:spPr>
          <a:xfrm>
            <a:off x="502920" y="4946904"/>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1792" y="5020056"/>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13:15</a:t>
            </a:r>
          </a:p>
        </p:txBody>
      </p:sp>
      <p:sp>
        <p:nvSpPr>
          <p:cNvPr id="28" name="TextBox 27"/>
          <p:cNvSpPr txBox="1"/>
          <p:nvPr/>
        </p:nvSpPr>
        <p:spPr>
          <a:xfrm>
            <a:off x="1417320" y="5020056"/>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昼食</a:t>
            </a:r>
          </a:p>
        </p:txBody>
      </p:sp>
      <p:sp>
        <p:nvSpPr>
          <p:cNvPr id="29" name="TextBox 28"/>
          <p:cNvSpPr txBox="1"/>
          <p:nvPr/>
        </p:nvSpPr>
        <p:spPr>
          <a:xfrm>
            <a:off x="2084831" y="5010912"/>
            <a:ext cx="1234440" cy="274320"/>
          </a:xfrm>
          <a:prstGeom prst="rect">
            <a:avLst/>
          </a:prstGeom>
          <a:noFill/>
        </p:spPr>
        <p:txBody>
          <a:bodyPr wrap="none" lIns="73152" rIns="73152" tIns="36576" bIns="36576">
            <a:spAutoFit/>
          </a:bodyPr>
          <a:lstStyle/>
          <a:p>
            <a:pPr algn="l"/>
            <a:r>
              <a:rPr sz="900" b="1">
                <a:solidFill>
                  <a:srgbClr val="143753"/>
                </a:solidFill>
                <a:latin typeface="Yu Gothic"/>
              </a:rPr>
              <a:t>富良野市内</a:t>
            </a:r>
          </a:p>
        </p:txBody>
      </p:sp>
      <p:sp>
        <p:nvSpPr>
          <p:cNvPr id="30" name="TextBox 29"/>
          <p:cNvSpPr txBox="1"/>
          <p:nvPr/>
        </p:nvSpPr>
        <p:spPr>
          <a:xfrm>
            <a:off x="3246120" y="5001768"/>
            <a:ext cx="3063240" cy="310896"/>
          </a:xfrm>
          <a:prstGeom prst="rect">
            <a:avLst/>
          </a:prstGeom>
          <a:noFill/>
        </p:spPr>
        <p:txBody>
          <a:bodyPr wrap="none" lIns="73152" rIns="73152" tIns="36576" bIns="36576">
            <a:spAutoFit/>
          </a:bodyPr>
          <a:lstStyle/>
          <a:p>
            <a:pPr algn="l"/>
            <a:r>
              <a:rPr sz="830" b="0">
                <a:solidFill>
                  <a:srgbClr val="222B34"/>
                </a:solidFill>
                <a:latin typeface="Yu Gothic"/>
              </a:rPr>
              <a:t>富良野オムカレー、カフェ、道の駅系候補</a:t>
            </a:r>
          </a:p>
        </p:txBody>
      </p:sp>
      <p:sp>
        <p:nvSpPr>
          <p:cNvPr id="31" name="TextBox 30"/>
          <p:cNvSpPr txBox="1"/>
          <p:nvPr/>
        </p:nvSpPr>
        <p:spPr>
          <a:xfrm>
            <a:off x="6355080" y="5020056"/>
            <a:ext cx="411480" cy="256032"/>
          </a:xfrm>
          <a:prstGeom prst="rect">
            <a:avLst/>
          </a:prstGeom>
          <a:noFill/>
        </p:spPr>
        <p:txBody>
          <a:bodyPr wrap="none" lIns="73152" rIns="73152" tIns="36576" bIns="36576">
            <a:spAutoFit/>
          </a:bodyPr>
          <a:lstStyle/>
          <a:p>
            <a:pPr algn="r"/>
            <a:r>
              <a:rPr sz="830" b="0">
                <a:solidFill>
                  <a:srgbClr val="66707A"/>
                </a:solidFill>
                <a:latin typeface="Yu Gothic"/>
              </a:rPr>
              <a:t>60分</a:t>
            </a:r>
          </a:p>
        </p:txBody>
      </p:sp>
      <p:sp>
        <p:nvSpPr>
          <p:cNvPr id="32" name="Rounded Rectangle 31"/>
          <p:cNvSpPr/>
          <p:nvPr/>
        </p:nvSpPr>
        <p:spPr>
          <a:xfrm>
            <a:off x="502920" y="5513832"/>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1792" y="5586984"/>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14:30</a:t>
            </a:r>
          </a:p>
        </p:txBody>
      </p:sp>
      <p:sp>
        <p:nvSpPr>
          <p:cNvPr id="34" name="TextBox 33"/>
          <p:cNvSpPr txBox="1"/>
          <p:nvPr/>
        </p:nvSpPr>
        <p:spPr>
          <a:xfrm>
            <a:off x="1417320" y="5586984"/>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観光</a:t>
            </a:r>
          </a:p>
        </p:txBody>
      </p:sp>
      <p:sp>
        <p:nvSpPr>
          <p:cNvPr id="35" name="TextBox 34"/>
          <p:cNvSpPr txBox="1"/>
          <p:nvPr/>
        </p:nvSpPr>
        <p:spPr>
          <a:xfrm>
            <a:off x="2084831" y="5577840"/>
            <a:ext cx="1234440" cy="274320"/>
          </a:xfrm>
          <a:prstGeom prst="rect">
            <a:avLst/>
          </a:prstGeom>
          <a:noFill/>
        </p:spPr>
        <p:txBody>
          <a:bodyPr wrap="none" lIns="73152" rIns="73152" tIns="36576" bIns="36576">
            <a:spAutoFit/>
          </a:bodyPr>
          <a:lstStyle/>
          <a:p>
            <a:pPr algn="l"/>
            <a:r>
              <a:rPr sz="900" b="1">
                <a:solidFill>
                  <a:srgbClr val="143753"/>
                </a:solidFill>
                <a:latin typeface="Yu Gothic"/>
              </a:rPr>
              <a:t>ファーム富田周辺</a:t>
            </a:r>
          </a:p>
        </p:txBody>
      </p:sp>
      <p:sp>
        <p:nvSpPr>
          <p:cNvPr id="36" name="TextBox 35"/>
          <p:cNvSpPr txBox="1"/>
          <p:nvPr/>
        </p:nvSpPr>
        <p:spPr>
          <a:xfrm>
            <a:off x="3246120" y="5568696"/>
            <a:ext cx="3063240" cy="310896"/>
          </a:xfrm>
          <a:prstGeom prst="rect">
            <a:avLst/>
          </a:prstGeom>
          <a:noFill/>
        </p:spPr>
        <p:txBody>
          <a:bodyPr wrap="none" lIns="73152" rIns="73152" tIns="36576" bIns="36576">
            <a:spAutoFit/>
          </a:bodyPr>
          <a:lstStyle/>
          <a:p>
            <a:pPr algn="l"/>
            <a:r>
              <a:rPr sz="830" b="0">
                <a:solidFill>
                  <a:srgbClr val="222B34"/>
                </a:solidFill>
                <a:latin typeface="Yu Gothic"/>
              </a:rPr>
              <a:t>花畑、カフェ、写真撮影。混雑時は短縮</a:t>
            </a:r>
          </a:p>
        </p:txBody>
      </p:sp>
      <p:sp>
        <p:nvSpPr>
          <p:cNvPr id="37" name="TextBox 36"/>
          <p:cNvSpPr txBox="1"/>
          <p:nvPr/>
        </p:nvSpPr>
        <p:spPr>
          <a:xfrm>
            <a:off x="6355080" y="5586984"/>
            <a:ext cx="411480" cy="256032"/>
          </a:xfrm>
          <a:prstGeom prst="rect">
            <a:avLst/>
          </a:prstGeom>
          <a:noFill/>
        </p:spPr>
        <p:txBody>
          <a:bodyPr wrap="none" lIns="73152" rIns="73152" tIns="36576" bIns="36576">
            <a:spAutoFit/>
          </a:bodyPr>
          <a:lstStyle/>
          <a:p>
            <a:pPr algn="r"/>
            <a:r>
              <a:rPr sz="830" b="0">
                <a:solidFill>
                  <a:srgbClr val="66707A"/>
                </a:solidFill>
                <a:latin typeface="Yu Gothic"/>
              </a:rPr>
              <a:t>75分</a:t>
            </a:r>
          </a:p>
        </p:txBody>
      </p:sp>
      <p:sp>
        <p:nvSpPr>
          <p:cNvPr id="38" name="TextBox 37"/>
          <p:cNvSpPr txBox="1"/>
          <p:nvPr/>
        </p:nvSpPr>
        <p:spPr>
          <a:xfrm>
            <a:off x="7150608" y="4251960"/>
            <a:ext cx="4343400" cy="292608"/>
          </a:xfrm>
          <a:prstGeom prst="rect">
            <a:avLst/>
          </a:prstGeom>
          <a:noFill/>
        </p:spPr>
        <p:txBody>
          <a:bodyPr wrap="none" lIns="73152" rIns="73152" tIns="36576" bIns="36576">
            <a:spAutoFit/>
          </a:bodyPr>
          <a:lstStyle/>
          <a:p>
            <a:pPr algn="l"/>
            <a:r>
              <a:rPr sz="1500" b="1">
                <a:solidFill>
                  <a:srgbClr val="143753"/>
                </a:solidFill>
                <a:latin typeface="Yu Gothic"/>
              </a:rPr>
              <a:t>レストラン候補</a:t>
            </a:r>
          </a:p>
        </p:txBody>
      </p:sp>
      <p:sp>
        <p:nvSpPr>
          <p:cNvPr id="39" name="Rounded Rectangle 38"/>
          <p:cNvSpPr/>
          <p:nvPr/>
        </p:nvSpPr>
        <p:spPr>
          <a:xfrm>
            <a:off x="7150608" y="463600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223760" y="4690872"/>
            <a:ext cx="566928" cy="228600"/>
          </a:xfrm>
          <a:prstGeom prst="rect">
            <a:avLst/>
          </a:prstGeom>
          <a:noFill/>
        </p:spPr>
        <p:txBody>
          <a:bodyPr wrap="none" lIns="73152" rIns="73152" tIns="36576" bIns="36576">
            <a:spAutoFit/>
          </a:bodyPr>
          <a:lstStyle/>
          <a:p>
            <a:pPr algn="l"/>
            <a:r>
              <a:rPr sz="850" b="1">
                <a:solidFill>
                  <a:srgbClr val="D86352"/>
                </a:solidFill>
                <a:latin typeface="Yu Gothic"/>
              </a:rPr>
              <a:t>昼食</a:t>
            </a:r>
          </a:p>
        </p:txBody>
      </p:sp>
      <p:sp>
        <p:nvSpPr>
          <p:cNvPr id="41" name="TextBox 40"/>
          <p:cNvSpPr txBox="1"/>
          <p:nvPr/>
        </p:nvSpPr>
        <p:spPr>
          <a:xfrm>
            <a:off x="7790688" y="468172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富良野オムカレー候補</a:t>
            </a:r>
          </a:p>
        </p:txBody>
      </p:sp>
      <p:sp>
        <p:nvSpPr>
          <p:cNvPr id="42" name="TextBox 41"/>
          <p:cNvSpPr txBox="1"/>
          <p:nvPr/>
        </p:nvSpPr>
        <p:spPr>
          <a:xfrm>
            <a:off x="9299448" y="468172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富良野らしさを入れる第一候補</a:t>
            </a:r>
          </a:p>
        </p:txBody>
      </p:sp>
      <p:sp>
        <p:nvSpPr>
          <p:cNvPr id="43" name="Rounded Rectangle 42"/>
          <p:cNvSpPr/>
          <p:nvPr/>
        </p:nvSpPr>
        <p:spPr>
          <a:xfrm>
            <a:off x="7150608" y="513892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223760" y="5193792"/>
            <a:ext cx="566928" cy="228600"/>
          </a:xfrm>
          <a:prstGeom prst="rect">
            <a:avLst/>
          </a:prstGeom>
          <a:noFill/>
        </p:spPr>
        <p:txBody>
          <a:bodyPr wrap="none" lIns="73152" rIns="73152" tIns="36576" bIns="36576">
            <a:spAutoFit/>
          </a:bodyPr>
          <a:lstStyle/>
          <a:p>
            <a:pPr algn="l"/>
            <a:r>
              <a:rPr sz="850" b="1">
                <a:solidFill>
                  <a:srgbClr val="D86352"/>
                </a:solidFill>
                <a:latin typeface="Yu Gothic"/>
              </a:rPr>
              <a:t>昼食</a:t>
            </a:r>
          </a:p>
        </p:txBody>
      </p:sp>
      <p:sp>
        <p:nvSpPr>
          <p:cNvPr id="45" name="TextBox 44"/>
          <p:cNvSpPr txBox="1"/>
          <p:nvPr/>
        </p:nvSpPr>
        <p:spPr>
          <a:xfrm>
            <a:off x="7790688" y="518464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フラノマルシェ周辺</a:t>
            </a:r>
          </a:p>
        </p:txBody>
      </p:sp>
      <p:sp>
        <p:nvSpPr>
          <p:cNvPr id="46" name="TextBox 45"/>
          <p:cNvSpPr txBox="1"/>
          <p:nvPr/>
        </p:nvSpPr>
        <p:spPr>
          <a:xfrm>
            <a:off x="9299448" y="518464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駐車と買い物を兼ねやすい</a:t>
            </a:r>
          </a:p>
        </p:txBody>
      </p:sp>
      <p:sp>
        <p:nvSpPr>
          <p:cNvPr id="47" name="Rounded Rectangle 46"/>
          <p:cNvSpPr/>
          <p:nvPr/>
        </p:nvSpPr>
        <p:spPr>
          <a:xfrm>
            <a:off x="7150608" y="564184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223760" y="5696712"/>
            <a:ext cx="566928" cy="228600"/>
          </a:xfrm>
          <a:prstGeom prst="rect">
            <a:avLst/>
          </a:prstGeom>
          <a:noFill/>
        </p:spPr>
        <p:txBody>
          <a:bodyPr wrap="none" lIns="73152" rIns="73152" tIns="36576" bIns="36576">
            <a:spAutoFit/>
          </a:bodyPr>
          <a:lstStyle/>
          <a:p>
            <a:pPr algn="l"/>
            <a:r>
              <a:rPr sz="850" b="1">
                <a:solidFill>
                  <a:srgbClr val="D86352"/>
                </a:solidFill>
                <a:latin typeface="Yu Gothic"/>
              </a:rPr>
              <a:t>休憩</a:t>
            </a:r>
          </a:p>
        </p:txBody>
      </p:sp>
      <p:sp>
        <p:nvSpPr>
          <p:cNvPr id="49" name="TextBox 48"/>
          <p:cNvSpPr txBox="1"/>
          <p:nvPr/>
        </p:nvSpPr>
        <p:spPr>
          <a:xfrm>
            <a:off x="7790688" y="568756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ファーム富田カフェ</a:t>
            </a:r>
          </a:p>
        </p:txBody>
      </p:sp>
      <p:sp>
        <p:nvSpPr>
          <p:cNvPr id="50" name="TextBox 49"/>
          <p:cNvSpPr txBox="1"/>
          <p:nvPr/>
        </p:nvSpPr>
        <p:spPr>
          <a:xfrm>
            <a:off x="9299448" y="568756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花畑観光中の軽食候補</a:t>
            </a:r>
          </a:p>
        </p:txBody>
      </p:sp>
      <p:sp>
        <p:nvSpPr>
          <p:cNvPr id="51" name="Rounded Rectangle 50"/>
          <p:cNvSpPr/>
          <p:nvPr/>
        </p:nvSpPr>
        <p:spPr>
          <a:xfrm>
            <a:off x="7150608" y="614476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223760" y="6199632"/>
            <a:ext cx="566928" cy="228600"/>
          </a:xfrm>
          <a:prstGeom prst="rect">
            <a:avLst/>
          </a:prstGeom>
          <a:noFill/>
        </p:spPr>
        <p:txBody>
          <a:bodyPr wrap="none" lIns="73152" rIns="73152" tIns="36576" bIns="36576">
            <a:spAutoFit/>
          </a:bodyPr>
          <a:lstStyle/>
          <a:p>
            <a:pPr algn="l"/>
            <a:r>
              <a:rPr sz="850" b="1">
                <a:solidFill>
                  <a:srgbClr val="D86352"/>
                </a:solidFill>
                <a:latin typeface="Yu Gothic"/>
              </a:rPr>
              <a:t>夕食</a:t>
            </a:r>
          </a:p>
        </p:txBody>
      </p:sp>
      <p:sp>
        <p:nvSpPr>
          <p:cNvPr id="53" name="TextBox 52"/>
          <p:cNvSpPr txBox="1"/>
          <p:nvPr/>
        </p:nvSpPr>
        <p:spPr>
          <a:xfrm>
            <a:off x="7790688" y="619048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層雲峡温泉街の食堂</a:t>
            </a:r>
          </a:p>
        </p:txBody>
      </p:sp>
      <p:sp>
        <p:nvSpPr>
          <p:cNvPr id="54" name="TextBox 53"/>
          <p:cNvSpPr txBox="1"/>
          <p:nvPr/>
        </p:nvSpPr>
        <p:spPr>
          <a:xfrm>
            <a:off x="9299448" y="619048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到着が遅くなった場合は営業確認</a:t>
            </a:r>
          </a:p>
        </p:txBody>
      </p:sp>
      <p:sp>
        <p:nvSpPr>
          <p:cNvPr id="55" name="TextBox 54"/>
          <p:cNvSpPr txBox="1"/>
          <p:nvPr/>
        </p:nvSpPr>
        <p:spPr>
          <a:xfrm>
            <a:off x="7150608" y="6199632"/>
            <a:ext cx="4206240" cy="228600"/>
          </a:xfrm>
          <a:prstGeom prst="rect">
            <a:avLst/>
          </a:prstGeom>
          <a:noFill/>
        </p:spPr>
        <p:txBody>
          <a:bodyPr wrap="none" lIns="73152" rIns="73152" tIns="36576" bIns="36576">
            <a:spAutoFit/>
          </a:bodyPr>
          <a:lstStyle/>
          <a:p>
            <a:pPr algn="l"/>
            <a:r>
              <a:rPr sz="780" b="0">
                <a:solidFill>
                  <a:srgbClr val="66707A"/>
                </a:solidFill>
                <a:latin typeface="Yu Gothic"/>
              </a:rPr>
              <a:t>MEMO  「フラ」は富良野方面として扱う。 / 富良野・美瑛は寄り道を増やしすぎず、花畑か青い池のどちらかを優先。</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CFCFA"/>
        </a:solidFill>
        <a:effectLst/>
      </p:bgPr>
    </p:bg>
    <p:spTree>
      <p:nvGrpSpPr>
        <p:cNvPr id="1" name=""/>
        <p:cNvGrpSpPr/>
        <p:nvPr/>
      </p:nvGrpSpPr>
      <p:grpSpPr/>
      <p:sp>
        <p:nvSpPr>
          <p:cNvPr id="2" name="Rounded Rectangle 1"/>
          <p:cNvSpPr/>
          <p:nvPr/>
        </p:nvSpPr>
        <p:spPr>
          <a:xfrm>
            <a:off x="502920" y="320040"/>
            <a:ext cx="1325880" cy="329184"/>
          </a:xfrm>
          <a:prstGeom prst="roundRect">
            <a:avLst/>
          </a:prstGeom>
          <a:solidFill>
            <a:srgbClr val="D863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Yu Gothic"/>
              </a:rPr>
              <a:t>DAY 6</a:t>
            </a:r>
          </a:p>
        </p:txBody>
      </p:sp>
      <p:sp>
        <p:nvSpPr>
          <p:cNvPr id="3" name="TextBox 2"/>
          <p:cNvSpPr txBox="1"/>
          <p:nvPr/>
        </p:nvSpPr>
        <p:spPr>
          <a:xfrm>
            <a:off x="502920" y="713232"/>
            <a:ext cx="6217920" cy="384048"/>
          </a:xfrm>
          <a:prstGeom prst="rect">
            <a:avLst/>
          </a:prstGeom>
          <a:noFill/>
        </p:spPr>
        <p:txBody>
          <a:bodyPr wrap="none" lIns="73152" rIns="73152" tIns="36576" bIns="36576">
            <a:spAutoFit/>
          </a:bodyPr>
          <a:lstStyle/>
          <a:p>
            <a:pPr algn="l"/>
            <a:r>
              <a:rPr sz="2200" b="1">
                <a:solidFill>
                  <a:srgbClr val="143753"/>
                </a:solidFill>
                <a:latin typeface="Yu Gothic"/>
              </a:rPr>
              <a:t>時刻ベース詳細スケジュール</a:t>
            </a:r>
          </a:p>
        </p:txBody>
      </p:sp>
      <p:sp>
        <p:nvSpPr>
          <p:cNvPr id="4" name="Rounded Rectangle 3"/>
          <p:cNvSpPr/>
          <p:nvPr/>
        </p:nvSpPr>
        <p:spPr>
          <a:xfrm>
            <a:off x="502920" y="1325880"/>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1399032"/>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08:30</a:t>
            </a:r>
          </a:p>
        </p:txBody>
      </p:sp>
      <p:sp>
        <p:nvSpPr>
          <p:cNvPr id="6" name="TextBox 5"/>
          <p:cNvSpPr txBox="1"/>
          <p:nvPr/>
        </p:nvSpPr>
        <p:spPr>
          <a:xfrm>
            <a:off x="1417320" y="1399032"/>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朝食</a:t>
            </a:r>
          </a:p>
        </p:txBody>
      </p:sp>
      <p:sp>
        <p:nvSpPr>
          <p:cNvPr id="7" name="TextBox 6"/>
          <p:cNvSpPr txBox="1"/>
          <p:nvPr/>
        </p:nvSpPr>
        <p:spPr>
          <a:xfrm>
            <a:off x="2084831" y="1389888"/>
            <a:ext cx="1234440" cy="274320"/>
          </a:xfrm>
          <a:prstGeom prst="rect">
            <a:avLst/>
          </a:prstGeom>
          <a:noFill/>
        </p:spPr>
        <p:txBody>
          <a:bodyPr wrap="none" lIns="73152" rIns="73152" tIns="36576" bIns="36576">
            <a:spAutoFit/>
          </a:bodyPr>
          <a:lstStyle/>
          <a:p>
            <a:pPr algn="l"/>
            <a:r>
              <a:rPr sz="900" b="1">
                <a:solidFill>
                  <a:srgbClr val="143753"/>
                </a:solidFill>
                <a:latin typeface="Yu Gothic"/>
              </a:rPr>
              <a:t>札幌駅周辺</a:t>
            </a:r>
          </a:p>
        </p:txBody>
      </p:sp>
      <p:sp>
        <p:nvSpPr>
          <p:cNvPr id="8" name="TextBox 7"/>
          <p:cNvSpPr txBox="1"/>
          <p:nvPr/>
        </p:nvSpPr>
        <p:spPr>
          <a:xfrm>
            <a:off x="3246120" y="1380744"/>
            <a:ext cx="3063240" cy="310896"/>
          </a:xfrm>
          <a:prstGeom prst="rect">
            <a:avLst/>
          </a:prstGeom>
          <a:noFill/>
        </p:spPr>
        <p:txBody>
          <a:bodyPr wrap="none" lIns="73152" rIns="73152" tIns="36576" bIns="36576">
            <a:spAutoFit/>
          </a:bodyPr>
          <a:lstStyle/>
          <a:p>
            <a:pPr algn="l"/>
            <a:r>
              <a:rPr sz="830" b="0">
                <a:solidFill>
                  <a:srgbClr val="222B34"/>
                </a:solidFill>
                <a:latin typeface="Yu Gothic"/>
              </a:rPr>
              <a:t>ゆっくり朝食。車内飲み物と軽食を補充</a:t>
            </a:r>
          </a:p>
        </p:txBody>
      </p:sp>
      <p:sp>
        <p:nvSpPr>
          <p:cNvPr id="9" name="TextBox 8"/>
          <p:cNvSpPr txBox="1"/>
          <p:nvPr/>
        </p:nvSpPr>
        <p:spPr>
          <a:xfrm>
            <a:off x="6355080" y="1399032"/>
            <a:ext cx="411480" cy="256032"/>
          </a:xfrm>
          <a:prstGeom prst="rect">
            <a:avLst/>
          </a:prstGeom>
          <a:noFill/>
        </p:spPr>
        <p:txBody>
          <a:bodyPr wrap="none" lIns="73152" rIns="73152" tIns="36576" bIns="36576">
            <a:spAutoFit/>
          </a:bodyPr>
          <a:lstStyle/>
          <a:p>
            <a:pPr algn="r"/>
            <a:r>
              <a:rPr sz="830" b="0">
                <a:solidFill>
                  <a:srgbClr val="66707A"/>
                </a:solidFill>
                <a:latin typeface="Yu Gothic"/>
              </a:rPr>
              <a:t>60分</a:t>
            </a:r>
          </a:p>
        </p:txBody>
      </p:sp>
      <p:sp>
        <p:nvSpPr>
          <p:cNvPr id="10" name="Rounded Rectangle 9"/>
          <p:cNvSpPr/>
          <p:nvPr/>
        </p:nvSpPr>
        <p:spPr>
          <a:xfrm>
            <a:off x="502920" y="1892808"/>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965960"/>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10:00</a:t>
            </a:r>
          </a:p>
        </p:txBody>
      </p:sp>
      <p:sp>
        <p:nvSpPr>
          <p:cNvPr id="12" name="TextBox 11"/>
          <p:cNvSpPr txBox="1"/>
          <p:nvPr/>
        </p:nvSpPr>
        <p:spPr>
          <a:xfrm>
            <a:off x="1417320" y="1965960"/>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準備</a:t>
            </a:r>
          </a:p>
        </p:txBody>
      </p:sp>
      <p:sp>
        <p:nvSpPr>
          <p:cNvPr id="13" name="TextBox 12"/>
          <p:cNvSpPr txBox="1"/>
          <p:nvPr/>
        </p:nvSpPr>
        <p:spPr>
          <a:xfrm>
            <a:off x="2084831" y="1956816"/>
            <a:ext cx="1234440" cy="274320"/>
          </a:xfrm>
          <a:prstGeom prst="rect">
            <a:avLst/>
          </a:prstGeom>
          <a:noFill/>
        </p:spPr>
        <p:txBody>
          <a:bodyPr wrap="none" lIns="73152" rIns="73152" tIns="36576" bIns="36576">
            <a:spAutoFit/>
          </a:bodyPr>
          <a:lstStyle/>
          <a:p>
            <a:pPr algn="l"/>
            <a:r>
              <a:rPr sz="900" b="1">
                <a:solidFill>
                  <a:srgbClr val="143753"/>
                </a:solidFill>
                <a:latin typeface="Yu Gothic"/>
              </a:rPr>
              <a:t>HOTEL MYSTAYS Sapporo Aspen</a:t>
            </a:r>
          </a:p>
        </p:txBody>
      </p:sp>
      <p:sp>
        <p:nvSpPr>
          <p:cNvPr id="14" name="TextBox 13"/>
          <p:cNvSpPr txBox="1"/>
          <p:nvPr/>
        </p:nvSpPr>
        <p:spPr>
          <a:xfrm>
            <a:off x="3246120" y="1947672"/>
            <a:ext cx="3063240" cy="310896"/>
          </a:xfrm>
          <a:prstGeom prst="rect">
            <a:avLst/>
          </a:prstGeom>
          <a:noFill/>
        </p:spPr>
        <p:txBody>
          <a:bodyPr wrap="none" lIns="73152" rIns="73152" tIns="36576" bIns="36576">
            <a:spAutoFit/>
          </a:bodyPr>
          <a:lstStyle/>
          <a:p>
            <a:pPr algn="l"/>
            <a:r>
              <a:rPr sz="830" b="0">
                <a:solidFill>
                  <a:srgbClr val="222B34"/>
                </a:solidFill>
                <a:latin typeface="Yu Gothic"/>
              </a:rPr>
              <a:t>チェックアウト、荷物積み込み</a:t>
            </a:r>
          </a:p>
        </p:txBody>
      </p:sp>
      <p:sp>
        <p:nvSpPr>
          <p:cNvPr id="15" name="TextBox 14"/>
          <p:cNvSpPr txBox="1"/>
          <p:nvPr/>
        </p:nvSpPr>
        <p:spPr>
          <a:xfrm>
            <a:off x="6355080" y="1965960"/>
            <a:ext cx="411480" cy="256032"/>
          </a:xfrm>
          <a:prstGeom prst="rect">
            <a:avLst/>
          </a:prstGeom>
          <a:noFill/>
        </p:spPr>
        <p:txBody>
          <a:bodyPr wrap="none" lIns="73152" rIns="73152" tIns="36576" bIns="36576">
            <a:spAutoFit/>
          </a:bodyPr>
          <a:lstStyle/>
          <a:p>
            <a:pPr algn="r"/>
            <a:r>
              <a:rPr sz="830" b="0">
                <a:solidFill>
                  <a:srgbClr val="66707A"/>
                </a:solidFill>
                <a:latin typeface="Yu Gothic"/>
              </a:rPr>
              <a:t>45分</a:t>
            </a:r>
          </a:p>
        </p:txBody>
      </p:sp>
      <p:sp>
        <p:nvSpPr>
          <p:cNvPr id="16" name="Rounded Rectangle 15"/>
          <p:cNvSpPr/>
          <p:nvPr/>
        </p:nvSpPr>
        <p:spPr>
          <a:xfrm>
            <a:off x="502920" y="2459736"/>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792" y="2532888"/>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11:00</a:t>
            </a:r>
          </a:p>
        </p:txBody>
      </p:sp>
      <p:sp>
        <p:nvSpPr>
          <p:cNvPr id="18" name="TextBox 17"/>
          <p:cNvSpPr txBox="1"/>
          <p:nvPr/>
        </p:nvSpPr>
        <p:spPr>
          <a:xfrm>
            <a:off x="1417320" y="2532888"/>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移動</a:t>
            </a:r>
          </a:p>
        </p:txBody>
      </p:sp>
      <p:sp>
        <p:nvSpPr>
          <p:cNvPr id="19" name="TextBox 18"/>
          <p:cNvSpPr txBox="1"/>
          <p:nvPr/>
        </p:nvSpPr>
        <p:spPr>
          <a:xfrm>
            <a:off x="2084831" y="2523744"/>
            <a:ext cx="1234440" cy="274320"/>
          </a:xfrm>
          <a:prstGeom prst="rect">
            <a:avLst/>
          </a:prstGeom>
          <a:noFill/>
        </p:spPr>
        <p:txBody>
          <a:bodyPr wrap="none" lIns="73152" rIns="73152" tIns="36576" bIns="36576">
            <a:spAutoFit/>
          </a:bodyPr>
          <a:lstStyle/>
          <a:p>
            <a:pPr algn="l"/>
            <a:r>
              <a:rPr sz="900" b="1">
                <a:solidFill>
                  <a:srgbClr val="143753"/>
                </a:solidFill>
                <a:latin typeface="Yu Gothic"/>
              </a:rPr>
              <a:t>札幌 → 富良野</a:t>
            </a:r>
          </a:p>
        </p:txBody>
      </p:sp>
      <p:sp>
        <p:nvSpPr>
          <p:cNvPr id="20" name="TextBox 19"/>
          <p:cNvSpPr txBox="1"/>
          <p:nvPr/>
        </p:nvSpPr>
        <p:spPr>
          <a:xfrm>
            <a:off x="3246120" y="2514600"/>
            <a:ext cx="3063240" cy="310896"/>
          </a:xfrm>
          <a:prstGeom prst="rect">
            <a:avLst/>
          </a:prstGeom>
          <a:noFill/>
        </p:spPr>
        <p:txBody>
          <a:bodyPr wrap="none" lIns="73152" rIns="73152" tIns="36576" bIns="36576">
            <a:spAutoFit/>
          </a:bodyPr>
          <a:lstStyle/>
          <a:p>
            <a:pPr algn="l"/>
            <a:r>
              <a:rPr sz="830" b="0">
                <a:solidFill>
                  <a:srgbClr val="222B34"/>
                </a:solidFill>
                <a:latin typeface="Yu Gothic"/>
              </a:rPr>
              <a:t>高速と一般道で富良野方面へ</a:t>
            </a:r>
          </a:p>
        </p:txBody>
      </p:sp>
      <p:sp>
        <p:nvSpPr>
          <p:cNvPr id="21" name="TextBox 20"/>
          <p:cNvSpPr txBox="1"/>
          <p:nvPr/>
        </p:nvSpPr>
        <p:spPr>
          <a:xfrm>
            <a:off x="6355080" y="2532888"/>
            <a:ext cx="411480" cy="256032"/>
          </a:xfrm>
          <a:prstGeom prst="rect">
            <a:avLst/>
          </a:prstGeom>
          <a:noFill/>
        </p:spPr>
        <p:txBody>
          <a:bodyPr wrap="none" lIns="73152" rIns="73152" tIns="36576" bIns="36576">
            <a:spAutoFit/>
          </a:bodyPr>
          <a:lstStyle/>
          <a:p>
            <a:pPr algn="r"/>
            <a:r>
              <a:rPr sz="830" b="0">
                <a:solidFill>
                  <a:srgbClr val="66707A"/>
                </a:solidFill>
                <a:latin typeface="Yu Gothic"/>
              </a:rPr>
              <a:t>約2時間15分</a:t>
            </a:r>
          </a:p>
        </p:txBody>
      </p:sp>
      <p:sp>
        <p:nvSpPr>
          <p:cNvPr id="22" name="Rounded Rectangle 21"/>
          <p:cNvSpPr/>
          <p:nvPr/>
        </p:nvSpPr>
        <p:spPr>
          <a:xfrm>
            <a:off x="502920" y="3026664"/>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1792" y="3099816"/>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13:15</a:t>
            </a:r>
          </a:p>
        </p:txBody>
      </p:sp>
      <p:sp>
        <p:nvSpPr>
          <p:cNvPr id="24" name="TextBox 23"/>
          <p:cNvSpPr txBox="1"/>
          <p:nvPr/>
        </p:nvSpPr>
        <p:spPr>
          <a:xfrm>
            <a:off x="1417320" y="3099816"/>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昼食</a:t>
            </a:r>
          </a:p>
        </p:txBody>
      </p:sp>
      <p:sp>
        <p:nvSpPr>
          <p:cNvPr id="25" name="TextBox 24"/>
          <p:cNvSpPr txBox="1"/>
          <p:nvPr/>
        </p:nvSpPr>
        <p:spPr>
          <a:xfrm>
            <a:off x="2084831" y="3090672"/>
            <a:ext cx="1234440" cy="274320"/>
          </a:xfrm>
          <a:prstGeom prst="rect">
            <a:avLst/>
          </a:prstGeom>
          <a:noFill/>
        </p:spPr>
        <p:txBody>
          <a:bodyPr wrap="none" lIns="73152" rIns="73152" tIns="36576" bIns="36576">
            <a:spAutoFit/>
          </a:bodyPr>
          <a:lstStyle/>
          <a:p>
            <a:pPr algn="l"/>
            <a:r>
              <a:rPr sz="900" b="1">
                <a:solidFill>
                  <a:srgbClr val="143753"/>
                </a:solidFill>
                <a:latin typeface="Yu Gothic"/>
              </a:rPr>
              <a:t>富良野市内</a:t>
            </a:r>
          </a:p>
        </p:txBody>
      </p:sp>
      <p:sp>
        <p:nvSpPr>
          <p:cNvPr id="26" name="TextBox 25"/>
          <p:cNvSpPr txBox="1"/>
          <p:nvPr/>
        </p:nvSpPr>
        <p:spPr>
          <a:xfrm>
            <a:off x="3246120" y="3081528"/>
            <a:ext cx="3063240" cy="310896"/>
          </a:xfrm>
          <a:prstGeom prst="rect">
            <a:avLst/>
          </a:prstGeom>
          <a:noFill/>
        </p:spPr>
        <p:txBody>
          <a:bodyPr wrap="none" lIns="73152" rIns="73152" tIns="36576" bIns="36576">
            <a:spAutoFit/>
          </a:bodyPr>
          <a:lstStyle/>
          <a:p>
            <a:pPr algn="l"/>
            <a:r>
              <a:rPr sz="830" b="0">
                <a:solidFill>
                  <a:srgbClr val="222B34"/>
                </a:solidFill>
                <a:latin typeface="Yu Gothic"/>
              </a:rPr>
              <a:t>富良野オムカレー、カフェ、道の駅系候補</a:t>
            </a:r>
          </a:p>
        </p:txBody>
      </p:sp>
      <p:sp>
        <p:nvSpPr>
          <p:cNvPr id="27" name="TextBox 26"/>
          <p:cNvSpPr txBox="1"/>
          <p:nvPr/>
        </p:nvSpPr>
        <p:spPr>
          <a:xfrm>
            <a:off x="6355080" y="3099816"/>
            <a:ext cx="411480" cy="256032"/>
          </a:xfrm>
          <a:prstGeom prst="rect">
            <a:avLst/>
          </a:prstGeom>
          <a:noFill/>
        </p:spPr>
        <p:txBody>
          <a:bodyPr wrap="none" lIns="73152" rIns="73152" tIns="36576" bIns="36576">
            <a:spAutoFit/>
          </a:bodyPr>
          <a:lstStyle/>
          <a:p>
            <a:pPr algn="r"/>
            <a:r>
              <a:rPr sz="830" b="0">
                <a:solidFill>
                  <a:srgbClr val="66707A"/>
                </a:solidFill>
                <a:latin typeface="Yu Gothic"/>
              </a:rPr>
              <a:t>60分</a:t>
            </a:r>
          </a:p>
        </p:txBody>
      </p:sp>
      <p:sp>
        <p:nvSpPr>
          <p:cNvPr id="28" name="Rounded Rectangle 27"/>
          <p:cNvSpPr/>
          <p:nvPr/>
        </p:nvSpPr>
        <p:spPr>
          <a:xfrm>
            <a:off x="502920" y="3593592"/>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1792" y="3666744"/>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14:30</a:t>
            </a:r>
          </a:p>
        </p:txBody>
      </p:sp>
      <p:sp>
        <p:nvSpPr>
          <p:cNvPr id="30" name="TextBox 29"/>
          <p:cNvSpPr txBox="1"/>
          <p:nvPr/>
        </p:nvSpPr>
        <p:spPr>
          <a:xfrm>
            <a:off x="1417320" y="3666744"/>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観光</a:t>
            </a:r>
          </a:p>
        </p:txBody>
      </p:sp>
      <p:sp>
        <p:nvSpPr>
          <p:cNvPr id="31" name="TextBox 30"/>
          <p:cNvSpPr txBox="1"/>
          <p:nvPr/>
        </p:nvSpPr>
        <p:spPr>
          <a:xfrm>
            <a:off x="2084831" y="3657600"/>
            <a:ext cx="1234440" cy="274320"/>
          </a:xfrm>
          <a:prstGeom prst="rect">
            <a:avLst/>
          </a:prstGeom>
          <a:noFill/>
        </p:spPr>
        <p:txBody>
          <a:bodyPr wrap="none" lIns="73152" rIns="73152" tIns="36576" bIns="36576">
            <a:spAutoFit/>
          </a:bodyPr>
          <a:lstStyle/>
          <a:p>
            <a:pPr algn="l"/>
            <a:r>
              <a:rPr sz="900" b="1">
                <a:solidFill>
                  <a:srgbClr val="143753"/>
                </a:solidFill>
                <a:latin typeface="Yu Gothic"/>
              </a:rPr>
              <a:t>ファーム富田周辺</a:t>
            </a:r>
          </a:p>
        </p:txBody>
      </p:sp>
      <p:sp>
        <p:nvSpPr>
          <p:cNvPr id="32" name="TextBox 31"/>
          <p:cNvSpPr txBox="1"/>
          <p:nvPr/>
        </p:nvSpPr>
        <p:spPr>
          <a:xfrm>
            <a:off x="3246120" y="3648456"/>
            <a:ext cx="3063240" cy="310896"/>
          </a:xfrm>
          <a:prstGeom prst="rect">
            <a:avLst/>
          </a:prstGeom>
          <a:noFill/>
        </p:spPr>
        <p:txBody>
          <a:bodyPr wrap="none" lIns="73152" rIns="73152" tIns="36576" bIns="36576">
            <a:spAutoFit/>
          </a:bodyPr>
          <a:lstStyle/>
          <a:p>
            <a:pPr algn="l"/>
            <a:r>
              <a:rPr sz="830" b="0">
                <a:solidFill>
                  <a:srgbClr val="222B34"/>
                </a:solidFill>
                <a:latin typeface="Yu Gothic"/>
              </a:rPr>
              <a:t>花畑、カフェ、写真撮影。混雑時は短縮</a:t>
            </a:r>
          </a:p>
        </p:txBody>
      </p:sp>
      <p:sp>
        <p:nvSpPr>
          <p:cNvPr id="33" name="TextBox 32"/>
          <p:cNvSpPr txBox="1"/>
          <p:nvPr/>
        </p:nvSpPr>
        <p:spPr>
          <a:xfrm>
            <a:off x="6355080" y="3666744"/>
            <a:ext cx="411480" cy="256032"/>
          </a:xfrm>
          <a:prstGeom prst="rect">
            <a:avLst/>
          </a:prstGeom>
          <a:noFill/>
        </p:spPr>
        <p:txBody>
          <a:bodyPr wrap="none" lIns="73152" rIns="73152" tIns="36576" bIns="36576">
            <a:spAutoFit/>
          </a:bodyPr>
          <a:lstStyle/>
          <a:p>
            <a:pPr algn="r"/>
            <a:r>
              <a:rPr sz="830" b="0">
                <a:solidFill>
                  <a:srgbClr val="66707A"/>
                </a:solidFill>
                <a:latin typeface="Yu Gothic"/>
              </a:rPr>
              <a:t>75分</a:t>
            </a:r>
          </a:p>
        </p:txBody>
      </p:sp>
      <p:sp>
        <p:nvSpPr>
          <p:cNvPr id="34" name="Rounded Rectangle 33"/>
          <p:cNvSpPr/>
          <p:nvPr/>
        </p:nvSpPr>
        <p:spPr>
          <a:xfrm>
            <a:off x="502920" y="4160520"/>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1792" y="4233672"/>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15:45</a:t>
            </a:r>
          </a:p>
        </p:txBody>
      </p:sp>
      <p:sp>
        <p:nvSpPr>
          <p:cNvPr id="36" name="TextBox 35"/>
          <p:cNvSpPr txBox="1"/>
          <p:nvPr/>
        </p:nvSpPr>
        <p:spPr>
          <a:xfrm>
            <a:off x="1417320" y="4233672"/>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観光</a:t>
            </a:r>
          </a:p>
        </p:txBody>
      </p:sp>
      <p:sp>
        <p:nvSpPr>
          <p:cNvPr id="37" name="TextBox 36"/>
          <p:cNvSpPr txBox="1"/>
          <p:nvPr/>
        </p:nvSpPr>
        <p:spPr>
          <a:xfrm>
            <a:off x="2084831" y="4224528"/>
            <a:ext cx="1234440" cy="274320"/>
          </a:xfrm>
          <a:prstGeom prst="rect">
            <a:avLst/>
          </a:prstGeom>
          <a:noFill/>
        </p:spPr>
        <p:txBody>
          <a:bodyPr wrap="none" lIns="73152" rIns="73152" tIns="36576" bIns="36576">
            <a:spAutoFit/>
          </a:bodyPr>
          <a:lstStyle/>
          <a:p>
            <a:pPr algn="l"/>
            <a:r>
              <a:rPr sz="900" b="1">
                <a:solidFill>
                  <a:srgbClr val="143753"/>
                </a:solidFill>
                <a:latin typeface="Yu Gothic"/>
              </a:rPr>
              <a:t>美瑛方面</a:t>
            </a:r>
          </a:p>
        </p:txBody>
      </p:sp>
      <p:sp>
        <p:nvSpPr>
          <p:cNvPr id="38" name="TextBox 37"/>
          <p:cNvSpPr txBox="1"/>
          <p:nvPr/>
        </p:nvSpPr>
        <p:spPr>
          <a:xfrm>
            <a:off x="3246120" y="4215384"/>
            <a:ext cx="3063240" cy="310896"/>
          </a:xfrm>
          <a:prstGeom prst="rect">
            <a:avLst/>
          </a:prstGeom>
          <a:noFill/>
        </p:spPr>
        <p:txBody>
          <a:bodyPr wrap="none" lIns="73152" rIns="73152" tIns="36576" bIns="36576">
            <a:spAutoFit/>
          </a:bodyPr>
          <a:lstStyle/>
          <a:p>
            <a:pPr algn="l"/>
            <a:r>
              <a:rPr sz="830" b="0">
                <a:solidFill>
                  <a:srgbClr val="222B34"/>
                </a:solidFill>
                <a:latin typeface="Yu Gothic"/>
              </a:rPr>
              <a:t>青い池または丘の景色を1か所だけ選ぶ</a:t>
            </a:r>
          </a:p>
        </p:txBody>
      </p:sp>
      <p:sp>
        <p:nvSpPr>
          <p:cNvPr id="39" name="TextBox 38"/>
          <p:cNvSpPr txBox="1"/>
          <p:nvPr/>
        </p:nvSpPr>
        <p:spPr>
          <a:xfrm>
            <a:off x="6355080" y="4233672"/>
            <a:ext cx="411480" cy="256032"/>
          </a:xfrm>
          <a:prstGeom prst="rect">
            <a:avLst/>
          </a:prstGeom>
          <a:noFill/>
        </p:spPr>
        <p:txBody>
          <a:bodyPr wrap="none" lIns="73152" rIns="73152" tIns="36576" bIns="36576">
            <a:spAutoFit/>
          </a:bodyPr>
          <a:lstStyle/>
          <a:p>
            <a:pPr algn="r"/>
            <a:r>
              <a:rPr sz="830" b="0">
                <a:solidFill>
                  <a:srgbClr val="66707A"/>
                </a:solidFill>
                <a:latin typeface="Yu Gothic"/>
              </a:rPr>
              <a:t>60分</a:t>
            </a:r>
          </a:p>
        </p:txBody>
      </p:sp>
      <p:sp>
        <p:nvSpPr>
          <p:cNvPr id="40" name="Rounded Rectangle 39"/>
          <p:cNvSpPr/>
          <p:nvPr/>
        </p:nvSpPr>
        <p:spPr>
          <a:xfrm>
            <a:off x="502920" y="4727448"/>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21792" y="4800600"/>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16:45</a:t>
            </a:r>
          </a:p>
        </p:txBody>
      </p:sp>
      <p:sp>
        <p:nvSpPr>
          <p:cNvPr id="42" name="TextBox 41"/>
          <p:cNvSpPr txBox="1"/>
          <p:nvPr/>
        </p:nvSpPr>
        <p:spPr>
          <a:xfrm>
            <a:off x="1417320" y="4800600"/>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移動</a:t>
            </a:r>
          </a:p>
        </p:txBody>
      </p:sp>
      <p:sp>
        <p:nvSpPr>
          <p:cNvPr id="43" name="TextBox 42"/>
          <p:cNvSpPr txBox="1"/>
          <p:nvPr/>
        </p:nvSpPr>
        <p:spPr>
          <a:xfrm>
            <a:off x="2084831" y="4791456"/>
            <a:ext cx="1234440" cy="274320"/>
          </a:xfrm>
          <a:prstGeom prst="rect">
            <a:avLst/>
          </a:prstGeom>
          <a:noFill/>
        </p:spPr>
        <p:txBody>
          <a:bodyPr wrap="none" lIns="73152" rIns="73152" tIns="36576" bIns="36576">
            <a:spAutoFit/>
          </a:bodyPr>
          <a:lstStyle/>
          <a:p>
            <a:pPr algn="l"/>
            <a:r>
              <a:rPr sz="900" b="1">
                <a:solidFill>
                  <a:srgbClr val="143753"/>
                </a:solidFill>
                <a:latin typeface="Yu Gothic"/>
              </a:rPr>
              <a:t>美瑛 → 層雲峡</a:t>
            </a:r>
          </a:p>
        </p:txBody>
      </p:sp>
      <p:sp>
        <p:nvSpPr>
          <p:cNvPr id="44" name="TextBox 43"/>
          <p:cNvSpPr txBox="1"/>
          <p:nvPr/>
        </p:nvSpPr>
        <p:spPr>
          <a:xfrm>
            <a:off x="3246120" y="4782312"/>
            <a:ext cx="3063240" cy="310896"/>
          </a:xfrm>
          <a:prstGeom prst="rect">
            <a:avLst/>
          </a:prstGeom>
          <a:noFill/>
        </p:spPr>
        <p:txBody>
          <a:bodyPr wrap="none" lIns="73152" rIns="73152" tIns="36576" bIns="36576">
            <a:spAutoFit/>
          </a:bodyPr>
          <a:lstStyle/>
          <a:p>
            <a:pPr algn="l"/>
            <a:r>
              <a:rPr sz="830" b="0">
                <a:solidFill>
                  <a:srgbClr val="222B34"/>
                </a:solidFill>
                <a:latin typeface="Yu Gothic"/>
              </a:rPr>
              <a:t>大雪山方面へ移動。途中休憩を挟む</a:t>
            </a:r>
          </a:p>
        </p:txBody>
      </p:sp>
      <p:sp>
        <p:nvSpPr>
          <p:cNvPr id="45" name="TextBox 44"/>
          <p:cNvSpPr txBox="1"/>
          <p:nvPr/>
        </p:nvSpPr>
        <p:spPr>
          <a:xfrm>
            <a:off x="6355080" y="4800600"/>
            <a:ext cx="411480" cy="256032"/>
          </a:xfrm>
          <a:prstGeom prst="rect">
            <a:avLst/>
          </a:prstGeom>
          <a:noFill/>
        </p:spPr>
        <p:txBody>
          <a:bodyPr wrap="none" lIns="73152" rIns="73152" tIns="36576" bIns="36576">
            <a:spAutoFit/>
          </a:bodyPr>
          <a:lstStyle/>
          <a:p>
            <a:pPr algn="r"/>
            <a:r>
              <a:rPr sz="830" b="0">
                <a:solidFill>
                  <a:srgbClr val="66707A"/>
                </a:solidFill>
                <a:latin typeface="Yu Gothic"/>
              </a:rPr>
              <a:t>約2時間</a:t>
            </a:r>
          </a:p>
        </p:txBody>
      </p:sp>
      <p:sp>
        <p:nvSpPr>
          <p:cNvPr id="46" name="Rounded Rectangle 45"/>
          <p:cNvSpPr/>
          <p:nvPr/>
        </p:nvSpPr>
        <p:spPr>
          <a:xfrm>
            <a:off x="502920" y="5294376"/>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21792" y="5367528"/>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18:45</a:t>
            </a:r>
          </a:p>
        </p:txBody>
      </p:sp>
      <p:sp>
        <p:nvSpPr>
          <p:cNvPr id="48" name="TextBox 47"/>
          <p:cNvSpPr txBox="1"/>
          <p:nvPr/>
        </p:nvSpPr>
        <p:spPr>
          <a:xfrm>
            <a:off x="1417320" y="5367528"/>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手続き</a:t>
            </a:r>
          </a:p>
        </p:txBody>
      </p:sp>
      <p:sp>
        <p:nvSpPr>
          <p:cNvPr id="49" name="TextBox 48"/>
          <p:cNvSpPr txBox="1"/>
          <p:nvPr/>
        </p:nvSpPr>
        <p:spPr>
          <a:xfrm>
            <a:off x="2084831" y="5358384"/>
            <a:ext cx="1234440" cy="274320"/>
          </a:xfrm>
          <a:prstGeom prst="rect">
            <a:avLst/>
          </a:prstGeom>
          <a:noFill/>
        </p:spPr>
        <p:txBody>
          <a:bodyPr wrap="none" lIns="73152" rIns="73152" tIns="36576" bIns="36576">
            <a:spAutoFit/>
          </a:bodyPr>
          <a:lstStyle/>
          <a:p>
            <a:pPr algn="l"/>
            <a:r>
              <a:rPr sz="900" b="1">
                <a:solidFill>
                  <a:srgbClr val="143753"/>
                </a:solidFill>
                <a:latin typeface="Yu Gothic"/>
              </a:rPr>
              <a:t>Sounkyo Auto Camp</a:t>
            </a:r>
          </a:p>
        </p:txBody>
      </p:sp>
      <p:sp>
        <p:nvSpPr>
          <p:cNvPr id="50" name="TextBox 49"/>
          <p:cNvSpPr txBox="1"/>
          <p:nvPr/>
        </p:nvSpPr>
        <p:spPr>
          <a:xfrm>
            <a:off x="3246120" y="5349240"/>
            <a:ext cx="3063240" cy="310896"/>
          </a:xfrm>
          <a:prstGeom prst="rect">
            <a:avLst/>
          </a:prstGeom>
          <a:noFill/>
        </p:spPr>
        <p:txBody>
          <a:bodyPr wrap="none" lIns="73152" rIns="73152" tIns="36576" bIns="36576">
            <a:spAutoFit/>
          </a:bodyPr>
          <a:lstStyle/>
          <a:p>
            <a:pPr algn="l"/>
            <a:r>
              <a:rPr sz="830" b="0">
                <a:solidFill>
                  <a:srgbClr val="222B34"/>
                </a:solidFill>
                <a:latin typeface="Yu Gothic"/>
              </a:rPr>
              <a:t>チェックイン、コテージ確認、荷下ろし</a:t>
            </a:r>
          </a:p>
        </p:txBody>
      </p:sp>
      <p:sp>
        <p:nvSpPr>
          <p:cNvPr id="51" name="TextBox 50"/>
          <p:cNvSpPr txBox="1"/>
          <p:nvPr/>
        </p:nvSpPr>
        <p:spPr>
          <a:xfrm>
            <a:off x="6355080" y="5367528"/>
            <a:ext cx="411480" cy="256032"/>
          </a:xfrm>
          <a:prstGeom prst="rect">
            <a:avLst/>
          </a:prstGeom>
          <a:noFill/>
        </p:spPr>
        <p:txBody>
          <a:bodyPr wrap="none" lIns="73152" rIns="73152" tIns="36576" bIns="36576">
            <a:spAutoFit/>
          </a:bodyPr>
          <a:lstStyle/>
          <a:p>
            <a:pPr algn="r"/>
            <a:r>
              <a:rPr sz="830" b="0">
                <a:solidFill>
                  <a:srgbClr val="66707A"/>
                </a:solidFill>
                <a:latin typeface="Yu Gothic"/>
              </a:rPr>
              <a:t>45分</a:t>
            </a:r>
          </a:p>
        </p:txBody>
      </p:sp>
      <p:sp>
        <p:nvSpPr>
          <p:cNvPr id="52" name="Rounded Rectangle 51"/>
          <p:cNvSpPr/>
          <p:nvPr/>
        </p:nvSpPr>
        <p:spPr>
          <a:xfrm>
            <a:off x="502920" y="5861304"/>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1792" y="5934456"/>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19:30</a:t>
            </a:r>
          </a:p>
        </p:txBody>
      </p:sp>
      <p:sp>
        <p:nvSpPr>
          <p:cNvPr id="54" name="TextBox 53"/>
          <p:cNvSpPr txBox="1"/>
          <p:nvPr/>
        </p:nvSpPr>
        <p:spPr>
          <a:xfrm>
            <a:off x="1417320" y="5934456"/>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夕食</a:t>
            </a:r>
          </a:p>
        </p:txBody>
      </p:sp>
      <p:sp>
        <p:nvSpPr>
          <p:cNvPr id="55" name="TextBox 54"/>
          <p:cNvSpPr txBox="1"/>
          <p:nvPr/>
        </p:nvSpPr>
        <p:spPr>
          <a:xfrm>
            <a:off x="2084831" y="5925312"/>
            <a:ext cx="1234440" cy="274320"/>
          </a:xfrm>
          <a:prstGeom prst="rect">
            <a:avLst/>
          </a:prstGeom>
          <a:noFill/>
        </p:spPr>
        <p:txBody>
          <a:bodyPr wrap="none" lIns="73152" rIns="73152" tIns="36576" bIns="36576">
            <a:spAutoFit/>
          </a:bodyPr>
          <a:lstStyle/>
          <a:p>
            <a:pPr algn="l"/>
            <a:r>
              <a:rPr sz="900" b="1">
                <a:solidFill>
                  <a:srgbClr val="143753"/>
                </a:solidFill>
                <a:latin typeface="Yu Gothic"/>
              </a:rPr>
              <a:t>層雲峡 / コテージ</a:t>
            </a:r>
          </a:p>
        </p:txBody>
      </p:sp>
      <p:sp>
        <p:nvSpPr>
          <p:cNvPr id="56" name="TextBox 55"/>
          <p:cNvSpPr txBox="1"/>
          <p:nvPr/>
        </p:nvSpPr>
        <p:spPr>
          <a:xfrm>
            <a:off x="3246120" y="5916168"/>
            <a:ext cx="3063240" cy="310896"/>
          </a:xfrm>
          <a:prstGeom prst="rect">
            <a:avLst/>
          </a:prstGeom>
          <a:noFill/>
        </p:spPr>
        <p:txBody>
          <a:bodyPr wrap="none" lIns="73152" rIns="73152" tIns="36576" bIns="36576">
            <a:spAutoFit/>
          </a:bodyPr>
          <a:lstStyle/>
          <a:p>
            <a:pPr algn="l"/>
            <a:r>
              <a:rPr sz="830" b="0">
                <a:solidFill>
                  <a:srgbClr val="222B34"/>
                </a:solidFill>
                <a:latin typeface="Yu Gothic"/>
              </a:rPr>
              <a:t>外食または簡単調理。遅くなる前提で軽め</a:t>
            </a:r>
          </a:p>
        </p:txBody>
      </p:sp>
      <p:sp>
        <p:nvSpPr>
          <p:cNvPr id="57" name="TextBox 56"/>
          <p:cNvSpPr txBox="1"/>
          <p:nvPr/>
        </p:nvSpPr>
        <p:spPr>
          <a:xfrm>
            <a:off x="6355080" y="5934456"/>
            <a:ext cx="411480" cy="256032"/>
          </a:xfrm>
          <a:prstGeom prst="rect">
            <a:avLst/>
          </a:prstGeom>
          <a:noFill/>
        </p:spPr>
        <p:txBody>
          <a:bodyPr wrap="none" lIns="73152" rIns="73152" tIns="36576" bIns="36576">
            <a:spAutoFit/>
          </a:bodyPr>
          <a:lstStyle/>
          <a:p>
            <a:pPr algn="r"/>
            <a:r>
              <a:rPr sz="830" b="0">
                <a:solidFill>
                  <a:srgbClr val="66707A"/>
                </a:solidFill>
                <a:latin typeface="Yu Gothic"/>
              </a:rPr>
              <a:t>60分</a:t>
            </a:r>
          </a:p>
        </p:txBody>
      </p:sp>
      <p:sp>
        <p:nvSpPr>
          <p:cNvPr id="58" name="Rounded Rectangle 57"/>
          <p:cNvSpPr/>
          <p:nvPr/>
        </p:nvSpPr>
        <p:spPr>
          <a:xfrm>
            <a:off x="502920" y="6428232"/>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21792" y="6501384"/>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21:00</a:t>
            </a:r>
          </a:p>
        </p:txBody>
      </p:sp>
      <p:sp>
        <p:nvSpPr>
          <p:cNvPr id="60" name="TextBox 59"/>
          <p:cNvSpPr txBox="1"/>
          <p:nvPr/>
        </p:nvSpPr>
        <p:spPr>
          <a:xfrm>
            <a:off x="1417320" y="6501384"/>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休憩</a:t>
            </a:r>
          </a:p>
        </p:txBody>
      </p:sp>
      <p:sp>
        <p:nvSpPr>
          <p:cNvPr id="61" name="TextBox 60"/>
          <p:cNvSpPr txBox="1"/>
          <p:nvPr/>
        </p:nvSpPr>
        <p:spPr>
          <a:xfrm>
            <a:off x="2084831" y="6492240"/>
            <a:ext cx="1234440" cy="274320"/>
          </a:xfrm>
          <a:prstGeom prst="rect">
            <a:avLst/>
          </a:prstGeom>
          <a:noFill/>
        </p:spPr>
        <p:txBody>
          <a:bodyPr wrap="none" lIns="73152" rIns="73152" tIns="36576" bIns="36576">
            <a:spAutoFit/>
          </a:bodyPr>
          <a:lstStyle/>
          <a:p>
            <a:pPr algn="l"/>
            <a:r>
              <a:rPr sz="900" b="1">
                <a:solidFill>
                  <a:srgbClr val="143753"/>
                </a:solidFill>
                <a:latin typeface="Yu Gothic"/>
              </a:rPr>
              <a:t>コテージ</a:t>
            </a:r>
          </a:p>
        </p:txBody>
      </p:sp>
      <p:sp>
        <p:nvSpPr>
          <p:cNvPr id="62" name="TextBox 61"/>
          <p:cNvSpPr txBox="1"/>
          <p:nvPr/>
        </p:nvSpPr>
        <p:spPr>
          <a:xfrm>
            <a:off x="3246120" y="6483096"/>
            <a:ext cx="3063240" cy="310896"/>
          </a:xfrm>
          <a:prstGeom prst="rect">
            <a:avLst/>
          </a:prstGeom>
          <a:noFill/>
        </p:spPr>
        <p:txBody>
          <a:bodyPr wrap="none" lIns="73152" rIns="73152" tIns="36576" bIns="36576">
            <a:spAutoFit/>
          </a:bodyPr>
          <a:lstStyle/>
          <a:p>
            <a:pPr algn="l"/>
            <a:r>
              <a:rPr sz="830" b="0">
                <a:solidFill>
                  <a:srgbClr val="222B34"/>
                </a:solidFill>
                <a:latin typeface="Yu Gothic"/>
              </a:rPr>
              <a:t>翌日の黒岳・滝観光に備えて休む</a:t>
            </a:r>
          </a:p>
        </p:txBody>
      </p:sp>
      <p:sp>
        <p:nvSpPr>
          <p:cNvPr id="63" name="TextBox 62"/>
          <p:cNvSpPr txBox="1"/>
          <p:nvPr/>
        </p:nvSpPr>
        <p:spPr>
          <a:xfrm>
            <a:off x="6355080" y="6501384"/>
            <a:ext cx="411480" cy="256032"/>
          </a:xfrm>
          <a:prstGeom prst="rect">
            <a:avLst/>
          </a:prstGeom>
          <a:noFill/>
        </p:spPr>
        <p:txBody>
          <a:bodyPr wrap="none" lIns="73152" rIns="73152" tIns="36576" bIns="36576">
            <a:spAutoFit/>
          </a:bodyPr>
          <a:lstStyle/>
          <a:p>
            <a:pPr algn="r"/>
            <a:r>
              <a:rPr sz="830" b="0">
                <a:solidFill>
                  <a:srgbClr val="66707A"/>
                </a:solidFill>
                <a:latin typeface="Yu Gothic"/>
              </a:rPr>
              <a:t>-</a:t>
            </a:r>
          </a:p>
        </p:txBody>
      </p:sp>
      <p:pic>
        <p:nvPicPr>
          <p:cNvPr id="64" name="Picture 63" descr="2026-08-05_ファーム富田.png"/>
          <p:cNvPicPr>
            <a:picLocks noChangeAspect="1"/>
          </p:cNvPicPr>
          <p:nvPr/>
        </p:nvPicPr>
        <p:blipFill>
          <a:blip r:embed="rId2"/>
          <a:stretch>
            <a:fillRect/>
          </a:stretch>
        </p:blipFill>
        <p:spPr>
          <a:xfrm>
            <a:off x="7360920" y="502920"/>
            <a:ext cx="4160520" cy="2331720"/>
          </a:xfrm>
          <a:prstGeom prst="rect">
            <a:avLst/>
          </a:prstGeom>
        </p:spPr>
      </p:pic>
      <p:sp>
        <p:nvSpPr>
          <p:cNvPr id="65" name="TextBox 64"/>
          <p:cNvSpPr txBox="1"/>
          <p:nvPr/>
        </p:nvSpPr>
        <p:spPr>
          <a:xfrm>
            <a:off x="7360920" y="3063240"/>
            <a:ext cx="4343400" cy="292608"/>
          </a:xfrm>
          <a:prstGeom prst="rect">
            <a:avLst/>
          </a:prstGeom>
          <a:noFill/>
        </p:spPr>
        <p:txBody>
          <a:bodyPr wrap="none" lIns="73152" rIns="73152" tIns="36576" bIns="36576">
            <a:spAutoFit/>
          </a:bodyPr>
          <a:lstStyle/>
          <a:p>
            <a:pPr algn="l"/>
            <a:r>
              <a:rPr sz="1500" b="1">
                <a:solidFill>
                  <a:srgbClr val="143753"/>
                </a:solidFill>
                <a:latin typeface="Yu Gothic"/>
              </a:rPr>
              <a:t>レストラン候補</a:t>
            </a:r>
          </a:p>
        </p:txBody>
      </p:sp>
      <p:sp>
        <p:nvSpPr>
          <p:cNvPr id="66" name="Rounded Rectangle 65"/>
          <p:cNvSpPr/>
          <p:nvPr/>
        </p:nvSpPr>
        <p:spPr>
          <a:xfrm>
            <a:off x="7360920" y="344728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434072" y="3502152"/>
            <a:ext cx="566928" cy="228600"/>
          </a:xfrm>
          <a:prstGeom prst="rect">
            <a:avLst/>
          </a:prstGeom>
          <a:noFill/>
        </p:spPr>
        <p:txBody>
          <a:bodyPr wrap="none" lIns="73152" rIns="73152" tIns="36576" bIns="36576">
            <a:spAutoFit/>
          </a:bodyPr>
          <a:lstStyle/>
          <a:p>
            <a:pPr algn="l"/>
            <a:r>
              <a:rPr sz="850" b="1">
                <a:solidFill>
                  <a:srgbClr val="D86352"/>
                </a:solidFill>
                <a:latin typeface="Yu Gothic"/>
              </a:rPr>
              <a:t>昼食</a:t>
            </a:r>
          </a:p>
        </p:txBody>
      </p:sp>
      <p:sp>
        <p:nvSpPr>
          <p:cNvPr id="68" name="TextBox 67"/>
          <p:cNvSpPr txBox="1"/>
          <p:nvPr/>
        </p:nvSpPr>
        <p:spPr>
          <a:xfrm>
            <a:off x="8001000" y="349300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富良野オムカレー候補</a:t>
            </a:r>
          </a:p>
        </p:txBody>
      </p:sp>
      <p:sp>
        <p:nvSpPr>
          <p:cNvPr id="69" name="TextBox 68"/>
          <p:cNvSpPr txBox="1"/>
          <p:nvPr/>
        </p:nvSpPr>
        <p:spPr>
          <a:xfrm>
            <a:off x="9509760" y="349300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富良野らしさを入れる第一候補</a:t>
            </a:r>
          </a:p>
        </p:txBody>
      </p:sp>
      <p:sp>
        <p:nvSpPr>
          <p:cNvPr id="70" name="Rounded Rectangle 69"/>
          <p:cNvSpPr/>
          <p:nvPr/>
        </p:nvSpPr>
        <p:spPr>
          <a:xfrm>
            <a:off x="7360920" y="395020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434072" y="4005072"/>
            <a:ext cx="566928" cy="228600"/>
          </a:xfrm>
          <a:prstGeom prst="rect">
            <a:avLst/>
          </a:prstGeom>
          <a:noFill/>
        </p:spPr>
        <p:txBody>
          <a:bodyPr wrap="none" lIns="73152" rIns="73152" tIns="36576" bIns="36576">
            <a:spAutoFit/>
          </a:bodyPr>
          <a:lstStyle/>
          <a:p>
            <a:pPr algn="l"/>
            <a:r>
              <a:rPr sz="850" b="1">
                <a:solidFill>
                  <a:srgbClr val="D86352"/>
                </a:solidFill>
                <a:latin typeface="Yu Gothic"/>
              </a:rPr>
              <a:t>昼食</a:t>
            </a:r>
          </a:p>
        </p:txBody>
      </p:sp>
      <p:sp>
        <p:nvSpPr>
          <p:cNvPr id="72" name="TextBox 71"/>
          <p:cNvSpPr txBox="1"/>
          <p:nvPr/>
        </p:nvSpPr>
        <p:spPr>
          <a:xfrm>
            <a:off x="8001000" y="399592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フラノマルシェ周辺</a:t>
            </a:r>
          </a:p>
        </p:txBody>
      </p:sp>
      <p:sp>
        <p:nvSpPr>
          <p:cNvPr id="73" name="TextBox 72"/>
          <p:cNvSpPr txBox="1"/>
          <p:nvPr/>
        </p:nvSpPr>
        <p:spPr>
          <a:xfrm>
            <a:off x="9509760" y="399592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駐車と買い物を兼ねやすい</a:t>
            </a:r>
          </a:p>
        </p:txBody>
      </p:sp>
      <p:sp>
        <p:nvSpPr>
          <p:cNvPr id="74" name="Rounded Rectangle 73"/>
          <p:cNvSpPr/>
          <p:nvPr/>
        </p:nvSpPr>
        <p:spPr>
          <a:xfrm>
            <a:off x="7360920" y="445312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7434072" y="4507992"/>
            <a:ext cx="566928" cy="228600"/>
          </a:xfrm>
          <a:prstGeom prst="rect">
            <a:avLst/>
          </a:prstGeom>
          <a:noFill/>
        </p:spPr>
        <p:txBody>
          <a:bodyPr wrap="none" lIns="73152" rIns="73152" tIns="36576" bIns="36576">
            <a:spAutoFit/>
          </a:bodyPr>
          <a:lstStyle/>
          <a:p>
            <a:pPr algn="l"/>
            <a:r>
              <a:rPr sz="850" b="1">
                <a:solidFill>
                  <a:srgbClr val="D86352"/>
                </a:solidFill>
                <a:latin typeface="Yu Gothic"/>
              </a:rPr>
              <a:t>休憩</a:t>
            </a:r>
          </a:p>
        </p:txBody>
      </p:sp>
      <p:sp>
        <p:nvSpPr>
          <p:cNvPr id="76" name="TextBox 75"/>
          <p:cNvSpPr txBox="1"/>
          <p:nvPr/>
        </p:nvSpPr>
        <p:spPr>
          <a:xfrm>
            <a:off x="8001000" y="449884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ファーム富田カフェ</a:t>
            </a:r>
          </a:p>
        </p:txBody>
      </p:sp>
      <p:sp>
        <p:nvSpPr>
          <p:cNvPr id="77" name="TextBox 76"/>
          <p:cNvSpPr txBox="1"/>
          <p:nvPr/>
        </p:nvSpPr>
        <p:spPr>
          <a:xfrm>
            <a:off x="9509760" y="449884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花畑観光中の軽食候補</a:t>
            </a:r>
          </a:p>
        </p:txBody>
      </p:sp>
      <p:sp>
        <p:nvSpPr>
          <p:cNvPr id="78" name="Rounded Rectangle 77"/>
          <p:cNvSpPr/>
          <p:nvPr/>
        </p:nvSpPr>
        <p:spPr>
          <a:xfrm>
            <a:off x="7360920" y="495604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7434072" y="5010912"/>
            <a:ext cx="566928" cy="228600"/>
          </a:xfrm>
          <a:prstGeom prst="rect">
            <a:avLst/>
          </a:prstGeom>
          <a:noFill/>
        </p:spPr>
        <p:txBody>
          <a:bodyPr wrap="none" lIns="73152" rIns="73152" tIns="36576" bIns="36576">
            <a:spAutoFit/>
          </a:bodyPr>
          <a:lstStyle/>
          <a:p>
            <a:pPr algn="l"/>
            <a:r>
              <a:rPr sz="850" b="1">
                <a:solidFill>
                  <a:srgbClr val="D86352"/>
                </a:solidFill>
                <a:latin typeface="Yu Gothic"/>
              </a:rPr>
              <a:t>夕食</a:t>
            </a:r>
          </a:p>
        </p:txBody>
      </p:sp>
      <p:sp>
        <p:nvSpPr>
          <p:cNvPr id="80" name="TextBox 79"/>
          <p:cNvSpPr txBox="1"/>
          <p:nvPr/>
        </p:nvSpPr>
        <p:spPr>
          <a:xfrm>
            <a:off x="8001000" y="500176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層雲峡温泉街の食堂</a:t>
            </a:r>
          </a:p>
        </p:txBody>
      </p:sp>
      <p:sp>
        <p:nvSpPr>
          <p:cNvPr id="81" name="TextBox 80"/>
          <p:cNvSpPr txBox="1"/>
          <p:nvPr/>
        </p:nvSpPr>
        <p:spPr>
          <a:xfrm>
            <a:off x="9509760" y="500176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到着が遅くなった場合は営業確認</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2026-08-06_黒岳ロープウェイ.png"/>
          <p:cNvPicPr>
            <a:picLocks noChangeAspect="1"/>
          </p:cNvPicPr>
          <p:nvPr/>
        </p:nvPicPr>
        <p:blipFill>
          <a:blip r:embed="rId2"/>
          <a:stretch>
            <a:fillRect/>
          </a:stretch>
        </p:blipFill>
        <p:spPr>
          <a:xfrm>
            <a:off x="7059168" y="0"/>
            <a:ext cx="5129784" cy="3886200"/>
          </a:xfrm>
          <a:prstGeom prst="rect">
            <a:avLst/>
          </a:prstGeom>
        </p:spPr>
      </p:pic>
      <p:sp>
        <p:nvSpPr>
          <p:cNvPr id="3" name="Rounded Rectangle 2"/>
          <p:cNvSpPr/>
          <p:nvPr/>
        </p:nvSpPr>
        <p:spPr>
          <a:xfrm>
            <a:off x="502920" y="347472"/>
            <a:ext cx="1325880" cy="329184"/>
          </a:xfrm>
          <a:prstGeom prst="roundRect">
            <a:avLst/>
          </a:prstGeom>
          <a:solidFill>
            <a:srgbClr val="D863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Yu Gothic"/>
              </a:rPr>
              <a:t>DAY 7</a:t>
            </a:r>
          </a:p>
        </p:txBody>
      </p:sp>
      <p:sp>
        <p:nvSpPr>
          <p:cNvPr id="4" name="TextBox 3"/>
          <p:cNvSpPr txBox="1"/>
          <p:nvPr/>
        </p:nvSpPr>
        <p:spPr>
          <a:xfrm>
            <a:off x="502920" y="749808"/>
            <a:ext cx="6126480" cy="548640"/>
          </a:xfrm>
          <a:prstGeom prst="rect">
            <a:avLst/>
          </a:prstGeom>
          <a:noFill/>
        </p:spPr>
        <p:txBody>
          <a:bodyPr wrap="none" lIns="73152" rIns="73152" tIns="36576" bIns="36576">
            <a:spAutoFit/>
          </a:bodyPr>
          <a:lstStyle/>
          <a:p>
            <a:pPr algn="l"/>
            <a:r>
              <a:rPr sz="2200" b="1">
                <a:solidFill>
                  <a:srgbClr val="143753"/>
                </a:solidFill>
                <a:latin typeface="Yu Gothic"/>
              </a:rPr>
              <a:t>2026-08-06  層雲峡で大雪山の自然を満喫</a:t>
            </a:r>
          </a:p>
        </p:txBody>
      </p:sp>
      <p:sp>
        <p:nvSpPr>
          <p:cNvPr id="5" name="TextBox 4"/>
          <p:cNvSpPr txBox="1"/>
          <p:nvPr/>
        </p:nvSpPr>
        <p:spPr>
          <a:xfrm>
            <a:off x="530352" y="1234440"/>
            <a:ext cx="5989320" cy="384048"/>
          </a:xfrm>
          <a:prstGeom prst="rect">
            <a:avLst/>
          </a:prstGeom>
          <a:noFill/>
        </p:spPr>
        <p:txBody>
          <a:bodyPr wrap="none" lIns="73152" rIns="73152" tIns="36576" bIns="36576">
            <a:spAutoFit/>
          </a:bodyPr>
          <a:lstStyle/>
          <a:p>
            <a:pPr algn="l"/>
            <a:r>
              <a:rPr sz="1300" b="1">
                <a:solidFill>
                  <a:srgbClr val="2C73A0"/>
                </a:solidFill>
                <a:latin typeface="Yu Gothic"/>
              </a:rPr>
              <a:t>層雲峡 / 黒岳 / 銀河・流星の滝</a:t>
            </a:r>
          </a:p>
        </p:txBody>
      </p:sp>
      <p:sp>
        <p:nvSpPr>
          <p:cNvPr id="6" name="TextBox 5"/>
          <p:cNvSpPr txBox="1"/>
          <p:nvPr/>
        </p:nvSpPr>
        <p:spPr>
          <a:xfrm>
            <a:off x="530352" y="1719072"/>
            <a:ext cx="6080760" cy="896112"/>
          </a:xfrm>
          <a:prstGeom prst="rect">
            <a:avLst/>
          </a:prstGeom>
          <a:noFill/>
        </p:spPr>
        <p:txBody>
          <a:bodyPr wrap="none" lIns="73152" rIns="73152" tIns="36576" bIns="36576">
            <a:spAutoFit/>
          </a:bodyPr>
          <a:lstStyle/>
          <a:p>
            <a:pPr algn="l"/>
            <a:r>
              <a:rPr sz="1230" b="0">
                <a:solidFill>
                  <a:srgbClr val="222B34"/>
                </a:solidFill>
                <a:latin typeface="Yu Gothic"/>
              </a:rPr>
              <a:t>層雲峡滞在日。黒岳ロープウェイ、銀河・流星の滝、温泉街散策を組み合わせ、大雪山の自然を無理なく楽しみます。天候が悪い場合は温泉と短時間散策に切り替えます。</a:t>
            </a:r>
          </a:p>
        </p:txBody>
      </p:sp>
      <p:sp>
        <p:nvSpPr>
          <p:cNvPr id="7" name="TextBox 6"/>
          <p:cNvSpPr txBox="1"/>
          <p:nvPr/>
        </p:nvSpPr>
        <p:spPr>
          <a:xfrm>
            <a:off x="530352" y="2852928"/>
            <a:ext cx="6126480" cy="292608"/>
          </a:xfrm>
          <a:prstGeom prst="rect">
            <a:avLst/>
          </a:prstGeom>
          <a:noFill/>
        </p:spPr>
        <p:txBody>
          <a:bodyPr wrap="none" lIns="73152" rIns="73152" tIns="36576" bIns="36576">
            <a:spAutoFit/>
          </a:bodyPr>
          <a:lstStyle/>
          <a:p>
            <a:pPr algn="l"/>
            <a:r>
              <a:rPr sz="1500" b="1">
                <a:solidFill>
                  <a:srgbClr val="143753"/>
                </a:solidFill>
                <a:latin typeface="Yu Gothic"/>
              </a:rPr>
              <a:t>この日の流れ</a:t>
            </a:r>
          </a:p>
        </p:txBody>
      </p:sp>
      <p:sp>
        <p:nvSpPr>
          <p:cNvPr id="8" name="Rounded Rectangle 7"/>
          <p:cNvSpPr/>
          <p:nvPr/>
        </p:nvSpPr>
        <p:spPr>
          <a:xfrm>
            <a:off x="502920" y="3246120"/>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3319272"/>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07:30</a:t>
            </a:r>
          </a:p>
        </p:txBody>
      </p:sp>
      <p:sp>
        <p:nvSpPr>
          <p:cNvPr id="10" name="TextBox 9"/>
          <p:cNvSpPr txBox="1"/>
          <p:nvPr/>
        </p:nvSpPr>
        <p:spPr>
          <a:xfrm>
            <a:off x="1417320" y="3319272"/>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朝食</a:t>
            </a:r>
          </a:p>
        </p:txBody>
      </p:sp>
      <p:sp>
        <p:nvSpPr>
          <p:cNvPr id="11" name="TextBox 10"/>
          <p:cNvSpPr txBox="1"/>
          <p:nvPr/>
        </p:nvSpPr>
        <p:spPr>
          <a:xfrm>
            <a:off x="2084831" y="3310128"/>
            <a:ext cx="1234440" cy="274320"/>
          </a:xfrm>
          <a:prstGeom prst="rect">
            <a:avLst/>
          </a:prstGeom>
          <a:noFill/>
        </p:spPr>
        <p:txBody>
          <a:bodyPr wrap="none" lIns="73152" rIns="73152" tIns="36576" bIns="36576">
            <a:spAutoFit/>
          </a:bodyPr>
          <a:lstStyle/>
          <a:p>
            <a:pPr algn="l"/>
            <a:r>
              <a:rPr sz="900" b="1">
                <a:solidFill>
                  <a:srgbClr val="143753"/>
                </a:solidFill>
                <a:latin typeface="Yu Gothic"/>
              </a:rPr>
              <a:t>コテージ</a:t>
            </a:r>
          </a:p>
        </p:txBody>
      </p:sp>
      <p:sp>
        <p:nvSpPr>
          <p:cNvPr id="12" name="TextBox 11"/>
          <p:cNvSpPr txBox="1"/>
          <p:nvPr/>
        </p:nvSpPr>
        <p:spPr>
          <a:xfrm>
            <a:off x="3246120" y="3300984"/>
            <a:ext cx="3063240" cy="310896"/>
          </a:xfrm>
          <a:prstGeom prst="rect">
            <a:avLst/>
          </a:prstGeom>
          <a:noFill/>
        </p:spPr>
        <p:txBody>
          <a:bodyPr wrap="none" lIns="73152" rIns="73152" tIns="36576" bIns="36576">
            <a:spAutoFit/>
          </a:bodyPr>
          <a:lstStyle/>
          <a:p>
            <a:pPr algn="l"/>
            <a:r>
              <a:rPr sz="830" b="0">
                <a:solidFill>
                  <a:srgbClr val="222B34"/>
                </a:solidFill>
                <a:latin typeface="Yu Gothic"/>
              </a:rPr>
              <a:t>朝食、山の天気とロープウェイ運行状況を確認</a:t>
            </a:r>
          </a:p>
        </p:txBody>
      </p:sp>
      <p:sp>
        <p:nvSpPr>
          <p:cNvPr id="13" name="TextBox 12"/>
          <p:cNvSpPr txBox="1"/>
          <p:nvPr/>
        </p:nvSpPr>
        <p:spPr>
          <a:xfrm>
            <a:off x="6355080" y="3319272"/>
            <a:ext cx="411480" cy="256032"/>
          </a:xfrm>
          <a:prstGeom prst="rect">
            <a:avLst/>
          </a:prstGeom>
          <a:noFill/>
        </p:spPr>
        <p:txBody>
          <a:bodyPr wrap="none" lIns="73152" rIns="73152" tIns="36576" bIns="36576">
            <a:spAutoFit/>
          </a:bodyPr>
          <a:lstStyle/>
          <a:p>
            <a:pPr algn="r"/>
            <a:r>
              <a:rPr sz="830" b="0">
                <a:solidFill>
                  <a:srgbClr val="66707A"/>
                </a:solidFill>
                <a:latin typeface="Yu Gothic"/>
              </a:rPr>
              <a:t>60分</a:t>
            </a:r>
          </a:p>
        </p:txBody>
      </p:sp>
      <p:sp>
        <p:nvSpPr>
          <p:cNvPr id="14" name="Rounded Rectangle 13"/>
          <p:cNvSpPr/>
          <p:nvPr/>
        </p:nvSpPr>
        <p:spPr>
          <a:xfrm>
            <a:off x="502920" y="3813048"/>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 y="3886200"/>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09:00</a:t>
            </a:r>
          </a:p>
        </p:txBody>
      </p:sp>
      <p:sp>
        <p:nvSpPr>
          <p:cNvPr id="16" name="TextBox 15"/>
          <p:cNvSpPr txBox="1"/>
          <p:nvPr/>
        </p:nvSpPr>
        <p:spPr>
          <a:xfrm>
            <a:off x="1417320" y="3886200"/>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移動</a:t>
            </a:r>
          </a:p>
        </p:txBody>
      </p:sp>
      <p:sp>
        <p:nvSpPr>
          <p:cNvPr id="17" name="TextBox 16"/>
          <p:cNvSpPr txBox="1"/>
          <p:nvPr/>
        </p:nvSpPr>
        <p:spPr>
          <a:xfrm>
            <a:off x="2084831" y="3877056"/>
            <a:ext cx="1234440" cy="274320"/>
          </a:xfrm>
          <a:prstGeom prst="rect">
            <a:avLst/>
          </a:prstGeom>
          <a:noFill/>
        </p:spPr>
        <p:txBody>
          <a:bodyPr wrap="none" lIns="73152" rIns="73152" tIns="36576" bIns="36576">
            <a:spAutoFit/>
          </a:bodyPr>
          <a:lstStyle/>
          <a:p>
            <a:pPr algn="l"/>
            <a:r>
              <a:rPr sz="900" b="1">
                <a:solidFill>
                  <a:srgbClr val="143753"/>
                </a:solidFill>
                <a:latin typeface="Yu Gothic"/>
              </a:rPr>
              <a:t>コテージ → 黒岳ロープウェイ</a:t>
            </a:r>
          </a:p>
        </p:txBody>
      </p:sp>
      <p:sp>
        <p:nvSpPr>
          <p:cNvPr id="18" name="TextBox 17"/>
          <p:cNvSpPr txBox="1"/>
          <p:nvPr/>
        </p:nvSpPr>
        <p:spPr>
          <a:xfrm>
            <a:off x="3246120" y="3867912"/>
            <a:ext cx="3063240" cy="310896"/>
          </a:xfrm>
          <a:prstGeom prst="rect">
            <a:avLst/>
          </a:prstGeom>
          <a:noFill/>
        </p:spPr>
        <p:txBody>
          <a:bodyPr wrap="none" lIns="73152" rIns="73152" tIns="36576" bIns="36576">
            <a:spAutoFit/>
          </a:bodyPr>
          <a:lstStyle/>
          <a:p>
            <a:pPr algn="l"/>
            <a:r>
              <a:rPr sz="830" b="0">
                <a:solidFill>
                  <a:srgbClr val="222B34"/>
                </a:solidFill>
                <a:latin typeface="Yu Gothic"/>
              </a:rPr>
              <a:t>駐車場へ移動</a:t>
            </a:r>
          </a:p>
        </p:txBody>
      </p:sp>
      <p:sp>
        <p:nvSpPr>
          <p:cNvPr id="19" name="TextBox 18"/>
          <p:cNvSpPr txBox="1"/>
          <p:nvPr/>
        </p:nvSpPr>
        <p:spPr>
          <a:xfrm>
            <a:off x="6355080" y="3886200"/>
            <a:ext cx="411480" cy="256032"/>
          </a:xfrm>
          <a:prstGeom prst="rect">
            <a:avLst/>
          </a:prstGeom>
          <a:noFill/>
        </p:spPr>
        <p:txBody>
          <a:bodyPr wrap="none" lIns="73152" rIns="73152" tIns="36576" bIns="36576">
            <a:spAutoFit/>
          </a:bodyPr>
          <a:lstStyle/>
          <a:p>
            <a:pPr algn="r"/>
            <a:r>
              <a:rPr sz="830" b="0">
                <a:solidFill>
                  <a:srgbClr val="66707A"/>
                </a:solidFill>
                <a:latin typeface="Yu Gothic"/>
              </a:rPr>
              <a:t>15分</a:t>
            </a:r>
          </a:p>
        </p:txBody>
      </p:sp>
      <p:sp>
        <p:nvSpPr>
          <p:cNvPr id="20" name="Rounded Rectangle 19"/>
          <p:cNvSpPr/>
          <p:nvPr/>
        </p:nvSpPr>
        <p:spPr>
          <a:xfrm>
            <a:off x="502920" y="4379976"/>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1792" y="4453128"/>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09:30</a:t>
            </a:r>
          </a:p>
        </p:txBody>
      </p:sp>
      <p:sp>
        <p:nvSpPr>
          <p:cNvPr id="22" name="TextBox 21"/>
          <p:cNvSpPr txBox="1"/>
          <p:nvPr/>
        </p:nvSpPr>
        <p:spPr>
          <a:xfrm>
            <a:off x="1417320" y="4453128"/>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観光</a:t>
            </a:r>
          </a:p>
        </p:txBody>
      </p:sp>
      <p:sp>
        <p:nvSpPr>
          <p:cNvPr id="23" name="TextBox 22"/>
          <p:cNvSpPr txBox="1"/>
          <p:nvPr/>
        </p:nvSpPr>
        <p:spPr>
          <a:xfrm>
            <a:off x="2084831" y="4443984"/>
            <a:ext cx="1234440" cy="274320"/>
          </a:xfrm>
          <a:prstGeom prst="rect">
            <a:avLst/>
          </a:prstGeom>
          <a:noFill/>
        </p:spPr>
        <p:txBody>
          <a:bodyPr wrap="none" lIns="73152" rIns="73152" tIns="36576" bIns="36576">
            <a:spAutoFit/>
          </a:bodyPr>
          <a:lstStyle/>
          <a:p>
            <a:pPr algn="l"/>
            <a:r>
              <a:rPr sz="900" b="1">
                <a:solidFill>
                  <a:srgbClr val="143753"/>
                </a:solidFill>
                <a:latin typeface="Yu Gothic"/>
              </a:rPr>
              <a:t>黒岳ロープウェイ</a:t>
            </a:r>
          </a:p>
        </p:txBody>
      </p:sp>
      <p:sp>
        <p:nvSpPr>
          <p:cNvPr id="24" name="TextBox 23"/>
          <p:cNvSpPr txBox="1"/>
          <p:nvPr/>
        </p:nvSpPr>
        <p:spPr>
          <a:xfrm>
            <a:off x="3246120" y="4434840"/>
            <a:ext cx="3063240" cy="310896"/>
          </a:xfrm>
          <a:prstGeom prst="rect">
            <a:avLst/>
          </a:prstGeom>
          <a:noFill/>
        </p:spPr>
        <p:txBody>
          <a:bodyPr wrap="none" lIns="73152" rIns="73152" tIns="36576" bIns="36576">
            <a:spAutoFit/>
          </a:bodyPr>
          <a:lstStyle/>
          <a:p>
            <a:pPr algn="l"/>
            <a:r>
              <a:rPr sz="830" b="0">
                <a:solidFill>
                  <a:srgbClr val="222B34"/>
                </a:solidFill>
                <a:latin typeface="Yu Gothic"/>
              </a:rPr>
              <a:t>ロープウェイで展望。余力があれば散策路へ</a:t>
            </a:r>
          </a:p>
        </p:txBody>
      </p:sp>
      <p:sp>
        <p:nvSpPr>
          <p:cNvPr id="25" name="TextBox 24"/>
          <p:cNvSpPr txBox="1"/>
          <p:nvPr/>
        </p:nvSpPr>
        <p:spPr>
          <a:xfrm>
            <a:off x="6355080" y="4453128"/>
            <a:ext cx="411480" cy="256032"/>
          </a:xfrm>
          <a:prstGeom prst="rect">
            <a:avLst/>
          </a:prstGeom>
          <a:noFill/>
        </p:spPr>
        <p:txBody>
          <a:bodyPr wrap="none" lIns="73152" rIns="73152" tIns="36576" bIns="36576">
            <a:spAutoFit/>
          </a:bodyPr>
          <a:lstStyle/>
          <a:p>
            <a:pPr algn="r"/>
            <a:r>
              <a:rPr sz="830" b="0">
                <a:solidFill>
                  <a:srgbClr val="66707A"/>
                </a:solidFill>
                <a:latin typeface="Yu Gothic"/>
              </a:rPr>
              <a:t>120分</a:t>
            </a:r>
          </a:p>
        </p:txBody>
      </p:sp>
      <p:sp>
        <p:nvSpPr>
          <p:cNvPr id="26" name="Rounded Rectangle 25"/>
          <p:cNvSpPr/>
          <p:nvPr/>
        </p:nvSpPr>
        <p:spPr>
          <a:xfrm>
            <a:off x="502920" y="4946904"/>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1792" y="5020056"/>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11:45</a:t>
            </a:r>
          </a:p>
        </p:txBody>
      </p:sp>
      <p:sp>
        <p:nvSpPr>
          <p:cNvPr id="28" name="TextBox 27"/>
          <p:cNvSpPr txBox="1"/>
          <p:nvPr/>
        </p:nvSpPr>
        <p:spPr>
          <a:xfrm>
            <a:off x="1417320" y="5020056"/>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昼食</a:t>
            </a:r>
          </a:p>
        </p:txBody>
      </p:sp>
      <p:sp>
        <p:nvSpPr>
          <p:cNvPr id="29" name="TextBox 28"/>
          <p:cNvSpPr txBox="1"/>
          <p:nvPr/>
        </p:nvSpPr>
        <p:spPr>
          <a:xfrm>
            <a:off x="2084831" y="5010912"/>
            <a:ext cx="1234440" cy="274320"/>
          </a:xfrm>
          <a:prstGeom prst="rect">
            <a:avLst/>
          </a:prstGeom>
          <a:noFill/>
        </p:spPr>
        <p:txBody>
          <a:bodyPr wrap="none" lIns="73152" rIns="73152" tIns="36576" bIns="36576">
            <a:spAutoFit/>
          </a:bodyPr>
          <a:lstStyle/>
          <a:p>
            <a:pPr algn="l"/>
            <a:r>
              <a:rPr sz="900" b="1">
                <a:solidFill>
                  <a:srgbClr val="143753"/>
                </a:solidFill>
                <a:latin typeface="Yu Gothic"/>
              </a:rPr>
              <a:t>層雲峡温泉街</a:t>
            </a:r>
          </a:p>
        </p:txBody>
      </p:sp>
      <p:sp>
        <p:nvSpPr>
          <p:cNvPr id="30" name="TextBox 29"/>
          <p:cNvSpPr txBox="1"/>
          <p:nvPr/>
        </p:nvSpPr>
        <p:spPr>
          <a:xfrm>
            <a:off x="3246120" y="5001768"/>
            <a:ext cx="3063240" cy="310896"/>
          </a:xfrm>
          <a:prstGeom prst="rect">
            <a:avLst/>
          </a:prstGeom>
          <a:noFill/>
        </p:spPr>
        <p:txBody>
          <a:bodyPr wrap="none" lIns="73152" rIns="73152" tIns="36576" bIns="36576">
            <a:spAutoFit/>
          </a:bodyPr>
          <a:lstStyle/>
          <a:p>
            <a:pPr algn="l"/>
            <a:r>
              <a:rPr sz="830" b="0">
                <a:solidFill>
                  <a:srgbClr val="222B34"/>
                </a:solidFill>
                <a:latin typeface="Yu Gothic"/>
              </a:rPr>
              <a:t>食堂、カフェ、または軽食</a:t>
            </a:r>
          </a:p>
        </p:txBody>
      </p:sp>
      <p:sp>
        <p:nvSpPr>
          <p:cNvPr id="31" name="TextBox 30"/>
          <p:cNvSpPr txBox="1"/>
          <p:nvPr/>
        </p:nvSpPr>
        <p:spPr>
          <a:xfrm>
            <a:off x="6355080" y="5020056"/>
            <a:ext cx="411480" cy="256032"/>
          </a:xfrm>
          <a:prstGeom prst="rect">
            <a:avLst/>
          </a:prstGeom>
          <a:noFill/>
        </p:spPr>
        <p:txBody>
          <a:bodyPr wrap="none" lIns="73152" rIns="73152" tIns="36576" bIns="36576">
            <a:spAutoFit/>
          </a:bodyPr>
          <a:lstStyle/>
          <a:p>
            <a:pPr algn="r"/>
            <a:r>
              <a:rPr sz="830" b="0">
                <a:solidFill>
                  <a:srgbClr val="66707A"/>
                </a:solidFill>
                <a:latin typeface="Yu Gothic"/>
              </a:rPr>
              <a:t>60分</a:t>
            </a:r>
          </a:p>
        </p:txBody>
      </p:sp>
      <p:sp>
        <p:nvSpPr>
          <p:cNvPr id="32" name="Rounded Rectangle 31"/>
          <p:cNvSpPr/>
          <p:nvPr/>
        </p:nvSpPr>
        <p:spPr>
          <a:xfrm>
            <a:off x="502920" y="5513832"/>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1792" y="5586984"/>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13:00</a:t>
            </a:r>
          </a:p>
        </p:txBody>
      </p:sp>
      <p:sp>
        <p:nvSpPr>
          <p:cNvPr id="34" name="TextBox 33"/>
          <p:cNvSpPr txBox="1"/>
          <p:nvPr/>
        </p:nvSpPr>
        <p:spPr>
          <a:xfrm>
            <a:off x="1417320" y="5586984"/>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休憩</a:t>
            </a:r>
          </a:p>
        </p:txBody>
      </p:sp>
      <p:sp>
        <p:nvSpPr>
          <p:cNvPr id="35" name="TextBox 34"/>
          <p:cNvSpPr txBox="1"/>
          <p:nvPr/>
        </p:nvSpPr>
        <p:spPr>
          <a:xfrm>
            <a:off x="2084831" y="5577840"/>
            <a:ext cx="1234440" cy="274320"/>
          </a:xfrm>
          <a:prstGeom prst="rect">
            <a:avLst/>
          </a:prstGeom>
          <a:noFill/>
        </p:spPr>
        <p:txBody>
          <a:bodyPr wrap="none" lIns="73152" rIns="73152" tIns="36576" bIns="36576">
            <a:spAutoFit/>
          </a:bodyPr>
          <a:lstStyle/>
          <a:p>
            <a:pPr algn="l"/>
            <a:r>
              <a:rPr sz="900" b="1">
                <a:solidFill>
                  <a:srgbClr val="143753"/>
                </a:solidFill>
                <a:latin typeface="Yu Gothic"/>
              </a:rPr>
              <a:t>コテージ</a:t>
            </a:r>
          </a:p>
        </p:txBody>
      </p:sp>
      <p:sp>
        <p:nvSpPr>
          <p:cNvPr id="36" name="TextBox 35"/>
          <p:cNvSpPr txBox="1"/>
          <p:nvPr/>
        </p:nvSpPr>
        <p:spPr>
          <a:xfrm>
            <a:off x="3246120" y="5568696"/>
            <a:ext cx="3063240" cy="310896"/>
          </a:xfrm>
          <a:prstGeom prst="rect">
            <a:avLst/>
          </a:prstGeom>
          <a:noFill/>
        </p:spPr>
        <p:txBody>
          <a:bodyPr wrap="none" lIns="73152" rIns="73152" tIns="36576" bIns="36576">
            <a:spAutoFit/>
          </a:bodyPr>
          <a:lstStyle/>
          <a:p>
            <a:pPr algn="l"/>
            <a:r>
              <a:rPr sz="830" b="0">
                <a:solidFill>
                  <a:srgbClr val="222B34"/>
                </a:solidFill>
                <a:latin typeface="Yu Gothic"/>
              </a:rPr>
              <a:t>午後に備えて休憩、洗濯、荷物整理</a:t>
            </a:r>
          </a:p>
        </p:txBody>
      </p:sp>
      <p:sp>
        <p:nvSpPr>
          <p:cNvPr id="37" name="TextBox 36"/>
          <p:cNvSpPr txBox="1"/>
          <p:nvPr/>
        </p:nvSpPr>
        <p:spPr>
          <a:xfrm>
            <a:off x="6355080" y="5586984"/>
            <a:ext cx="411480" cy="256032"/>
          </a:xfrm>
          <a:prstGeom prst="rect">
            <a:avLst/>
          </a:prstGeom>
          <a:noFill/>
        </p:spPr>
        <p:txBody>
          <a:bodyPr wrap="none" lIns="73152" rIns="73152" tIns="36576" bIns="36576">
            <a:spAutoFit/>
          </a:bodyPr>
          <a:lstStyle/>
          <a:p>
            <a:pPr algn="r"/>
            <a:r>
              <a:rPr sz="830" b="0">
                <a:solidFill>
                  <a:srgbClr val="66707A"/>
                </a:solidFill>
                <a:latin typeface="Yu Gothic"/>
              </a:rPr>
              <a:t>90分</a:t>
            </a:r>
          </a:p>
        </p:txBody>
      </p:sp>
      <p:sp>
        <p:nvSpPr>
          <p:cNvPr id="38" name="TextBox 37"/>
          <p:cNvSpPr txBox="1"/>
          <p:nvPr/>
        </p:nvSpPr>
        <p:spPr>
          <a:xfrm>
            <a:off x="7150608" y="4251960"/>
            <a:ext cx="4343400" cy="292608"/>
          </a:xfrm>
          <a:prstGeom prst="rect">
            <a:avLst/>
          </a:prstGeom>
          <a:noFill/>
        </p:spPr>
        <p:txBody>
          <a:bodyPr wrap="none" lIns="73152" rIns="73152" tIns="36576" bIns="36576">
            <a:spAutoFit/>
          </a:bodyPr>
          <a:lstStyle/>
          <a:p>
            <a:pPr algn="l"/>
            <a:r>
              <a:rPr sz="1500" b="1">
                <a:solidFill>
                  <a:srgbClr val="143753"/>
                </a:solidFill>
                <a:latin typeface="Yu Gothic"/>
              </a:rPr>
              <a:t>レストラン候補</a:t>
            </a:r>
          </a:p>
        </p:txBody>
      </p:sp>
      <p:sp>
        <p:nvSpPr>
          <p:cNvPr id="39" name="Rounded Rectangle 38"/>
          <p:cNvSpPr/>
          <p:nvPr/>
        </p:nvSpPr>
        <p:spPr>
          <a:xfrm>
            <a:off x="7150608" y="463600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223760" y="4690872"/>
            <a:ext cx="566928" cy="228600"/>
          </a:xfrm>
          <a:prstGeom prst="rect">
            <a:avLst/>
          </a:prstGeom>
          <a:noFill/>
        </p:spPr>
        <p:txBody>
          <a:bodyPr wrap="none" lIns="73152" rIns="73152" tIns="36576" bIns="36576">
            <a:spAutoFit/>
          </a:bodyPr>
          <a:lstStyle/>
          <a:p>
            <a:pPr algn="l"/>
            <a:r>
              <a:rPr sz="850" b="1">
                <a:solidFill>
                  <a:srgbClr val="D86352"/>
                </a:solidFill>
                <a:latin typeface="Yu Gothic"/>
              </a:rPr>
              <a:t>昼食</a:t>
            </a:r>
          </a:p>
        </p:txBody>
      </p:sp>
      <p:sp>
        <p:nvSpPr>
          <p:cNvPr id="41" name="TextBox 40"/>
          <p:cNvSpPr txBox="1"/>
          <p:nvPr/>
        </p:nvSpPr>
        <p:spPr>
          <a:xfrm>
            <a:off x="7790688" y="468172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層雲峡温泉街の食堂</a:t>
            </a:r>
          </a:p>
        </p:txBody>
      </p:sp>
      <p:sp>
        <p:nvSpPr>
          <p:cNvPr id="42" name="TextBox 41"/>
          <p:cNvSpPr txBox="1"/>
          <p:nvPr/>
        </p:nvSpPr>
        <p:spPr>
          <a:xfrm>
            <a:off x="9299448" y="468172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黒岳後に使いやすい</a:t>
            </a:r>
          </a:p>
        </p:txBody>
      </p:sp>
      <p:sp>
        <p:nvSpPr>
          <p:cNvPr id="43" name="Rounded Rectangle 42"/>
          <p:cNvSpPr/>
          <p:nvPr/>
        </p:nvSpPr>
        <p:spPr>
          <a:xfrm>
            <a:off x="7150608" y="513892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223760" y="5193792"/>
            <a:ext cx="566928" cy="228600"/>
          </a:xfrm>
          <a:prstGeom prst="rect">
            <a:avLst/>
          </a:prstGeom>
          <a:noFill/>
        </p:spPr>
        <p:txBody>
          <a:bodyPr wrap="none" lIns="73152" rIns="73152" tIns="36576" bIns="36576">
            <a:spAutoFit/>
          </a:bodyPr>
          <a:lstStyle/>
          <a:p>
            <a:pPr algn="l"/>
            <a:r>
              <a:rPr sz="850" b="1">
                <a:solidFill>
                  <a:srgbClr val="D86352"/>
                </a:solidFill>
                <a:latin typeface="Yu Gothic"/>
              </a:rPr>
              <a:t>休憩</a:t>
            </a:r>
          </a:p>
        </p:txBody>
      </p:sp>
      <p:sp>
        <p:nvSpPr>
          <p:cNvPr id="45" name="TextBox 44"/>
          <p:cNvSpPr txBox="1"/>
          <p:nvPr/>
        </p:nvSpPr>
        <p:spPr>
          <a:xfrm>
            <a:off x="7790688" y="518464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温泉街カフェ</a:t>
            </a:r>
          </a:p>
        </p:txBody>
      </p:sp>
      <p:sp>
        <p:nvSpPr>
          <p:cNvPr id="46" name="TextBox 45"/>
          <p:cNvSpPr txBox="1"/>
          <p:nvPr/>
        </p:nvSpPr>
        <p:spPr>
          <a:xfrm>
            <a:off x="9299448" y="518464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雨天時の休憩候補</a:t>
            </a:r>
          </a:p>
        </p:txBody>
      </p:sp>
      <p:sp>
        <p:nvSpPr>
          <p:cNvPr id="47" name="Rounded Rectangle 46"/>
          <p:cNvSpPr/>
          <p:nvPr/>
        </p:nvSpPr>
        <p:spPr>
          <a:xfrm>
            <a:off x="7150608" y="564184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223760" y="5696712"/>
            <a:ext cx="566928" cy="228600"/>
          </a:xfrm>
          <a:prstGeom prst="rect">
            <a:avLst/>
          </a:prstGeom>
          <a:noFill/>
        </p:spPr>
        <p:txBody>
          <a:bodyPr wrap="none" lIns="73152" rIns="73152" tIns="36576" bIns="36576">
            <a:spAutoFit/>
          </a:bodyPr>
          <a:lstStyle/>
          <a:p>
            <a:pPr algn="l"/>
            <a:r>
              <a:rPr sz="850" b="1">
                <a:solidFill>
                  <a:srgbClr val="D86352"/>
                </a:solidFill>
                <a:latin typeface="Yu Gothic"/>
              </a:rPr>
              <a:t>夕食</a:t>
            </a:r>
          </a:p>
        </p:txBody>
      </p:sp>
      <p:sp>
        <p:nvSpPr>
          <p:cNvPr id="49" name="TextBox 48"/>
          <p:cNvSpPr txBox="1"/>
          <p:nvPr/>
        </p:nvSpPr>
        <p:spPr>
          <a:xfrm>
            <a:off x="7790688" y="568756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コテージでキャンプ飯</a:t>
            </a:r>
          </a:p>
        </p:txBody>
      </p:sp>
      <p:sp>
        <p:nvSpPr>
          <p:cNvPr id="50" name="TextBox 49"/>
          <p:cNvSpPr txBox="1"/>
          <p:nvPr/>
        </p:nvSpPr>
        <p:spPr>
          <a:xfrm>
            <a:off x="9299448" y="568756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翌日の移動に備えて早めに済ませる</a:t>
            </a:r>
          </a:p>
        </p:txBody>
      </p:sp>
      <p:sp>
        <p:nvSpPr>
          <p:cNvPr id="51" name="Rounded Rectangle 50"/>
          <p:cNvSpPr/>
          <p:nvPr/>
        </p:nvSpPr>
        <p:spPr>
          <a:xfrm>
            <a:off x="7150608" y="614476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223760" y="6199632"/>
            <a:ext cx="566928" cy="228600"/>
          </a:xfrm>
          <a:prstGeom prst="rect">
            <a:avLst/>
          </a:prstGeom>
          <a:noFill/>
        </p:spPr>
        <p:txBody>
          <a:bodyPr wrap="none" lIns="73152" rIns="73152" tIns="36576" bIns="36576">
            <a:spAutoFit/>
          </a:bodyPr>
          <a:lstStyle/>
          <a:p>
            <a:pPr algn="l"/>
            <a:r>
              <a:rPr sz="850" b="1">
                <a:solidFill>
                  <a:srgbClr val="D86352"/>
                </a:solidFill>
                <a:latin typeface="Yu Gothic"/>
              </a:rPr>
              <a:t>予備</a:t>
            </a:r>
          </a:p>
        </p:txBody>
      </p:sp>
      <p:sp>
        <p:nvSpPr>
          <p:cNvPr id="53" name="TextBox 52"/>
          <p:cNvSpPr txBox="1"/>
          <p:nvPr/>
        </p:nvSpPr>
        <p:spPr>
          <a:xfrm>
            <a:off x="7790688" y="619048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コンビニ・売店で軽食</a:t>
            </a:r>
          </a:p>
        </p:txBody>
      </p:sp>
      <p:sp>
        <p:nvSpPr>
          <p:cNvPr id="54" name="TextBox 53"/>
          <p:cNvSpPr txBox="1"/>
          <p:nvPr/>
        </p:nvSpPr>
        <p:spPr>
          <a:xfrm>
            <a:off x="9299448" y="619048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営業時間に注意</a:t>
            </a:r>
          </a:p>
        </p:txBody>
      </p:sp>
      <p:sp>
        <p:nvSpPr>
          <p:cNvPr id="55" name="TextBox 54"/>
          <p:cNvSpPr txBox="1"/>
          <p:nvPr/>
        </p:nvSpPr>
        <p:spPr>
          <a:xfrm>
            <a:off x="7150608" y="6199632"/>
            <a:ext cx="4206240" cy="228600"/>
          </a:xfrm>
          <a:prstGeom prst="rect">
            <a:avLst/>
          </a:prstGeom>
          <a:noFill/>
        </p:spPr>
        <p:txBody>
          <a:bodyPr wrap="none" lIns="73152" rIns="73152" tIns="36576" bIns="36576">
            <a:spAutoFit/>
          </a:bodyPr>
          <a:lstStyle/>
          <a:p>
            <a:pPr algn="l"/>
            <a:r>
              <a:rPr sz="780" b="0">
                <a:solidFill>
                  <a:srgbClr val="66707A"/>
                </a:solidFill>
                <a:latin typeface="Yu Gothic"/>
              </a:rPr>
              <a:t>MEMO  黒岳は天候優先。風や雨が強ければ滝と温泉中心にする。 / 翌日は中標津方面へ長距離移動のため、夜に荷物をまとめる。</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CFCFA"/>
        </a:solidFill>
        <a:effectLst/>
      </p:bgPr>
    </p:bg>
    <p:spTree>
      <p:nvGrpSpPr>
        <p:cNvPr id="1" name=""/>
        <p:cNvGrpSpPr/>
        <p:nvPr/>
      </p:nvGrpSpPr>
      <p:grpSpPr/>
      <p:sp>
        <p:nvSpPr>
          <p:cNvPr id="2" name="Rounded Rectangle 1"/>
          <p:cNvSpPr/>
          <p:nvPr/>
        </p:nvSpPr>
        <p:spPr>
          <a:xfrm>
            <a:off x="502920" y="320040"/>
            <a:ext cx="1325880" cy="329184"/>
          </a:xfrm>
          <a:prstGeom prst="roundRect">
            <a:avLst/>
          </a:prstGeom>
          <a:solidFill>
            <a:srgbClr val="D863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Yu Gothic"/>
              </a:rPr>
              <a:t>DAY 7</a:t>
            </a:r>
          </a:p>
        </p:txBody>
      </p:sp>
      <p:sp>
        <p:nvSpPr>
          <p:cNvPr id="3" name="TextBox 2"/>
          <p:cNvSpPr txBox="1"/>
          <p:nvPr/>
        </p:nvSpPr>
        <p:spPr>
          <a:xfrm>
            <a:off x="502920" y="713232"/>
            <a:ext cx="6217920" cy="384048"/>
          </a:xfrm>
          <a:prstGeom prst="rect">
            <a:avLst/>
          </a:prstGeom>
          <a:noFill/>
        </p:spPr>
        <p:txBody>
          <a:bodyPr wrap="none" lIns="73152" rIns="73152" tIns="36576" bIns="36576">
            <a:spAutoFit/>
          </a:bodyPr>
          <a:lstStyle/>
          <a:p>
            <a:pPr algn="l"/>
            <a:r>
              <a:rPr sz="2200" b="1">
                <a:solidFill>
                  <a:srgbClr val="143753"/>
                </a:solidFill>
                <a:latin typeface="Yu Gothic"/>
              </a:rPr>
              <a:t>時刻ベース詳細スケジュール</a:t>
            </a:r>
          </a:p>
        </p:txBody>
      </p:sp>
      <p:sp>
        <p:nvSpPr>
          <p:cNvPr id="4" name="Rounded Rectangle 3"/>
          <p:cNvSpPr/>
          <p:nvPr/>
        </p:nvSpPr>
        <p:spPr>
          <a:xfrm>
            <a:off x="502920" y="1325880"/>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1399032"/>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07:30</a:t>
            </a:r>
          </a:p>
        </p:txBody>
      </p:sp>
      <p:sp>
        <p:nvSpPr>
          <p:cNvPr id="6" name="TextBox 5"/>
          <p:cNvSpPr txBox="1"/>
          <p:nvPr/>
        </p:nvSpPr>
        <p:spPr>
          <a:xfrm>
            <a:off x="1417320" y="1399032"/>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朝食</a:t>
            </a:r>
          </a:p>
        </p:txBody>
      </p:sp>
      <p:sp>
        <p:nvSpPr>
          <p:cNvPr id="7" name="TextBox 6"/>
          <p:cNvSpPr txBox="1"/>
          <p:nvPr/>
        </p:nvSpPr>
        <p:spPr>
          <a:xfrm>
            <a:off x="2084831" y="1389888"/>
            <a:ext cx="1234440" cy="274320"/>
          </a:xfrm>
          <a:prstGeom prst="rect">
            <a:avLst/>
          </a:prstGeom>
          <a:noFill/>
        </p:spPr>
        <p:txBody>
          <a:bodyPr wrap="none" lIns="73152" rIns="73152" tIns="36576" bIns="36576">
            <a:spAutoFit/>
          </a:bodyPr>
          <a:lstStyle/>
          <a:p>
            <a:pPr algn="l"/>
            <a:r>
              <a:rPr sz="900" b="1">
                <a:solidFill>
                  <a:srgbClr val="143753"/>
                </a:solidFill>
                <a:latin typeface="Yu Gothic"/>
              </a:rPr>
              <a:t>コテージ</a:t>
            </a:r>
          </a:p>
        </p:txBody>
      </p:sp>
      <p:sp>
        <p:nvSpPr>
          <p:cNvPr id="8" name="TextBox 7"/>
          <p:cNvSpPr txBox="1"/>
          <p:nvPr/>
        </p:nvSpPr>
        <p:spPr>
          <a:xfrm>
            <a:off x="3246120" y="1380744"/>
            <a:ext cx="3063240" cy="310896"/>
          </a:xfrm>
          <a:prstGeom prst="rect">
            <a:avLst/>
          </a:prstGeom>
          <a:noFill/>
        </p:spPr>
        <p:txBody>
          <a:bodyPr wrap="none" lIns="73152" rIns="73152" tIns="36576" bIns="36576">
            <a:spAutoFit/>
          </a:bodyPr>
          <a:lstStyle/>
          <a:p>
            <a:pPr algn="l"/>
            <a:r>
              <a:rPr sz="830" b="0">
                <a:solidFill>
                  <a:srgbClr val="222B34"/>
                </a:solidFill>
                <a:latin typeface="Yu Gothic"/>
              </a:rPr>
              <a:t>朝食、山の天気とロープウェイ運行状況を確認</a:t>
            </a:r>
          </a:p>
        </p:txBody>
      </p:sp>
      <p:sp>
        <p:nvSpPr>
          <p:cNvPr id="9" name="TextBox 8"/>
          <p:cNvSpPr txBox="1"/>
          <p:nvPr/>
        </p:nvSpPr>
        <p:spPr>
          <a:xfrm>
            <a:off x="6355080" y="1399032"/>
            <a:ext cx="411480" cy="256032"/>
          </a:xfrm>
          <a:prstGeom prst="rect">
            <a:avLst/>
          </a:prstGeom>
          <a:noFill/>
        </p:spPr>
        <p:txBody>
          <a:bodyPr wrap="none" lIns="73152" rIns="73152" tIns="36576" bIns="36576">
            <a:spAutoFit/>
          </a:bodyPr>
          <a:lstStyle/>
          <a:p>
            <a:pPr algn="r"/>
            <a:r>
              <a:rPr sz="830" b="0">
                <a:solidFill>
                  <a:srgbClr val="66707A"/>
                </a:solidFill>
                <a:latin typeface="Yu Gothic"/>
              </a:rPr>
              <a:t>60分</a:t>
            </a:r>
          </a:p>
        </p:txBody>
      </p:sp>
      <p:sp>
        <p:nvSpPr>
          <p:cNvPr id="10" name="Rounded Rectangle 9"/>
          <p:cNvSpPr/>
          <p:nvPr/>
        </p:nvSpPr>
        <p:spPr>
          <a:xfrm>
            <a:off x="502920" y="1892808"/>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965960"/>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09:00</a:t>
            </a:r>
          </a:p>
        </p:txBody>
      </p:sp>
      <p:sp>
        <p:nvSpPr>
          <p:cNvPr id="12" name="TextBox 11"/>
          <p:cNvSpPr txBox="1"/>
          <p:nvPr/>
        </p:nvSpPr>
        <p:spPr>
          <a:xfrm>
            <a:off x="1417320" y="1965960"/>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移動</a:t>
            </a:r>
          </a:p>
        </p:txBody>
      </p:sp>
      <p:sp>
        <p:nvSpPr>
          <p:cNvPr id="13" name="TextBox 12"/>
          <p:cNvSpPr txBox="1"/>
          <p:nvPr/>
        </p:nvSpPr>
        <p:spPr>
          <a:xfrm>
            <a:off x="2084831" y="1956816"/>
            <a:ext cx="1234440" cy="274320"/>
          </a:xfrm>
          <a:prstGeom prst="rect">
            <a:avLst/>
          </a:prstGeom>
          <a:noFill/>
        </p:spPr>
        <p:txBody>
          <a:bodyPr wrap="none" lIns="73152" rIns="73152" tIns="36576" bIns="36576">
            <a:spAutoFit/>
          </a:bodyPr>
          <a:lstStyle/>
          <a:p>
            <a:pPr algn="l"/>
            <a:r>
              <a:rPr sz="900" b="1">
                <a:solidFill>
                  <a:srgbClr val="143753"/>
                </a:solidFill>
                <a:latin typeface="Yu Gothic"/>
              </a:rPr>
              <a:t>コテージ → 黒岳ロープウェイ</a:t>
            </a:r>
          </a:p>
        </p:txBody>
      </p:sp>
      <p:sp>
        <p:nvSpPr>
          <p:cNvPr id="14" name="TextBox 13"/>
          <p:cNvSpPr txBox="1"/>
          <p:nvPr/>
        </p:nvSpPr>
        <p:spPr>
          <a:xfrm>
            <a:off x="3246120" y="1947672"/>
            <a:ext cx="3063240" cy="310896"/>
          </a:xfrm>
          <a:prstGeom prst="rect">
            <a:avLst/>
          </a:prstGeom>
          <a:noFill/>
        </p:spPr>
        <p:txBody>
          <a:bodyPr wrap="none" lIns="73152" rIns="73152" tIns="36576" bIns="36576">
            <a:spAutoFit/>
          </a:bodyPr>
          <a:lstStyle/>
          <a:p>
            <a:pPr algn="l"/>
            <a:r>
              <a:rPr sz="830" b="0">
                <a:solidFill>
                  <a:srgbClr val="222B34"/>
                </a:solidFill>
                <a:latin typeface="Yu Gothic"/>
              </a:rPr>
              <a:t>駐車場へ移動</a:t>
            </a:r>
          </a:p>
        </p:txBody>
      </p:sp>
      <p:sp>
        <p:nvSpPr>
          <p:cNvPr id="15" name="TextBox 14"/>
          <p:cNvSpPr txBox="1"/>
          <p:nvPr/>
        </p:nvSpPr>
        <p:spPr>
          <a:xfrm>
            <a:off x="6355080" y="1965960"/>
            <a:ext cx="411480" cy="256032"/>
          </a:xfrm>
          <a:prstGeom prst="rect">
            <a:avLst/>
          </a:prstGeom>
          <a:noFill/>
        </p:spPr>
        <p:txBody>
          <a:bodyPr wrap="none" lIns="73152" rIns="73152" tIns="36576" bIns="36576">
            <a:spAutoFit/>
          </a:bodyPr>
          <a:lstStyle/>
          <a:p>
            <a:pPr algn="r"/>
            <a:r>
              <a:rPr sz="830" b="0">
                <a:solidFill>
                  <a:srgbClr val="66707A"/>
                </a:solidFill>
                <a:latin typeface="Yu Gothic"/>
              </a:rPr>
              <a:t>15分</a:t>
            </a:r>
          </a:p>
        </p:txBody>
      </p:sp>
      <p:sp>
        <p:nvSpPr>
          <p:cNvPr id="16" name="Rounded Rectangle 15"/>
          <p:cNvSpPr/>
          <p:nvPr/>
        </p:nvSpPr>
        <p:spPr>
          <a:xfrm>
            <a:off x="502920" y="2459736"/>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792" y="2532888"/>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09:30</a:t>
            </a:r>
          </a:p>
        </p:txBody>
      </p:sp>
      <p:sp>
        <p:nvSpPr>
          <p:cNvPr id="18" name="TextBox 17"/>
          <p:cNvSpPr txBox="1"/>
          <p:nvPr/>
        </p:nvSpPr>
        <p:spPr>
          <a:xfrm>
            <a:off x="1417320" y="2532888"/>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観光</a:t>
            </a:r>
          </a:p>
        </p:txBody>
      </p:sp>
      <p:sp>
        <p:nvSpPr>
          <p:cNvPr id="19" name="TextBox 18"/>
          <p:cNvSpPr txBox="1"/>
          <p:nvPr/>
        </p:nvSpPr>
        <p:spPr>
          <a:xfrm>
            <a:off x="2084831" y="2523744"/>
            <a:ext cx="1234440" cy="274320"/>
          </a:xfrm>
          <a:prstGeom prst="rect">
            <a:avLst/>
          </a:prstGeom>
          <a:noFill/>
        </p:spPr>
        <p:txBody>
          <a:bodyPr wrap="none" lIns="73152" rIns="73152" tIns="36576" bIns="36576">
            <a:spAutoFit/>
          </a:bodyPr>
          <a:lstStyle/>
          <a:p>
            <a:pPr algn="l"/>
            <a:r>
              <a:rPr sz="900" b="1">
                <a:solidFill>
                  <a:srgbClr val="143753"/>
                </a:solidFill>
                <a:latin typeface="Yu Gothic"/>
              </a:rPr>
              <a:t>黒岳ロープウェイ</a:t>
            </a:r>
          </a:p>
        </p:txBody>
      </p:sp>
      <p:sp>
        <p:nvSpPr>
          <p:cNvPr id="20" name="TextBox 19"/>
          <p:cNvSpPr txBox="1"/>
          <p:nvPr/>
        </p:nvSpPr>
        <p:spPr>
          <a:xfrm>
            <a:off x="3246120" y="2514600"/>
            <a:ext cx="3063240" cy="310896"/>
          </a:xfrm>
          <a:prstGeom prst="rect">
            <a:avLst/>
          </a:prstGeom>
          <a:noFill/>
        </p:spPr>
        <p:txBody>
          <a:bodyPr wrap="none" lIns="73152" rIns="73152" tIns="36576" bIns="36576">
            <a:spAutoFit/>
          </a:bodyPr>
          <a:lstStyle/>
          <a:p>
            <a:pPr algn="l"/>
            <a:r>
              <a:rPr sz="830" b="0">
                <a:solidFill>
                  <a:srgbClr val="222B34"/>
                </a:solidFill>
                <a:latin typeface="Yu Gothic"/>
              </a:rPr>
              <a:t>ロープウェイで展望。余力があれば散策路へ</a:t>
            </a:r>
          </a:p>
        </p:txBody>
      </p:sp>
      <p:sp>
        <p:nvSpPr>
          <p:cNvPr id="21" name="TextBox 20"/>
          <p:cNvSpPr txBox="1"/>
          <p:nvPr/>
        </p:nvSpPr>
        <p:spPr>
          <a:xfrm>
            <a:off x="6355080" y="2532888"/>
            <a:ext cx="411480" cy="256032"/>
          </a:xfrm>
          <a:prstGeom prst="rect">
            <a:avLst/>
          </a:prstGeom>
          <a:noFill/>
        </p:spPr>
        <p:txBody>
          <a:bodyPr wrap="none" lIns="73152" rIns="73152" tIns="36576" bIns="36576">
            <a:spAutoFit/>
          </a:bodyPr>
          <a:lstStyle/>
          <a:p>
            <a:pPr algn="r"/>
            <a:r>
              <a:rPr sz="830" b="0">
                <a:solidFill>
                  <a:srgbClr val="66707A"/>
                </a:solidFill>
                <a:latin typeface="Yu Gothic"/>
              </a:rPr>
              <a:t>120分</a:t>
            </a:r>
          </a:p>
        </p:txBody>
      </p:sp>
      <p:sp>
        <p:nvSpPr>
          <p:cNvPr id="22" name="Rounded Rectangle 21"/>
          <p:cNvSpPr/>
          <p:nvPr/>
        </p:nvSpPr>
        <p:spPr>
          <a:xfrm>
            <a:off x="502920" y="3026664"/>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1792" y="3099816"/>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11:45</a:t>
            </a:r>
          </a:p>
        </p:txBody>
      </p:sp>
      <p:sp>
        <p:nvSpPr>
          <p:cNvPr id="24" name="TextBox 23"/>
          <p:cNvSpPr txBox="1"/>
          <p:nvPr/>
        </p:nvSpPr>
        <p:spPr>
          <a:xfrm>
            <a:off x="1417320" y="3099816"/>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昼食</a:t>
            </a:r>
          </a:p>
        </p:txBody>
      </p:sp>
      <p:sp>
        <p:nvSpPr>
          <p:cNvPr id="25" name="TextBox 24"/>
          <p:cNvSpPr txBox="1"/>
          <p:nvPr/>
        </p:nvSpPr>
        <p:spPr>
          <a:xfrm>
            <a:off x="2084831" y="3090672"/>
            <a:ext cx="1234440" cy="274320"/>
          </a:xfrm>
          <a:prstGeom prst="rect">
            <a:avLst/>
          </a:prstGeom>
          <a:noFill/>
        </p:spPr>
        <p:txBody>
          <a:bodyPr wrap="none" lIns="73152" rIns="73152" tIns="36576" bIns="36576">
            <a:spAutoFit/>
          </a:bodyPr>
          <a:lstStyle/>
          <a:p>
            <a:pPr algn="l"/>
            <a:r>
              <a:rPr sz="900" b="1">
                <a:solidFill>
                  <a:srgbClr val="143753"/>
                </a:solidFill>
                <a:latin typeface="Yu Gothic"/>
              </a:rPr>
              <a:t>層雲峡温泉街</a:t>
            </a:r>
          </a:p>
        </p:txBody>
      </p:sp>
      <p:sp>
        <p:nvSpPr>
          <p:cNvPr id="26" name="TextBox 25"/>
          <p:cNvSpPr txBox="1"/>
          <p:nvPr/>
        </p:nvSpPr>
        <p:spPr>
          <a:xfrm>
            <a:off x="3246120" y="3081528"/>
            <a:ext cx="3063240" cy="310896"/>
          </a:xfrm>
          <a:prstGeom prst="rect">
            <a:avLst/>
          </a:prstGeom>
          <a:noFill/>
        </p:spPr>
        <p:txBody>
          <a:bodyPr wrap="none" lIns="73152" rIns="73152" tIns="36576" bIns="36576">
            <a:spAutoFit/>
          </a:bodyPr>
          <a:lstStyle/>
          <a:p>
            <a:pPr algn="l"/>
            <a:r>
              <a:rPr sz="830" b="0">
                <a:solidFill>
                  <a:srgbClr val="222B34"/>
                </a:solidFill>
                <a:latin typeface="Yu Gothic"/>
              </a:rPr>
              <a:t>食堂、カフェ、または軽食</a:t>
            </a:r>
          </a:p>
        </p:txBody>
      </p:sp>
      <p:sp>
        <p:nvSpPr>
          <p:cNvPr id="27" name="TextBox 26"/>
          <p:cNvSpPr txBox="1"/>
          <p:nvPr/>
        </p:nvSpPr>
        <p:spPr>
          <a:xfrm>
            <a:off x="6355080" y="3099816"/>
            <a:ext cx="411480" cy="256032"/>
          </a:xfrm>
          <a:prstGeom prst="rect">
            <a:avLst/>
          </a:prstGeom>
          <a:noFill/>
        </p:spPr>
        <p:txBody>
          <a:bodyPr wrap="none" lIns="73152" rIns="73152" tIns="36576" bIns="36576">
            <a:spAutoFit/>
          </a:bodyPr>
          <a:lstStyle/>
          <a:p>
            <a:pPr algn="r"/>
            <a:r>
              <a:rPr sz="830" b="0">
                <a:solidFill>
                  <a:srgbClr val="66707A"/>
                </a:solidFill>
                <a:latin typeface="Yu Gothic"/>
              </a:rPr>
              <a:t>60分</a:t>
            </a:r>
          </a:p>
        </p:txBody>
      </p:sp>
      <p:sp>
        <p:nvSpPr>
          <p:cNvPr id="28" name="Rounded Rectangle 27"/>
          <p:cNvSpPr/>
          <p:nvPr/>
        </p:nvSpPr>
        <p:spPr>
          <a:xfrm>
            <a:off x="502920" y="3593592"/>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1792" y="3666744"/>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13:00</a:t>
            </a:r>
          </a:p>
        </p:txBody>
      </p:sp>
      <p:sp>
        <p:nvSpPr>
          <p:cNvPr id="30" name="TextBox 29"/>
          <p:cNvSpPr txBox="1"/>
          <p:nvPr/>
        </p:nvSpPr>
        <p:spPr>
          <a:xfrm>
            <a:off x="1417320" y="3666744"/>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休憩</a:t>
            </a:r>
          </a:p>
        </p:txBody>
      </p:sp>
      <p:sp>
        <p:nvSpPr>
          <p:cNvPr id="31" name="TextBox 30"/>
          <p:cNvSpPr txBox="1"/>
          <p:nvPr/>
        </p:nvSpPr>
        <p:spPr>
          <a:xfrm>
            <a:off x="2084831" y="3657600"/>
            <a:ext cx="1234440" cy="274320"/>
          </a:xfrm>
          <a:prstGeom prst="rect">
            <a:avLst/>
          </a:prstGeom>
          <a:noFill/>
        </p:spPr>
        <p:txBody>
          <a:bodyPr wrap="none" lIns="73152" rIns="73152" tIns="36576" bIns="36576">
            <a:spAutoFit/>
          </a:bodyPr>
          <a:lstStyle/>
          <a:p>
            <a:pPr algn="l"/>
            <a:r>
              <a:rPr sz="900" b="1">
                <a:solidFill>
                  <a:srgbClr val="143753"/>
                </a:solidFill>
                <a:latin typeface="Yu Gothic"/>
              </a:rPr>
              <a:t>コテージ</a:t>
            </a:r>
          </a:p>
        </p:txBody>
      </p:sp>
      <p:sp>
        <p:nvSpPr>
          <p:cNvPr id="32" name="TextBox 31"/>
          <p:cNvSpPr txBox="1"/>
          <p:nvPr/>
        </p:nvSpPr>
        <p:spPr>
          <a:xfrm>
            <a:off x="3246120" y="3648456"/>
            <a:ext cx="3063240" cy="310896"/>
          </a:xfrm>
          <a:prstGeom prst="rect">
            <a:avLst/>
          </a:prstGeom>
          <a:noFill/>
        </p:spPr>
        <p:txBody>
          <a:bodyPr wrap="none" lIns="73152" rIns="73152" tIns="36576" bIns="36576">
            <a:spAutoFit/>
          </a:bodyPr>
          <a:lstStyle/>
          <a:p>
            <a:pPr algn="l"/>
            <a:r>
              <a:rPr sz="830" b="0">
                <a:solidFill>
                  <a:srgbClr val="222B34"/>
                </a:solidFill>
                <a:latin typeface="Yu Gothic"/>
              </a:rPr>
              <a:t>午後に備えて休憩、洗濯、荷物整理</a:t>
            </a:r>
          </a:p>
        </p:txBody>
      </p:sp>
      <p:sp>
        <p:nvSpPr>
          <p:cNvPr id="33" name="TextBox 32"/>
          <p:cNvSpPr txBox="1"/>
          <p:nvPr/>
        </p:nvSpPr>
        <p:spPr>
          <a:xfrm>
            <a:off x="6355080" y="3666744"/>
            <a:ext cx="411480" cy="256032"/>
          </a:xfrm>
          <a:prstGeom prst="rect">
            <a:avLst/>
          </a:prstGeom>
          <a:noFill/>
        </p:spPr>
        <p:txBody>
          <a:bodyPr wrap="none" lIns="73152" rIns="73152" tIns="36576" bIns="36576">
            <a:spAutoFit/>
          </a:bodyPr>
          <a:lstStyle/>
          <a:p>
            <a:pPr algn="r"/>
            <a:r>
              <a:rPr sz="830" b="0">
                <a:solidFill>
                  <a:srgbClr val="66707A"/>
                </a:solidFill>
                <a:latin typeface="Yu Gothic"/>
              </a:rPr>
              <a:t>90分</a:t>
            </a:r>
          </a:p>
        </p:txBody>
      </p:sp>
      <p:sp>
        <p:nvSpPr>
          <p:cNvPr id="34" name="Rounded Rectangle 33"/>
          <p:cNvSpPr/>
          <p:nvPr/>
        </p:nvSpPr>
        <p:spPr>
          <a:xfrm>
            <a:off x="502920" y="4160520"/>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1792" y="4233672"/>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14:45</a:t>
            </a:r>
          </a:p>
        </p:txBody>
      </p:sp>
      <p:sp>
        <p:nvSpPr>
          <p:cNvPr id="36" name="TextBox 35"/>
          <p:cNvSpPr txBox="1"/>
          <p:nvPr/>
        </p:nvSpPr>
        <p:spPr>
          <a:xfrm>
            <a:off x="1417320" y="4233672"/>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観光</a:t>
            </a:r>
          </a:p>
        </p:txBody>
      </p:sp>
      <p:sp>
        <p:nvSpPr>
          <p:cNvPr id="37" name="TextBox 36"/>
          <p:cNvSpPr txBox="1"/>
          <p:nvPr/>
        </p:nvSpPr>
        <p:spPr>
          <a:xfrm>
            <a:off x="2084831" y="4224528"/>
            <a:ext cx="1234440" cy="274320"/>
          </a:xfrm>
          <a:prstGeom prst="rect">
            <a:avLst/>
          </a:prstGeom>
          <a:noFill/>
        </p:spPr>
        <p:txBody>
          <a:bodyPr wrap="none" lIns="73152" rIns="73152" tIns="36576" bIns="36576">
            <a:spAutoFit/>
          </a:bodyPr>
          <a:lstStyle/>
          <a:p>
            <a:pPr algn="l"/>
            <a:r>
              <a:rPr sz="900" b="1">
                <a:solidFill>
                  <a:srgbClr val="143753"/>
                </a:solidFill>
                <a:latin typeface="Yu Gothic"/>
              </a:rPr>
              <a:t>銀河・流星の滝</a:t>
            </a:r>
          </a:p>
        </p:txBody>
      </p:sp>
      <p:sp>
        <p:nvSpPr>
          <p:cNvPr id="38" name="TextBox 37"/>
          <p:cNvSpPr txBox="1"/>
          <p:nvPr/>
        </p:nvSpPr>
        <p:spPr>
          <a:xfrm>
            <a:off x="3246120" y="4215384"/>
            <a:ext cx="3063240" cy="310896"/>
          </a:xfrm>
          <a:prstGeom prst="rect">
            <a:avLst/>
          </a:prstGeom>
          <a:noFill/>
        </p:spPr>
        <p:txBody>
          <a:bodyPr wrap="none" lIns="73152" rIns="73152" tIns="36576" bIns="36576">
            <a:spAutoFit/>
          </a:bodyPr>
          <a:lstStyle/>
          <a:p>
            <a:pPr algn="l"/>
            <a:r>
              <a:rPr sz="830" b="0">
                <a:solidFill>
                  <a:srgbClr val="222B34"/>
                </a:solidFill>
                <a:latin typeface="Yu Gothic"/>
              </a:rPr>
              <a:t>滝見学と写真撮影。歩く距離は短め</a:t>
            </a:r>
          </a:p>
        </p:txBody>
      </p:sp>
      <p:sp>
        <p:nvSpPr>
          <p:cNvPr id="39" name="TextBox 38"/>
          <p:cNvSpPr txBox="1"/>
          <p:nvPr/>
        </p:nvSpPr>
        <p:spPr>
          <a:xfrm>
            <a:off x="6355080" y="4233672"/>
            <a:ext cx="411480" cy="256032"/>
          </a:xfrm>
          <a:prstGeom prst="rect">
            <a:avLst/>
          </a:prstGeom>
          <a:noFill/>
        </p:spPr>
        <p:txBody>
          <a:bodyPr wrap="none" lIns="73152" rIns="73152" tIns="36576" bIns="36576">
            <a:spAutoFit/>
          </a:bodyPr>
          <a:lstStyle/>
          <a:p>
            <a:pPr algn="r"/>
            <a:r>
              <a:rPr sz="830" b="0">
                <a:solidFill>
                  <a:srgbClr val="66707A"/>
                </a:solidFill>
                <a:latin typeface="Yu Gothic"/>
              </a:rPr>
              <a:t>75分</a:t>
            </a:r>
          </a:p>
        </p:txBody>
      </p:sp>
      <p:sp>
        <p:nvSpPr>
          <p:cNvPr id="40" name="Rounded Rectangle 39"/>
          <p:cNvSpPr/>
          <p:nvPr/>
        </p:nvSpPr>
        <p:spPr>
          <a:xfrm>
            <a:off x="502920" y="4727448"/>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21792" y="4800600"/>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16:15</a:t>
            </a:r>
          </a:p>
        </p:txBody>
      </p:sp>
      <p:sp>
        <p:nvSpPr>
          <p:cNvPr id="42" name="TextBox 41"/>
          <p:cNvSpPr txBox="1"/>
          <p:nvPr/>
        </p:nvSpPr>
        <p:spPr>
          <a:xfrm>
            <a:off x="1417320" y="4800600"/>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観光</a:t>
            </a:r>
          </a:p>
        </p:txBody>
      </p:sp>
      <p:sp>
        <p:nvSpPr>
          <p:cNvPr id="43" name="TextBox 42"/>
          <p:cNvSpPr txBox="1"/>
          <p:nvPr/>
        </p:nvSpPr>
        <p:spPr>
          <a:xfrm>
            <a:off x="2084831" y="4791456"/>
            <a:ext cx="1234440" cy="274320"/>
          </a:xfrm>
          <a:prstGeom prst="rect">
            <a:avLst/>
          </a:prstGeom>
          <a:noFill/>
        </p:spPr>
        <p:txBody>
          <a:bodyPr wrap="none" lIns="73152" rIns="73152" tIns="36576" bIns="36576">
            <a:spAutoFit/>
          </a:bodyPr>
          <a:lstStyle/>
          <a:p>
            <a:pPr algn="l"/>
            <a:r>
              <a:rPr sz="900" b="1">
                <a:solidFill>
                  <a:srgbClr val="143753"/>
                </a:solidFill>
                <a:latin typeface="Yu Gothic"/>
              </a:rPr>
              <a:t>大函 / 層雲峡散策</a:t>
            </a:r>
          </a:p>
        </p:txBody>
      </p:sp>
      <p:sp>
        <p:nvSpPr>
          <p:cNvPr id="44" name="TextBox 43"/>
          <p:cNvSpPr txBox="1"/>
          <p:nvPr/>
        </p:nvSpPr>
        <p:spPr>
          <a:xfrm>
            <a:off x="3246120" y="4782312"/>
            <a:ext cx="3063240" cy="310896"/>
          </a:xfrm>
          <a:prstGeom prst="rect">
            <a:avLst/>
          </a:prstGeom>
          <a:noFill/>
        </p:spPr>
        <p:txBody>
          <a:bodyPr wrap="none" lIns="73152" rIns="73152" tIns="36576" bIns="36576">
            <a:spAutoFit/>
          </a:bodyPr>
          <a:lstStyle/>
          <a:p>
            <a:pPr algn="l"/>
            <a:r>
              <a:rPr sz="830" b="0">
                <a:solidFill>
                  <a:srgbClr val="222B34"/>
                </a:solidFill>
                <a:latin typeface="Yu Gothic"/>
              </a:rPr>
              <a:t>天候と体力に応じて短時間散策</a:t>
            </a:r>
          </a:p>
        </p:txBody>
      </p:sp>
      <p:sp>
        <p:nvSpPr>
          <p:cNvPr id="45" name="TextBox 44"/>
          <p:cNvSpPr txBox="1"/>
          <p:nvPr/>
        </p:nvSpPr>
        <p:spPr>
          <a:xfrm>
            <a:off x="6355080" y="4800600"/>
            <a:ext cx="411480" cy="256032"/>
          </a:xfrm>
          <a:prstGeom prst="rect">
            <a:avLst/>
          </a:prstGeom>
          <a:noFill/>
        </p:spPr>
        <p:txBody>
          <a:bodyPr wrap="none" lIns="73152" rIns="73152" tIns="36576" bIns="36576">
            <a:spAutoFit/>
          </a:bodyPr>
          <a:lstStyle/>
          <a:p>
            <a:pPr algn="r"/>
            <a:r>
              <a:rPr sz="830" b="0">
                <a:solidFill>
                  <a:srgbClr val="66707A"/>
                </a:solidFill>
                <a:latin typeface="Yu Gothic"/>
              </a:rPr>
              <a:t>60分</a:t>
            </a:r>
          </a:p>
        </p:txBody>
      </p:sp>
      <p:sp>
        <p:nvSpPr>
          <p:cNvPr id="46" name="Rounded Rectangle 45"/>
          <p:cNvSpPr/>
          <p:nvPr/>
        </p:nvSpPr>
        <p:spPr>
          <a:xfrm>
            <a:off x="502920" y="5294376"/>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21792" y="5367528"/>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17:30</a:t>
            </a:r>
          </a:p>
        </p:txBody>
      </p:sp>
      <p:sp>
        <p:nvSpPr>
          <p:cNvPr id="48" name="TextBox 47"/>
          <p:cNvSpPr txBox="1"/>
          <p:nvPr/>
        </p:nvSpPr>
        <p:spPr>
          <a:xfrm>
            <a:off x="1417320" y="5367528"/>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休憩</a:t>
            </a:r>
          </a:p>
        </p:txBody>
      </p:sp>
      <p:sp>
        <p:nvSpPr>
          <p:cNvPr id="49" name="TextBox 48"/>
          <p:cNvSpPr txBox="1"/>
          <p:nvPr/>
        </p:nvSpPr>
        <p:spPr>
          <a:xfrm>
            <a:off x="2084831" y="5358384"/>
            <a:ext cx="1234440" cy="274320"/>
          </a:xfrm>
          <a:prstGeom prst="rect">
            <a:avLst/>
          </a:prstGeom>
          <a:noFill/>
        </p:spPr>
        <p:txBody>
          <a:bodyPr wrap="none" lIns="73152" rIns="73152" tIns="36576" bIns="36576">
            <a:spAutoFit/>
          </a:bodyPr>
          <a:lstStyle/>
          <a:p>
            <a:pPr algn="l"/>
            <a:r>
              <a:rPr sz="900" b="1">
                <a:solidFill>
                  <a:srgbClr val="143753"/>
                </a:solidFill>
                <a:latin typeface="Yu Gothic"/>
              </a:rPr>
              <a:t>温泉街 / コテージ</a:t>
            </a:r>
          </a:p>
        </p:txBody>
      </p:sp>
      <p:sp>
        <p:nvSpPr>
          <p:cNvPr id="50" name="TextBox 49"/>
          <p:cNvSpPr txBox="1"/>
          <p:nvPr/>
        </p:nvSpPr>
        <p:spPr>
          <a:xfrm>
            <a:off x="3246120" y="5349240"/>
            <a:ext cx="3063240" cy="310896"/>
          </a:xfrm>
          <a:prstGeom prst="rect">
            <a:avLst/>
          </a:prstGeom>
          <a:noFill/>
        </p:spPr>
        <p:txBody>
          <a:bodyPr wrap="none" lIns="73152" rIns="73152" tIns="36576" bIns="36576">
            <a:spAutoFit/>
          </a:bodyPr>
          <a:lstStyle/>
          <a:p>
            <a:pPr algn="l"/>
            <a:r>
              <a:rPr sz="830" b="0">
                <a:solidFill>
                  <a:srgbClr val="222B34"/>
                </a:solidFill>
                <a:latin typeface="Yu Gothic"/>
              </a:rPr>
              <a:t>温泉または早めの休憩</a:t>
            </a:r>
          </a:p>
        </p:txBody>
      </p:sp>
      <p:sp>
        <p:nvSpPr>
          <p:cNvPr id="51" name="TextBox 50"/>
          <p:cNvSpPr txBox="1"/>
          <p:nvPr/>
        </p:nvSpPr>
        <p:spPr>
          <a:xfrm>
            <a:off x="6355080" y="5367528"/>
            <a:ext cx="411480" cy="256032"/>
          </a:xfrm>
          <a:prstGeom prst="rect">
            <a:avLst/>
          </a:prstGeom>
          <a:noFill/>
        </p:spPr>
        <p:txBody>
          <a:bodyPr wrap="none" lIns="73152" rIns="73152" tIns="36576" bIns="36576">
            <a:spAutoFit/>
          </a:bodyPr>
          <a:lstStyle/>
          <a:p>
            <a:pPr algn="r"/>
            <a:r>
              <a:rPr sz="830" b="0">
                <a:solidFill>
                  <a:srgbClr val="66707A"/>
                </a:solidFill>
                <a:latin typeface="Yu Gothic"/>
              </a:rPr>
              <a:t>60分</a:t>
            </a:r>
          </a:p>
        </p:txBody>
      </p:sp>
      <p:sp>
        <p:nvSpPr>
          <p:cNvPr id="52" name="Rounded Rectangle 51"/>
          <p:cNvSpPr/>
          <p:nvPr/>
        </p:nvSpPr>
        <p:spPr>
          <a:xfrm>
            <a:off x="502920" y="5861304"/>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1792" y="5934456"/>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18:45</a:t>
            </a:r>
          </a:p>
        </p:txBody>
      </p:sp>
      <p:sp>
        <p:nvSpPr>
          <p:cNvPr id="54" name="TextBox 53"/>
          <p:cNvSpPr txBox="1"/>
          <p:nvPr/>
        </p:nvSpPr>
        <p:spPr>
          <a:xfrm>
            <a:off x="1417320" y="5934456"/>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夕食</a:t>
            </a:r>
          </a:p>
        </p:txBody>
      </p:sp>
      <p:sp>
        <p:nvSpPr>
          <p:cNvPr id="55" name="TextBox 54"/>
          <p:cNvSpPr txBox="1"/>
          <p:nvPr/>
        </p:nvSpPr>
        <p:spPr>
          <a:xfrm>
            <a:off x="2084831" y="5925312"/>
            <a:ext cx="1234440" cy="274320"/>
          </a:xfrm>
          <a:prstGeom prst="rect">
            <a:avLst/>
          </a:prstGeom>
          <a:noFill/>
        </p:spPr>
        <p:txBody>
          <a:bodyPr wrap="none" lIns="73152" rIns="73152" tIns="36576" bIns="36576">
            <a:spAutoFit/>
          </a:bodyPr>
          <a:lstStyle/>
          <a:p>
            <a:pPr algn="l"/>
            <a:r>
              <a:rPr sz="900" b="1">
                <a:solidFill>
                  <a:srgbClr val="143753"/>
                </a:solidFill>
                <a:latin typeface="Yu Gothic"/>
              </a:rPr>
              <a:t>コテージ</a:t>
            </a:r>
          </a:p>
        </p:txBody>
      </p:sp>
      <p:sp>
        <p:nvSpPr>
          <p:cNvPr id="56" name="TextBox 55"/>
          <p:cNvSpPr txBox="1"/>
          <p:nvPr/>
        </p:nvSpPr>
        <p:spPr>
          <a:xfrm>
            <a:off x="3246120" y="5916168"/>
            <a:ext cx="3063240" cy="310896"/>
          </a:xfrm>
          <a:prstGeom prst="rect">
            <a:avLst/>
          </a:prstGeom>
          <a:noFill/>
        </p:spPr>
        <p:txBody>
          <a:bodyPr wrap="none" lIns="73152" rIns="73152" tIns="36576" bIns="36576">
            <a:spAutoFit/>
          </a:bodyPr>
          <a:lstStyle/>
          <a:p>
            <a:pPr algn="l"/>
            <a:r>
              <a:rPr sz="830" b="0">
                <a:solidFill>
                  <a:srgbClr val="222B34"/>
                </a:solidFill>
                <a:latin typeface="Yu Gothic"/>
              </a:rPr>
              <a:t>キャンプ飯。翌日の道東移動準備</a:t>
            </a:r>
          </a:p>
        </p:txBody>
      </p:sp>
      <p:sp>
        <p:nvSpPr>
          <p:cNvPr id="57" name="TextBox 56"/>
          <p:cNvSpPr txBox="1"/>
          <p:nvPr/>
        </p:nvSpPr>
        <p:spPr>
          <a:xfrm>
            <a:off x="6355080" y="5934456"/>
            <a:ext cx="411480" cy="256032"/>
          </a:xfrm>
          <a:prstGeom prst="rect">
            <a:avLst/>
          </a:prstGeom>
          <a:noFill/>
        </p:spPr>
        <p:txBody>
          <a:bodyPr wrap="none" lIns="73152" rIns="73152" tIns="36576" bIns="36576">
            <a:spAutoFit/>
          </a:bodyPr>
          <a:lstStyle/>
          <a:p>
            <a:pPr algn="r"/>
            <a:r>
              <a:rPr sz="830" b="0">
                <a:solidFill>
                  <a:srgbClr val="66707A"/>
                </a:solidFill>
                <a:latin typeface="Yu Gothic"/>
              </a:rPr>
              <a:t>90分</a:t>
            </a:r>
          </a:p>
        </p:txBody>
      </p:sp>
      <p:pic>
        <p:nvPicPr>
          <p:cNvPr id="58" name="Picture 57" descr="2026-08-06_黒岳ロープウェイ.png"/>
          <p:cNvPicPr>
            <a:picLocks noChangeAspect="1"/>
          </p:cNvPicPr>
          <p:nvPr/>
        </p:nvPicPr>
        <p:blipFill>
          <a:blip r:embed="rId2"/>
          <a:stretch>
            <a:fillRect/>
          </a:stretch>
        </p:blipFill>
        <p:spPr>
          <a:xfrm>
            <a:off x="7360920" y="502920"/>
            <a:ext cx="4160520" cy="2331720"/>
          </a:xfrm>
          <a:prstGeom prst="rect">
            <a:avLst/>
          </a:prstGeom>
        </p:spPr>
      </p:pic>
      <p:sp>
        <p:nvSpPr>
          <p:cNvPr id="59" name="TextBox 58"/>
          <p:cNvSpPr txBox="1"/>
          <p:nvPr/>
        </p:nvSpPr>
        <p:spPr>
          <a:xfrm>
            <a:off x="7360920" y="3063240"/>
            <a:ext cx="4343400" cy="292608"/>
          </a:xfrm>
          <a:prstGeom prst="rect">
            <a:avLst/>
          </a:prstGeom>
          <a:noFill/>
        </p:spPr>
        <p:txBody>
          <a:bodyPr wrap="none" lIns="73152" rIns="73152" tIns="36576" bIns="36576">
            <a:spAutoFit/>
          </a:bodyPr>
          <a:lstStyle/>
          <a:p>
            <a:pPr algn="l"/>
            <a:r>
              <a:rPr sz="1500" b="1">
                <a:solidFill>
                  <a:srgbClr val="143753"/>
                </a:solidFill>
                <a:latin typeface="Yu Gothic"/>
              </a:rPr>
              <a:t>レストラン候補</a:t>
            </a:r>
          </a:p>
        </p:txBody>
      </p:sp>
      <p:sp>
        <p:nvSpPr>
          <p:cNvPr id="60" name="Rounded Rectangle 59"/>
          <p:cNvSpPr/>
          <p:nvPr/>
        </p:nvSpPr>
        <p:spPr>
          <a:xfrm>
            <a:off x="7360920" y="344728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434072" y="3502152"/>
            <a:ext cx="566928" cy="228600"/>
          </a:xfrm>
          <a:prstGeom prst="rect">
            <a:avLst/>
          </a:prstGeom>
          <a:noFill/>
        </p:spPr>
        <p:txBody>
          <a:bodyPr wrap="none" lIns="73152" rIns="73152" tIns="36576" bIns="36576">
            <a:spAutoFit/>
          </a:bodyPr>
          <a:lstStyle/>
          <a:p>
            <a:pPr algn="l"/>
            <a:r>
              <a:rPr sz="850" b="1">
                <a:solidFill>
                  <a:srgbClr val="D86352"/>
                </a:solidFill>
                <a:latin typeface="Yu Gothic"/>
              </a:rPr>
              <a:t>昼食</a:t>
            </a:r>
          </a:p>
        </p:txBody>
      </p:sp>
      <p:sp>
        <p:nvSpPr>
          <p:cNvPr id="62" name="TextBox 61"/>
          <p:cNvSpPr txBox="1"/>
          <p:nvPr/>
        </p:nvSpPr>
        <p:spPr>
          <a:xfrm>
            <a:off x="8001000" y="349300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層雲峡温泉街の食堂</a:t>
            </a:r>
          </a:p>
        </p:txBody>
      </p:sp>
      <p:sp>
        <p:nvSpPr>
          <p:cNvPr id="63" name="TextBox 62"/>
          <p:cNvSpPr txBox="1"/>
          <p:nvPr/>
        </p:nvSpPr>
        <p:spPr>
          <a:xfrm>
            <a:off x="9509760" y="349300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黒岳後に使いやすい</a:t>
            </a:r>
          </a:p>
        </p:txBody>
      </p:sp>
      <p:sp>
        <p:nvSpPr>
          <p:cNvPr id="64" name="Rounded Rectangle 63"/>
          <p:cNvSpPr/>
          <p:nvPr/>
        </p:nvSpPr>
        <p:spPr>
          <a:xfrm>
            <a:off x="7360920" y="395020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434072" y="4005072"/>
            <a:ext cx="566928" cy="228600"/>
          </a:xfrm>
          <a:prstGeom prst="rect">
            <a:avLst/>
          </a:prstGeom>
          <a:noFill/>
        </p:spPr>
        <p:txBody>
          <a:bodyPr wrap="none" lIns="73152" rIns="73152" tIns="36576" bIns="36576">
            <a:spAutoFit/>
          </a:bodyPr>
          <a:lstStyle/>
          <a:p>
            <a:pPr algn="l"/>
            <a:r>
              <a:rPr sz="850" b="1">
                <a:solidFill>
                  <a:srgbClr val="D86352"/>
                </a:solidFill>
                <a:latin typeface="Yu Gothic"/>
              </a:rPr>
              <a:t>休憩</a:t>
            </a:r>
          </a:p>
        </p:txBody>
      </p:sp>
      <p:sp>
        <p:nvSpPr>
          <p:cNvPr id="66" name="TextBox 65"/>
          <p:cNvSpPr txBox="1"/>
          <p:nvPr/>
        </p:nvSpPr>
        <p:spPr>
          <a:xfrm>
            <a:off x="8001000" y="399592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温泉街カフェ</a:t>
            </a:r>
          </a:p>
        </p:txBody>
      </p:sp>
      <p:sp>
        <p:nvSpPr>
          <p:cNvPr id="67" name="TextBox 66"/>
          <p:cNvSpPr txBox="1"/>
          <p:nvPr/>
        </p:nvSpPr>
        <p:spPr>
          <a:xfrm>
            <a:off x="9509760" y="399592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雨天時の休憩候補</a:t>
            </a:r>
          </a:p>
        </p:txBody>
      </p:sp>
      <p:sp>
        <p:nvSpPr>
          <p:cNvPr id="68" name="Rounded Rectangle 67"/>
          <p:cNvSpPr/>
          <p:nvPr/>
        </p:nvSpPr>
        <p:spPr>
          <a:xfrm>
            <a:off x="7360920" y="445312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434072" y="4507992"/>
            <a:ext cx="566928" cy="228600"/>
          </a:xfrm>
          <a:prstGeom prst="rect">
            <a:avLst/>
          </a:prstGeom>
          <a:noFill/>
        </p:spPr>
        <p:txBody>
          <a:bodyPr wrap="none" lIns="73152" rIns="73152" tIns="36576" bIns="36576">
            <a:spAutoFit/>
          </a:bodyPr>
          <a:lstStyle/>
          <a:p>
            <a:pPr algn="l"/>
            <a:r>
              <a:rPr sz="850" b="1">
                <a:solidFill>
                  <a:srgbClr val="D86352"/>
                </a:solidFill>
                <a:latin typeface="Yu Gothic"/>
              </a:rPr>
              <a:t>夕食</a:t>
            </a:r>
          </a:p>
        </p:txBody>
      </p:sp>
      <p:sp>
        <p:nvSpPr>
          <p:cNvPr id="70" name="TextBox 69"/>
          <p:cNvSpPr txBox="1"/>
          <p:nvPr/>
        </p:nvSpPr>
        <p:spPr>
          <a:xfrm>
            <a:off x="8001000" y="449884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コテージでキャンプ飯</a:t>
            </a:r>
          </a:p>
        </p:txBody>
      </p:sp>
      <p:sp>
        <p:nvSpPr>
          <p:cNvPr id="71" name="TextBox 70"/>
          <p:cNvSpPr txBox="1"/>
          <p:nvPr/>
        </p:nvSpPr>
        <p:spPr>
          <a:xfrm>
            <a:off x="9509760" y="449884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翌日の移動に備えて早めに済ませる</a:t>
            </a:r>
          </a:p>
        </p:txBody>
      </p:sp>
      <p:sp>
        <p:nvSpPr>
          <p:cNvPr id="72" name="Rounded Rectangle 71"/>
          <p:cNvSpPr/>
          <p:nvPr/>
        </p:nvSpPr>
        <p:spPr>
          <a:xfrm>
            <a:off x="7360920" y="495604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434072" y="5010912"/>
            <a:ext cx="566928" cy="228600"/>
          </a:xfrm>
          <a:prstGeom prst="rect">
            <a:avLst/>
          </a:prstGeom>
          <a:noFill/>
        </p:spPr>
        <p:txBody>
          <a:bodyPr wrap="none" lIns="73152" rIns="73152" tIns="36576" bIns="36576">
            <a:spAutoFit/>
          </a:bodyPr>
          <a:lstStyle/>
          <a:p>
            <a:pPr algn="l"/>
            <a:r>
              <a:rPr sz="850" b="1">
                <a:solidFill>
                  <a:srgbClr val="D86352"/>
                </a:solidFill>
                <a:latin typeface="Yu Gothic"/>
              </a:rPr>
              <a:t>予備</a:t>
            </a:r>
          </a:p>
        </p:txBody>
      </p:sp>
      <p:sp>
        <p:nvSpPr>
          <p:cNvPr id="74" name="TextBox 73"/>
          <p:cNvSpPr txBox="1"/>
          <p:nvPr/>
        </p:nvSpPr>
        <p:spPr>
          <a:xfrm>
            <a:off x="8001000" y="500176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コンビニ・売店で軽食</a:t>
            </a:r>
          </a:p>
        </p:txBody>
      </p:sp>
      <p:sp>
        <p:nvSpPr>
          <p:cNvPr id="75" name="TextBox 74"/>
          <p:cNvSpPr txBox="1"/>
          <p:nvPr/>
        </p:nvSpPr>
        <p:spPr>
          <a:xfrm>
            <a:off x="9509760" y="500176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営業時間に注意</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2026-08-07_摩周湖.png"/>
          <p:cNvPicPr>
            <a:picLocks noChangeAspect="1"/>
          </p:cNvPicPr>
          <p:nvPr/>
        </p:nvPicPr>
        <p:blipFill>
          <a:blip r:embed="rId2"/>
          <a:stretch>
            <a:fillRect/>
          </a:stretch>
        </p:blipFill>
        <p:spPr>
          <a:xfrm>
            <a:off x="7059168" y="0"/>
            <a:ext cx="5129784" cy="3886200"/>
          </a:xfrm>
          <a:prstGeom prst="rect">
            <a:avLst/>
          </a:prstGeom>
        </p:spPr>
      </p:pic>
      <p:sp>
        <p:nvSpPr>
          <p:cNvPr id="3" name="Rounded Rectangle 2"/>
          <p:cNvSpPr/>
          <p:nvPr/>
        </p:nvSpPr>
        <p:spPr>
          <a:xfrm>
            <a:off x="502920" y="347472"/>
            <a:ext cx="1325880" cy="329184"/>
          </a:xfrm>
          <a:prstGeom prst="roundRect">
            <a:avLst/>
          </a:prstGeom>
          <a:solidFill>
            <a:srgbClr val="D863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Yu Gothic"/>
              </a:rPr>
              <a:t>DAY 8</a:t>
            </a:r>
          </a:p>
        </p:txBody>
      </p:sp>
      <p:sp>
        <p:nvSpPr>
          <p:cNvPr id="4" name="TextBox 3"/>
          <p:cNvSpPr txBox="1"/>
          <p:nvPr/>
        </p:nvSpPr>
        <p:spPr>
          <a:xfrm>
            <a:off x="502920" y="749808"/>
            <a:ext cx="6126480" cy="548640"/>
          </a:xfrm>
          <a:prstGeom prst="rect">
            <a:avLst/>
          </a:prstGeom>
          <a:noFill/>
        </p:spPr>
        <p:txBody>
          <a:bodyPr wrap="none" lIns="73152" rIns="73152" tIns="36576" bIns="36576">
            <a:spAutoFit/>
          </a:bodyPr>
          <a:lstStyle/>
          <a:p>
            <a:pPr algn="l"/>
            <a:r>
              <a:rPr sz="2200" b="1">
                <a:solidFill>
                  <a:srgbClr val="143753"/>
                </a:solidFill>
                <a:latin typeface="Yu Gothic"/>
              </a:rPr>
              <a:t>2026-08-07  層雲峡から阿寒・摩周を経て中標津へ</a:t>
            </a:r>
          </a:p>
        </p:txBody>
      </p:sp>
      <p:sp>
        <p:nvSpPr>
          <p:cNvPr id="5" name="TextBox 4"/>
          <p:cNvSpPr txBox="1"/>
          <p:nvPr/>
        </p:nvSpPr>
        <p:spPr>
          <a:xfrm>
            <a:off x="530352" y="1234440"/>
            <a:ext cx="5989320" cy="384048"/>
          </a:xfrm>
          <a:prstGeom prst="rect">
            <a:avLst/>
          </a:prstGeom>
          <a:noFill/>
        </p:spPr>
        <p:txBody>
          <a:bodyPr wrap="none" lIns="73152" rIns="73152" tIns="36576" bIns="36576">
            <a:spAutoFit/>
          </a:bodyPr>
          <a:lstStyle/>
          <a:p>
            <a:pPr algn="l"/>
            <a:r>
              <a:rPr sz="1300" b="1">
                <a:solidFill>
                  <a:srgbClr val="2C73A0"/>
                </a:solidFill>
                <a:latin typeface="Yu Gothic"/>
              </a:rPr>
              <a:t>層雲峡 / 阿寒 / 摩周 / 中標津</a:t>
            </a:r>
          </a:p>
        </p:txBody>
      </p:sp>
      <p:sp>
        <p:nvSpPr>
          <p:cNvPr id="6" name="TextBox 5"/>
          <p:cNvSpPr txBox="1"/>
          <p:nvPr/>
        </p:nvSpPr>
        <p:spPr>
          <a:xfrm>
            <a:off x="530352" y="1719072"/>
            <a:ext cx="6080760" cy="896112"/>
          </a:xfrm>
          <a:prstGeom prst="rect">
            <a:avLst/>
          </a:prstGeom>
          <a:noFill/>
        </p:spPr>
        <p:txBody>
          <a:bodyPr wrap="none" lIns="73152" rIns="73152" tIns="36576" bIns="36576">
            <a:spAutoFit/>
          </a:bodyPr>
          <a:lstStyle/>
          <a:p>
            <a:pPr algn="l"/>
            <a:r>
              <a:rPr sz="1230" b="0">
                <a:solidFill>
                  <a:srgbClr val="222B34"/>
                </a:solidFill>
                <a:latin typeface="Yu Gothic"/>
              </a:rPr>
              <a:t>層雲峡から道東へ大きく移動する日。阿寒湖または摩周湖周辺で休憩と観光を挟み、中標津の拠点へ入ります。移動負荷が高いので、観光は1〜2か所に絞ります。</a:t>
            </a:r>
          </a:p>
        </p:txBody>
      </p:sp>
      <p:sp>
        <p:nvSpPr>
          <p:cNvPr id="7" name="TextBox 6"/>
          <p:cNvSpPr txBox="1"/>
          <p:nvPr/>
        </p:nvSpPr>
        <p:spPr>
          <a:xfrm>
            <a:off x="530352" y="2852928"/>
            <a:ext cx="6126480" cy="292608"/>
          </a:xfrm>
          <a:prstGeom prst="rect">
            <a:avLst/>
          </a:prstGeom>
          <a:noFill/>
        </p:spPr>
        <p:txBody>
          <a:bodyPr wrap="none" lIns="73152" rIns="73152" tIns="36576" bIns="36576">
            <a:spAutoFit/>
          </a:bodyPr>
          <a:lstStyle/>
          <a:p>
            <a:pPr algn="l"/>
            <a:r>
              <a:rPr sz="1500" b="1">
                <a:solidFill>
                  <a:srgbClr val="143753"/>
                </a:solidFill>
                <a:latin typeface="Yu Gothic"/>
              </a:rPr>
              <a:t>この日の流れ</a:t>
            </a:r>
          </a:p>
        </p:txBody>
      </p:sp>
      <p:sp>
        <p:nvSpPr>
          <p:cNvPr id="8" name="Rounded Rectangle 7"/>
          <p:cNvSpPr/>
          <p:nvPr/>
        </p:nvSpPr>
        <p:spPr>
          <a:xfrm>
            <a:off x="502920" y="3246120"/>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3319272"/>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07:30</a:t>
            </a:r>
          </a:p>
        </p:txBody>
      </p:sp>
      <p:sp>
        <p:nvSpPr>
          <p:cNvPr id="10" name="TextBox 9"/>
          <p:cNvSpPr txBox="1"/>
          <p:nvPr/>
        </p:nvSpPr>
        <p:spPr>
          <a:xfrm>
            <a:off x="1417320" y="3319272"/>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朝食</a:t>
            </a:r>
          </a:p>
        </p:txBody>
      </p:sp>
      <p:sp>
        <p:nvSpPr>
          <p:cNvPr id="11" name="TextBox 10"/>
          <p:cNvSpPr txBox="1"/>
          <p:nvPr/>
        </p:nvSpPr>
        <p:spPr>
          <a:xfrm>
            <a:off x="2084831" y="3310128"/>
            <a:ext cx="1234440" cy="274320"/>
          </a:xfrm>
          <a:prstGeom prst="rect">
            <a:avLst/>
          </a:prstGeom>
          <a:noFill/>
        </p:spPr>
        <p:txBody>
          <a:bodyPr wrap="none" lIns="73152" rIns="73152" tIns="36576" bIns="36576">
            <a:spAutoFit/>
          </a:bodyPr>
          <a:lstStyle/>
          <a:p>
            <a:pPr algn="l"/>
            <a:r>
              <a:rPr sz="900" b="1">
                <a:solidFill>
                  <a:srgbClr val="143753"/>
                </a:solidFill>
                <a:latin typeface="Yu Gothic"/>
              </a:rPr>
              <a:t>コテージ</a:t>
            </a:r>
          </a:p>
        </p:txBody>
      </p:sp>
      <p:sp>
        <p:nvSpPr>
          <p:cNvPr id="12" name="TextBox 11"/>
          <p:cNvSpPr txBox="1"/>
          <p:nvPr/>
        </p:nvSpPr>
        <p:spPr>
          <a:xfrm>
            <a:off x="3246120" y="3300984"/>
            <a:ext cx="3063240" cy="310896"/>
          </a:xfrm>
          <a:prstGeom prst="rect">
            <a:avLst/>
          </a:prstGeom>
          <a:noFill/>
        </p:spPr>
        <p:txBody>
          <a:bodyPr wrap="none" lIns="73152" rIns="73152" tIns="36576" bIns="36576">
            <a:spAutoFit/>
          </a:bodyPr>
          <a:lstStyle/>
          <a:p>
            <a:pPr algn="l"/>
            <a:r>
              <a:rPr sz="830" b="0">
                <a:solidFill>
                  <a:srgbClr val="222B34"/>
                </a:solidFill>
                <a:latin typeface="Yu Gothic"/>
              </a:rPr>
              <a:t>朝食、チェックアウト準備</a:t>
            </a:r>
          </a:p>
        </p:txBody>
      </p:sp>
      <p:sp>
        <p:nvSpPr>
          <p:cNvPr id="13" name="TextBox 12"/>
          <p:cNvSpPr txBox="1"/>
          <p:nvPr/>
        </p:nvSpPr>
        <p:spPr>
          <a:xfrm>
            <a:off x="6355080" y="3319272"/>
            <a:ext cx="411480" cy="256032"/>
          </a:xfrm>
          <a:prstGeom prst="rect">
            <a:avLst/>
          </a:prstGeom>
          <a:noFill/>
        </p:spPr>
        <p:txBody>
          <a:bodyPr wrap="none" lIns="73152" rIns="73152" tIns="36576" bIns="36576">
            <a:spAutoFit/>
          </a:bodyPr>
          <a:lstStyle/>
          <a:p>
            <a:pPr algn="r"/>
            <a:r>
              <a:rPr sz="830" b="0">
                <a:solidFill>
                  <a:srgbClr val="66707A"/>
                </a:solidFill>
                <a:latin typeface="Yu Gothic"/>
              </a:rPr>
              <a:t>60分</a:t>
            </a:r>
          </a:p>
        </p:txBody>
      </p:sp>
      <p:sp>
        <p:nvSpPr>
          <p:cNvPr id="14" name="Rounded Rectangle 13"/>
          <p:cNvSpPr/>
          <p:nvPr/>
        </p:nvSpPr>
        <p:spPr>
          <a:xfrm>
            <a:off x="502920" y="3813048"/>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 y="3886200"/>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08:45</a:t>
            </a:r>
          </a:p>
        </p:txBody>
      </p:sp>
      <p:sp>
        <p:nvSpPr>
          <p:cNvPr id="16" name="TextBox 15"/>
          <p:cNvSpPr txBox="1"/>
          <p:nvPr/>
        </p:nvSpPr>
        <p:spPr>
          <a:xfrm>
            <a:off x="1417320" y="3886200"/>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移動</a:t>
            </a:r>
          </a:p>
        </p:txBody>
      </p:sp>
      <p:sp>
        <p:nvSpPr>
          <p:cNvPr id="17" name="TextBox 16"/>
          <p:cNvSpPr txBox="1"/>
          <p:nvPr/>
        </p:nvSpPr>
        <p:spPr>
          <a:xfrm>
            <a:off x="2084831" y="3877056"/>
            <a:ext cx="1234440" cy="274320"/>
          </a:xfrm>
          <a:prstGeom prst="rect">
            <a:avLst/>
          </a:prstGeom>
          <a:noFill/>
        </p:spPr>
        <p:txBody>
          <a:bodyPr wrap="none" lIns="73152" rIns="73152" tIns="36576" bIns="36576">
            <a:spAutoFit/>
          </a:bodyPr>
          <a:lstStyle/>
          <a:p>
            <a:pPr algn="l"/>
            <a:r>
              <a:rPr sz="900" b="1">
                <a:solidFill>
                  <a:srgbClr val="143753"/>
                </a:solidFill>
                <a:latin typeface="Yu Gothic"/>
              </a:rPr>
              <a:t>層雲峡 → 北見方面</a:t>
            </a:r>
          </a:p>
        </p:txBody>
      </p:sp>
      <p:sp>
        <p:nvSpPr>
          <p:cNvPr id="18" name="TextBox 17"/>
          <p:cNvSpPr txBox="1"/>
          <p:nvPr/>
        </p:nvSpPr>
        <p:spPr>
          <a:xfrm>
            <a:off x="3246120" y="3867912"/>
            <a:ext cx="3063240" cy="310896"/>
          </a:xfrm>
          <a:prstGeom prst="rect">
            <a:avLst/>
          </a:prstGeom>
          <a:noFill/>
        </p:spPr>
        <p:txBody>
          <a:bodyPr wrap="none" lIns="73152" rIns="73152" tIns="36576" bIns="36576">
            <a:spAutoFit/>
          </a:bodyPr>
          <a:lstStyle/>
          <a:p>
            <a:pPr algn="l"/>
            <a:r>
              <a:rPr sz="830" b="0">
                <a:solidFill>
                  <a:srgbClr val="222B34"/>
                </a:solidFill>
                <a:latin typeface="Yu Gothic"/>
              </a:rPr>
              <a:t>道東方面へ移動開始。途中休憩を必ず入れる</a:t>
            </a:r>
          </a:p>
        </p:txBody>
      </p:sp>
      <p:sp>
        <p:nvSpPr>
          <p:cNvPr id="19" name="TextBox 18"/>
          <p:cNvSpPr txBox="1"/>
          <p:nvPr/>
        </p:nvSpPr>
        <p:spPr>
          <a:xfrm>
            <a:off x="6355080" y="3886200"/>
            <a:ext cx="411480" cy="256032"/>
          </a:xfrm>
          <a:prstGeom prst="rect">
            <a:avLst/>
          </a:prstGeom>
          <a:noFill/>
        </p:spPr>
        <p:txBody>
          <a:bodyPr wrap="none" lIns="73152" rIns="73152" tIns="36576" bIns="36576">
            <a:spAutoFit/>
          </a:bodyPr>
          <a:lstStyle/>
          <a:p>
            <a:pPr algn="r"/>
            <a:r>
              <a:rPr sz="830" b="0">
                <a:solidFill>
                  <a:srgbClr val="66707A"/>
                </a:solidFill>
                <a:latin typeface="Yu Gothic"/>
              </a:rPr>
              <a:t>約2時間</a:t>
            </a:r>
          </a:p>
        </p:txBody>
      </p:sp>
      <p:sp>
        <p:nvSpPr>
          <p:cNvPr id="20" name="Rounded Rectangle 19"/>
          <p:cNvSpPr/>
          <p:nvPr/>
        </p:nvSpPr>
        <p:spPr>
          <a:xfrm>
            <a:off x="502920" y="4379976"/>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1792" y="4453128"/>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10:45</a:t>
            </a:r>
          </a:p>
        </p:txBody>
      </p:sp>
      <p:sp>
        <p:nvSpPr>
          <p:cNvPr id="22" name="TextBox 21"/>
          <p:cNvSpPr txBox="1"/>
          <p:nvPr/>
        </p:nvSpPr>
        <p:spPr>
          <a:xfrm>
            <a:off x="1417320" y="4453128"/>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休憩</a:t>
            </a:r>
          </a:p>
        </p:txBody>
      </p:sp>
      <p:sp>
        <p:nvSpPr>
          <p:cNvPr id="23" name="TextBox 22"/>
          <p:cNvSpPr txBox="1"/>
          <p:nvPr/>
        </p:nvSpPr>
        <p:spPr>
          <a:xfrm>
            <a:off x="2084831" y="4443984"/>
            <a:ext cx="1234440" cy="274320"/>
          </a:xfrm>
          <a:prstGeom prst="rect">
            <a:avLst/>
          </a:prstGeom>
          <a:noFill/>
        </p:spPr>
        <p:txBody>
          <a:bodyPr wrap="none" lIns="73152" rIns="73152" tIns="36576" bIns="36576">
            <a:spAutoFit/>
          </a:bodyPr>
          <a:lstStyle/>
          <a:p>
            <a:pPr algn="l"/>
            <a:r>
              <a:rPr sz="900" b="1">
                <a:solidFill>
                  <a:srgbClr val="143753"/>
                </a:solidFill>
                <a:latin typeface="Yu Gothic"/>
              </a:rPr>
              <a:t>北見 / 道の駅周辺</a:t>
            </a:r>
          </a:p>
        </p:txBody>
      </p:sp>
      <p:sp>
        <p:nvSpPr>
          <p:cNvPr id="24" name="TextBox 23"/>
          <p:cNvSpPr txBox="1"/>
          <p:nvPr/>
        </p:nvSpPr>
        <p:spPr>
          <a:xfrm>
            <a:off x="3246120" y="4434840"/>
            <a:ext cx="3063240" cy="310896"/>
          </a:xfrm>
          <a:prstGeom prst="rect">
            <a:avLst/>
          </a:prstGeom>
          <a:noFill/>
        </p:spPr>
        <p:txBody>
          <a:bodyPr wrap="none" lIns="73152" rIns="73152" tIns="36576" bIns="36576">
            <a:spAutoFit/>
          </a:bodyPr>
          <a:lstStyle/>
          <a:p>
            <a:pPr algn="l"/>
            <a:r>
              <a:rPr sz="830" b="0">
                <a:solidFill>
                  <a:srgbClr val="222B34"/>
                </a:solidFill>
                <a:latin typeface="Yu Gothic"/>
              </a:rPr>
              <a:t>トイレ、給油、飲み物補充</a:t>
            </a:r>
          </a:p>
        </p:txBody>
      </p:sp>
      <p:sp>
        <p:nvSpPr>
          <p:cNvPr id="25" name="TextBox 24"/>
          <p:cNvSpPr txBox="1"/>
          <p:nvPr/>
        </p:nvSpPr>
        <p:spPr>
          <a:xfrm>
            <a:off x="6355080" y="4453128"/>
            <a:ext cx="411480" cy="256032"/>
          </a:xfrm>
          <a:prstGeom prst="rect">
            <a:avLst/>
          </a:prstGeom>
          <a:noFill/>
        </p:spPr>
        <p:txBody>
          <a:bodyPr wrap="none" lIns="73152" rIns="73152" tIns="36576" bIns="36576">
            <a:spAutoFit/>
          </a:bodyPr>
          <a:lstStyle/>
          <a:p>
            <a:pPr algn="r"/>
            <a:r>
              <a:rPr sz="830" b="0">
                <a:solidFill>
                  <a:srgbClr val="66707A"/>
                </a:solidFill>
                <a:latin typeface="Yu Gothic"/>
              </a:rPr>
              <a:t>30分</a:t>
            </a:r>
          </a:p>
        </p:txBody>
      </p:sp>
      <p:sp>
        <p:nvSpPr>
          <p:cNvPr id="26" name="Rounded Rectangle 25"/>
          <p:cNvSpPr/>
          <p:nvPr/>
        </p:nvSpPr>
        <p:spPr>
          <a:xfrm>
            <a:off x="502920" y="4946904"/>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1792" y="5020056"/>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11:15</a:t>
            </a:r>
          </a:p>
        </p:txBody>
      </p:sp>
      <p:sp>
        <p:nvSpPr>
          <p:cNvPr id="28" name="TextBox 27"/>
          <p:cNvSpPr txBox="1"/>
          <p:nvPr/>
        </p:nvSpPr>
        <p:spPr>
          <a:xfrm>
            <a:off x="1417320" y="5020056"/>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移動</a:t>
            </a:r>
          </a:p>
        </p:txBody>
      </p:sp>
      <p:sp>
        <p:nvSpPr>
          <p:cNvPr id="29" name="TextBox 28"/>
          <p:cNvSpPr txBox="1"/>
          <p:nvPr/>
        </p:nvSpPr>
        <p:spPr>
          <a:xfrm>
            <a:off x="2084831" y="5010912"/>
            <a:ext cx="1234440" cy="274320"/>
          </a:xfrm>
          <a:prstGeom prst="rect">
            <a:avLst/>
          </a:prstGeom>
          <a:noFill/>
        </p:spPr>
        <p:txBody>
          <a:bodyPr wrap="none" lIns="73152" rIns="73152" tIns="36576" bIns="36576">
            <a:spAutoFit/>
          </a:bodyPr>
          <a:lstStyle/>
          <a:p>
            <a:pPr algn="l"/>
            <a:r>
              <a:rPr sz="900" b="1">
                <a:solidFill>
                  <a:srgbClr val="143753"/>
                </a:solidFill>
                <a:latin typeface="Yu Gothic"/>
              </a:rPr>
              <a:t>北見 → 阿寒湖方面</a:t>
            </a:r>
          </a:p>
        </p:txBody>
      </p:sp>
      <p:sp>
        <p:nvSpPr>
          <p:cNvPr id="30" name="TextBox 29"/>
          <p:cNvSpPr txBox="1"/>
          <p:nvPr/>
        </p:nvSpPr>
        <p:spPr>
          <a:xfrm>
            <a:off x="3246120" y="5001768"/>
            <a:ext cx="3063240" cy="310896"/>
          </a:xfrm>
          <a:prstGeom prst="rect">
            <a:avLst/>
          </a:prstGeom>
          <a:noFill/>
        </p:spPr>
        <p:txBody>
          <a:bodyPr wrap="none" lIns="73152" rIns="73152" tIns="36576" bIns="36576">
            <a:spAutoFit/>
          </a:bodyPr>
          <a:lstStyle/>
          <a:p>
            <a:pPr algn="l"/>
            <a:r>
              <a:rPr sz="830" b="0">
                <a:solidFill>
                  <a:srgbClr val="222B34"/>
                </a:solidFill>
                <a:latin typeface="Yu Gothic"/>
              </a:rPr>
              <a:t>阿寒方面へ移動</a:t>
            </a:r>
          </a:p>
        </p:txBody>
      </p:sp>
      <p:sp>
        <p:nvSpPr>
          <p:cNvPr id="31" name="TextBox 30"/>
          <p:cNvSpPr txBox="1"/>
          <p:nvPr/>
        </p:nvSpPr>
        <p:spPr>
          <a:xfrm>
            <a:off x="6355080" y="5020056"/>
            <a:ext cx="411480" cy="256032"/>
          </a:xfrm>
          <a:prstGeom prst="rect">
            <a:avLst/>
          </a:prstGeom>
          <a:noFill/>
        </p:spPr>
        <p:txBody>
          <a:bodyPr wrap="none" lIns="73152" rIns="73152" tIns="36576" bIns="36576">
            <a:spAutoFit/>
          </a:bodyPr>
          <a:lstStyle/>
          <a:p>
            <a:pPr algn="r"/>
            <a:r>
              <a:rPr sz="830" b="0">
                <a:solidFill>
                  <a:srgbClr val="66707A"/>
                </a:solidFill>
                <a:latin typeface="Yu Gothic"/>
              </a:rPr>
              <a:t>約2時間</a:t>
            </a:r>
          </a:p>
        </p:txBody>
      </p:sp>
      <p:sp>
        <p:nvSpPr>
          <p:cNvPr id="32" name="Rounded Rectangle 31"/>
          <p:cNvSpPr/>
          <p:nvPr/>
        </p:nvSpPr>
        <p:spPr>
          <a:xfrm>
            <a:off x="502920" y="5513832"/>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1792" y="5586984"/>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13:15</a:t>
            </a:r>
          </a:p>
        </p:txBody>
      </p:sp>
      <p:sp>
        <p:nvSpPr>
          <p:cNvPr id="34" name="TextBox 33"/>
          <p:cNvSpPr txBox="1"/>
          <p:nvPr/>
        </p:nvSpPr>
        <p:spPr>
          <a:xfrm>
            <a:off x="1417320" y="5586984"/>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昼食</a:t>
            </a:r>
          </a:p>
        </p:txBody>
      </p:sp>
      <p:sp>
        <p:nvSpPr>
          <p:cNvPr id="35" name="TextBox 34"/>
          <p:cNvSpPr txBox="1"/>
          <p:nvPr/>
        </p:nvSpPr>
        <p:spPr>
          <a:xfrm>
            <a:off x="2084831" y="5577840"/>
            <a:ext cx="1234440" cy="274320"/>
          </a:xfrm>
          <a:prstGeom prst="rect">
            <a:avLst/>
          </a:prstGeom>
          <a:noFill/>
        </p:spPr>
        <p:txBody>
          <a:bodyPr wrap="none" lIns="73152" rIns="73152" tIns="36576" bIns="36576">
            <a:spAutoFit/>
          </a:bodyPr>
          <a:lstStyle/>
          <a:p>
            <a:pPr algn="l"/>
            <a:r>
              <a:rPr sz="900" b="1">
                <a:solidFill>
                  <a:srgbClr val="143753"/>
                </a:solidFill>
                <a:latin typeface="Yu Gothic"/>
              </a:rPr>
              <a:t>阿寒湖周辺</a:t>
            </a:r>
          </a:p>
        </p:txBody>
      </p:sp>
      <p:sp>
        <p:nvSpPr>
          <p:cNvPr id="36" name="TextBox 35"/>
          <p:cNvSpPr txBox="1"/>
          <p:nvPr/>
        </p:nvSpPr>
        <p:spPr>
          <a:xfrm>
            <a:off x="3246120" y="5568696"/>
            <a:ext cx="3063240" cy="310896"/>
          </a:xfrm>
          <a:prstGeom prst="rect">
            <a:avLst/>
          </a:prstGeom>
          <a:noFill/>
        </p:spPr>
        <p:txBody>
          <a:bodyPr wrap="none" lIns="73152" rIns="73152" tIns="36576" bIns="36576">
            <a:spAutoFit/>
          </a:bodyPr>
          <a:lstStyle/>
          <a:p>
            <a:pPr algn="l"/>
            <a:r>
              <a:rPr sz="830" b="0">
                <a:solidFill>
                  <a:srgbClr val="222B34"/>
                </a:solidFill>
                <a:latin typeface="Yu Gothic"/>
              </a:rPr>
              <a:t>湖畔で昼食。時間がなければ軽食</a:t>
            </a:r>
          </a:p>
        </p:txBody>
      </p:sp>
      <p:sp>
        <p:nvSpPr>
          <p:cNvPr id="37" name="TextBox 36"/>
          <p:cNvSpPr txBox="1"/>
          <p:nvPr/>
        </p:nvSpPr>
        <p:spPr>
          <a:xfrm>
            <a:off x="6355080" y="5586984"/>
            <a:ext cx="411480" cy="256032"/>
          </a:xfrm>
          <a:prstGeom prst="rect">
            <a:avLst/>
          </a:prstGeom>
          <a:noFill/>
        </p:spPr>
        <p:txBody>
          <a:bodyPr wrap="none" lIns="73152" rIns="73152" tIns="36576" bIns="36576">
            <a:spAutoFit/>
          </a:bodyPr>
          <a:lstStyle/>
          <a:p>
            <a:pPr algn="r"/>
            <a:r>
              <a:rPr sz="830" b="0">
                <a:solidFill>
                  <a:srgbClr val="66707A"/>
                </a:solidFill>
                <a:latin typeface="Yu Gothic"/>
              </a:rPr>
              <a:t>60分</a:t>
            </a:r>
          </a:p>
        </p:txBody>
      </p:sp>
      <p:sp>
        <p:nvSpPr>
          <p:cNvPr id="38" name="TextBox 37"/>
          <p:cNvSpPr txBox="1"/>
          <p:nvPr/>
        </p:nvSpPr>
        <p:spPr>
          <a:xfrm>
            <a:off x="7150608" y="4251960"/>
            <a:ext cx="4343400" cy="292608"/>
          </a:xfrm>
          <a:prstGeom prst="rect">
            <a:avLst/>
          </a:prstGeom>
          <a:noFill/>
        </p:spPr>
        <p:txBody>
          <a:bodyPr wrap="none" lIns="73152" rIns="73152" tIns="36576" bIns="36576">
            <a:spAutoFit/>
          </a:bodyPr>
          <a:lstStyle/>
          <a:p>
            <a:pPr algn="l"/>
            <a:r>
              <a:rPr sz="1500" b="1">
                <a:solidFill>
                  <a:srgbClr val="143753"/>
                </a:solidFill>
                <a:latin typeface="Yu Gothic"/>
              </a:rPr>
              <a:t>レストラン候補</a:t>
            </a:r>
          </a:p>
        </p:txBody>
      </p:sp>
      <p:sp>
        <p:nvSpPr>
          <p:cNvPr id="39" name="Rounded Rectangle 38"/>
          <p:cNvSpPr/>
          <p:nvPr/>
        </p:nvSpPr>
        <p:spPr>
          <a:xfrm>
            <a:off x="7150608" y="463600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223760" y="4690872"/>
            <a:ext cx="566928" cy="228600"/>
          </a:xfrm>
          <a:prstGeom prst="rect">
            <a:avLst/>
          </a:prstGeom>
          <a:noFill/>
        </p:spPr>
        <p:txBody>
          <a:bodyPr wrap="none" lIns="73152" rIns="73152" tIns="36576" bIns="36576">
            <a:spAutoFit/>
          </a:bodyPr>
          <a:lstStyle/>
          <a:p>
            <a:pPr algn="l"/>
            <a:r>
              <a:rPr sz="850" b="1">
                <a:solidFill>
                  <a:srgbClr val="D86352"/>
                </a:solidFill>
                <a:latin typeface="Yu Gothic"/>
              </a:rPr>
              <a:t>昼食</a:t>
            </a:r>
          </a:p>
        </p:txBody>
      </p:sp>
      <p:sp>
        <p:nvSpPr>
          <p:cNvPr id="41" name="TextBox 40"/>
          <p:cNvSpPr txBox="1"/>
          <p:nvPr/>
        </p:nvSpPr>
        <p:spPr>
          <a:xfrm>
            <a:off x="7790688" y="468172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阿寒湖温泉街の食堂</a:t>
            </a:r>
          </a:p>
        </p:txBody>
      </p:sp>
      <p:sp>
        <p:nvSpPr>
          <p:cNvPr id="42" name="TextBox 41"/>
          <p:cNvSpPr txBox="1"/>
          <p:nvPr/>
        </p:nvSpPr>
        <p:spPr>
          <a:xfrm>
            <a:off x="9299448" y="468172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湖畔休憩とセットにしやすい</a:t>
            </a:r>
          </a:p>
        </p:txBody>
      </p:sp>
      <p:sp>
        <p:nvSpPr>
          <p:cNvPr id="43" name="Rounded Rectangle 42"/>
          <p:cNvSpPr/>
          <p:nvPr/>
        </p:nvSpPr>
        <p:spPr>
          <a:xfrm>
            <a:off x="7150608" y="513892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223760" y="5193792"/>
            <a:ext cx="566928" cy="228600"/>
          </a:xfrm>
          <a:prstGeom prst="rect">
            <a:avLst/>
          </a:prstGeom>
          <a:noFill/>
        </p:spPr>
        <p:txBody>
          <a:bodyPr wrap="none" lIns="73152" rIns="73152" tIns="36576" bIns="36576">
            <a:spAutoFit/>
          </a:bodyPr>
          <a:lstStyle/>
          <a:p>
            <a:pPr algn="l"/>
            <a:r>
              <a:rPr sz="850" b="1">
                <a:solidFill>
                  <a:srgbClr val="D86352"/>
                </a:solidFill>
                <a:latin typeface="Yu Gothic"/>
              </a:rPr>
              <a:t>昼食</a:t>
            </a:r>
          </a:p>
        </p:txBody>
      </p:sp>
      <p:sp>
        <p:nvSpPr>
          <p:cNvPr id="45" name="TextBox 44"/>
          <p:cNvSpPr txBox="1"/>
          <p:nvPr/>
        </p:nvSpPr>
        <p:spPr>
          <a:xfrm>
            <a:off x="7790688" y="518464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道の駅・ドライブイン</a:t>
            </a:r>
          </a:p>
        </p:txBody>
      </p:sp>
      <p:sp>
        <p:nvSpPr>
          <p:cNvPr id="46" name="TextBox 45"/>
          <p:cNvSpPr txBox="1"/>
          <p:nvPr/>
        </p:nvSpPr>
        <p:spPr>
          <a:xfrm>
            <a:off x="9299448" y="518464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移動優先のバックアップ</a:t>
            </a:r>
          </a:p>
        </p:txBody>
      </p:sp>
      <p:sp>
        <p:nvSpPr>
          <p:cNvPr id="47" name="Rounded Rectangle 46"/>
          <p:cNvSpPr/>
          <p:nvPr/>
        </p:nvSpPr>
        <p:spPr>
          <a:xfrm>
            <a:off x="7150608" y="564184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223760" y="5696712"/>
            <a:ext cx="566928" cy="228600"/>
          </a:xfrm>
          <a:prstGeom prst="rect">
            <a:avLst/>
          </a:prstGeom>
          <a:noFill/>
        </p:spPr>
        <p:txBody>
          <a:bodyPr wrap="none" lIns="73152" rIns="73152" tIns="36576" bIns="36576">
            <a:spAutoFit/>
          </a:bodyPr>
          <a:lstStyle/>
          <a:p>
            <a:pPr algn="l"/>
            <a:r>
              <a:rPr sz="850" b="1">
                <a:solidFill>
                  <a:srgbClr val="D86352"/>
                </a:solidFill>
                <a:latin typeface="Yu Gothic"/>
              </a:rPr>
              <a:t>夕食</a:t>
            </a:r>
          </a:p>
        </p:txBody>
      </p:sp>
      <p:sp>
        <p:nvSpPr>
          <p:cNvPr id="49" name="TextBox 48"/>
          <p:cNvSpPr txBox="1"/>
          <p:nvPr/>
        </p:nvSpPr>
        <p:spPr>
          <a:xfrm>
            <a:off x="7790688" y="568756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中標津市街の回転寿司・定食</a:t>
            </a:r>
          </a:p>
        </p:txBody>
      </p:sp>
      <p:sp>
        <p:nvSpPr>
          <p:cNvPr id="50" name="TextBox 49"/>
          <p:cNvSpPr txBox="1"/>
          <p:nvPr/>
        </p:nvSpPr>
        <p:spPr>
          <a:xfrm>
            <a:off x="9299448" y="568756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到着後に外食する場合の候補</a:t>
            </a:r>
          </a:p>
        </p:txBody>
      </p:sp>
      <p:sp>
        <p:nvSpPr>
          <p:cNvPr id="51" name="Rounded Rectangle 50"/>
          <p:cNvSpPr/>
          <p:nvPr/>
        </p:nvSpPr>
        <p:spPr>
          <a:xfrm>
            <a:off x="7150608" y="614476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223760" y="6199632"/>
            <a:ext cx="566928" cy="228600"/>
          </a:xfrm>
          <a:prstGeom prst="rect">
            <a:avLst/>
          </a:prstGeom>
          <a:noFill/>
        </p:spPr>
        <p:txBody>
          <a:bodyPr wrap="none" lIns="73152" rIns="73152" tIns="36576" bIns="36576">
            <a:spAutoFit/>
          </a:bodyPr>
          <a:lstStyle/>
          <a:p>
            <a:pPr algn="l"/>
            <a:r>
              <a:rPr sz="850" b="1">
                <a:solidFill>
                  <a:srgbClr val="D86352"/>
                </a:solidFill>
                <a:latin typeface="Yu Gothic"/>
              </a:rPr>
              <a:t>夕食</a:t>
            </a:r>
          </a:p>
        </p:txBody>
      </p:sp>
      <p:sp>
        <p:nvSpPr>
          <p:cNvPr id="53" name="TextBox 52"/>
          <p:cNvSpPr txBox="1"/>
          <p:nvPr/>
        </p:nvSpPr>
        <p:spPr>
          <a:xfrm>
            <a:off x="7790688" y="619048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バンガローで簡単調理</a:t>
            </a:r>
          </a:p>
        </p:txBody>
      </p:sp>
      <p:sp>
        <p:nvSpPr>
          <p:cNvPr id="54" name="TextBox 53"/>
          <p:cNvSpPr txBox="1"/>
          <p:nvPr/>
        </p:nvSpPr>
        <p:spPr>
          <a:xfrm>
            <a:off x="9299448" y="619048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疲れている場合の安全策</a:t>
            </a:r>
          </a:p>
        </p:txBody>
      </p:sp>
      <p:sp>
        <p:nvSpPr>
          <p:cNvPr id="55" name="TextBox 54"/>
          <p:cNvSpPr txBox="1"/>
          <p:nvPr/>
        </p:nvSpPr>
        <p:spPr>
          <a:xfrm>
            <a:off x="7150608" y="6199632"/>
            <a:ext cx="4206240" cy="228600"/>
          </a:xfrm>
          <a:prstGeom prst="rect">
            <a:avLst/>
          </a:prstGeom>
          <a:noFill/>
        </p:spPr>
        <p:txBody>
          <a:bodyPr wrap="none" lIns="73152" rIns="73152" tIns="36576" bIns="36576">
            <a:spAutoFit/>
          </a:bodyPr>
          <a:lstStyle/>
          <a:p>
            <a:pPr algn="l"/>
            <a:r>
              <a:rPr sz="780" b="0">
                <a:solidFill>
                  <a:srgbClr val="66707A"/>
                </a:solidFill>
                <a:latin typeface="Yu Gothic"/>
              </a:rPr>
              <a:t>MEMO  この日は長距離移動日。眠気対策で休憩を多めに取る。 / 阿寒湖と摩周湖を両方詰め込まず、天気が良い方を選ぶ。</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CFCFA"/>
        </a:solidFill>
        <a:effectLst/>
      </p:bgPr>
    </p:bg>
    <p:spTree>
      <p:nvGrpSpPr>
        <p:cNvPr id="1" name=""/>
        <p:cNvGrpSpPr/>
        <p:nvPr/>
      </p:nvGrpSpPr>
      <p:grpSpPr/>
      <p:sp>
        <p:nvSpPr>
          <p:cNvPr id="2" name="Rounded Rectangle 1"/>
          <p:cNvSpPr/>
          <p:nvPr/>
        </p:nvSpPr>
        <p:spPr>
          <a:xfrm>
            <a:off x="502920" y="320040"/>
            <a:ext cx="1325880" cy="329184"/>
          </a:xfrm>
          <a:prstGeom prst="roundRect">
            <a:avLst/>
          </a:prstGeom>
          <a:solidFill>
            <a:srgbClr val="D863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Yu Gothic"/>
              </a:rPr>
              <a:t>DAY 8</a:t>
            </a:r>
          </a:p>
        </p:txBody>
      </p:sp>
      <p:sp>
        <p:nvSpPr>
          <p:cNvPr id="3" name="TextBox 2"/>
          <p:cNvSpPr txBox="1"/>
          <p:nvPr/>
        </p:nvSpPr>
        <p:spPr>
          <a:xfrm>
            <a:off x="502920" y="713232"/>
            <a:ext cx="6217920" cy="384048"/>
          </a:xfrm>
          <a:prstGeom prst="rect">
            <a:avLst/>
          </a:prstGeom>
          <a:noFill/>
        </p:spPr>
        <p:txBody>
          <a:bodyPr wrap="none" lIns="73152" rIns="73152" tIns="36576" bIns="36576">
            <a:spAutoFit/>
          </a:bodyPr>
          <a:lstStyle/>
          <a:p>
            <a:pPr algn="l"/>
            <a:r>
              <a:rPr sz="2200" b="1">
                <a:solidFill>
                  <a:srgbClr val="143753"/>
                </a:solidFill>
                <a:latin typeface="Yu Gothic"/>
              </a:rPr>
              <a:t>時刻ベース詳細スケジュール</a:t>
            </a:r>
          </a:p>
        </p:txBody>
      </p:sp>
      <p:sp>
        <p:nvSpPr>
          <p:cNvPr id="4" name="Rounded Rectangle 3"/>
          <p:cNvSpPr/>
          <p:nvPr/>
        </p:nvSpPr>
        <p:spPr>
          <a:xfrm>
            <a:off x="502920" y="1325880"/>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1399032"/>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07:30</a:t>
            </a:r>
          </a:p>
        </p:txBody>
      </p:sp>
      <p:sp>
        <p:nvSpPr>
          <p:cNvPr id="6" name="TextBox 5"/>
          <p:cNvSpPr txBox="1"/>
          <p:nvPr/>
        </p:nvSpPr>
        <p:spPr>
          <a:xfrm>
            <a:off x="1417320" y="1399032"/>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朝食</a:t>
            </a:r>
          </a:p>
        </p:txBody>
      </p:sp>
      <p:sp>
        <p:nvSpPr>
          <p:cNvPr id="7" name="TextBox 6"/>
          <p:cNvSpPr txBox="1"/>
          <p:nvPr/>
        </p:nvSpPr>
        <p:spPr>
          <a:xfrm>
            <a:off x="2084831" y="1389888"/>
            <a:ext cx="1234440" cy="274320"/>
          </a:xfrm>
          <a:prstGeom prst="rect">
            <a:avLst/>
          </a:prstGeom>
          <a:noFill/>
        </p:spPr>
        <p:txBody>
          <a:bodyPr wrap="none" lIns="73152" rIns="73152" tIns="36576" bIns="36576">
            <a:spAutoFit/>
          </a:bodyPr>
          <a:lstStyle/>
          <a:p>
            <a:pPr algn="l"/>
            <a:r>
              <a:rPr sz="900" b="1">
                <a:solidFill>
                  <a:srgbClr val="143753"/>
                </a:solidFill>
                <a:latin typeface="Yu Gothic"/>
              </a:rPr>
              <a:t>コテージ</a:t>
            </a:r>
          </a:p>
        </p:txBody>
      </p:sp>
      <p:sp>
        <p:nvSpPr>
          <p:cNvPr id="8" name="TextBox 7"/>
          <p:cNvSpPr txBox="1"/>
          <p:nvPr/>
        </p:nvSpPr>
        <p:spPr>
          <a:xfrm>
            <a:off x="3246120" y="1380744"/>
            <a:ext cx="3063240" cy="310896"/>
          </a:xfrm>
          <a:prstGeom prst="rect">
            <a:avLst/>
          </a:prstGeom>
          <a:noFill/>
        </p:spPr>
        <p:txBody>
          <a:bodyPr wrap="none" lIns="73152" rIns="73152" tIns="36576" bIns="36576">
            <a:spAutoFit/>
          </a:bodyPr>
          <a:lstStyle/>
          <a:p>
            <a:pPr algn="l"/>
            <a:r>
              <a:rPr sz="830" b="0">
                <a:solidFill>
                  <a:srgbClr val="222B34"/>
                </a:solidFill>
                <a:latin typeface="Yu Gothic"/>
              </a:rPr>
              <a:t>朝食、チェックアウト準備</a:t>
            </a:r>
          </a:p>
        </p:txBody>
      </p:sp>
      <p:sp>
        <p:nvSpPr>
          <p:cNvPr id="9" name="TextBox 8"/>
          <p:cNvSpPr txBox="1"/>
          <p:nvPr/>
        </p:nvSpPr>
        <p:spPr>
          <a:xfrm>
            <a:off x="6355080" y="1399032"/>
            <a:ext cx="411480" cy="256032"/>
          </a:xfrm>
          <a:prstGeom prst="rect">
            <a:avLst/>
          </a:prstGeom>
          <a:noFill/>
        </p:spPr>
        <p:txBody>
          <a:bodyPr wrap="none" lIns="73152" rIns="73152" tIns="36576" bIns="36576">
            <a:spAutoFit/>
          </a:bodyPr>
          <a:lstStyle/>
          <a:p>
            <a:pPr algn="r"/>
            <a:r>
              <a:rPr sz="830" b="0">
                <a:solidFill>
                  <a:srgbClr val="66707A"/>
                </a:solidFill>
                <a:latin typeface="Yu Gothic"/>
              </a:rPr>
              <a:t>60分</a:t>
            </a:r>
          </a:p>
        </p:txBody>
      </p:sp>
      <p:sp>
        <p:nvSpPr>
          <p:cNvPr id="10" name="Rounded Rectangle 9"/>
          <p:cNvSpPr/>
          <p:nvPr/>
        </p:nvSpPr>
        <p:spPr>
          <a:xfrm>
            <a:off x="502920" y="1892808"/>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965960"/>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08:45</a:t>
            </a:r>
          </a:p>
        </p:txBody>
      </p:sp>
      <p:sp>
        <p:nvSpPr>
          <p:cNvPr id="12" name="TextBox 11"/>
          <p:cNvSpPr txBox="1"/>
          <p:nvPr/>
        </p:nvSpPr>
        <p:spPr>
          <a:xfrm>
            <a:off x="1417320" y="1965960"/>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移動</a:t>
            </a:r>
          </a:p>
        </p:txBody>
      </p:sp>
      <p:sp>
        <p:nvSpPr>
          <p:cNvPr id="13" name="TextBox 12"/>
          <p:cNvSpPr txBox="1"/>
          <p:nvPr/>
        </p:nvSpPr>
        <p:spPr>
          <a:xfrm>
            <a:off x="2084831" y="1956816"/>
            <a:ext cx="1234440" cy="274320"/>
          </a:xfrm>
          <a:prstGeom prst="rect">
            <a:avLst/>
          </a:prstGeom>
          <a:noFill/>
        </p:spPr>
        <p:txBody>
          <a:bodyPr wrap="none" lIns="73152" rIns="73152" tIns="36576" bIns="36576">
            <a:spAutoFit/>
          </a:bodyPr>
          <a:lstStyle/>
          <a:p>
            <a:pPr algn="l"/>
            <a:r>
              <a:rPr sz="900" b="1">
                <a:solidFill>
                  <a:srgbClr val="143753"/>
                </a:solidFill>
                <a:latin typeface="Yu Gothic"/>
              </a:rPr>
              <a:t>層雲峡 → 北見方面</a:t>
            </a:r>
          </a:p>
        </p:txBody>
      </p:sp>
      <p:sp>
        <p:nvSpPr>
          <p:cNvPr id="14" name="TextBox 13"/>
          <p:cNvSpPr txBox="1"/>
          <p:nvPr/>
        </p:nvSpPr>
        <p:spPr>
          <a:xfrm>
            <a:off x="3246120" y="1947672"/>
            <a:ext cx="3063240" cy="310896"/>
          </a:xfrm>
          <a:prstGeom prst="rect">
            <a:avLst/>
          </a:prstGeom>
          <a:noFill/>
        </p:spPr>
        <p:txBody>
          <a:bodyPr wrap="none" lIns="73152" rIns="73152" tIns="36576" bIns="36576">
            <a:spAutoFit/>
          </a:bodyPr>
          <a:lstStyle/>
          <a:p>
            <a:pPr algn="l"/>
            <a:r>
              <a:rPr sz="830" b="0">
                <a:solidFill>
                  <a:srgbClr val="222B34"/>
                </a:solidFill>
                <a:latin typeface="Yu Gothic"/>
              </a:rPr>
              <a:t>道東方面へ移動開始。途中休憩を必ず入れる</a:t>
            </a:r>
          </a:p>
        </p:txBody>
      </p:sp>
      <p:sp>
        <p:nvSpPr>
          <p:cNvPr id="15" name="TextBox 14"/>
          <p:cNvSpPr txBox="1"/>
          <p:nvPr/>
        </p:nvSpPr>
        <p:spPr>
          <a:xfrm>
            <a:off x="6355080" y="1965960"/>
            <a:ext cx="411480" cy="256032"/>
          </a:xfrm>
          <a:prstGeom prst="rect">
            <a:avLst/>
          </a:prstGeom>
          <a:noFill/>
        </p:spPr>
        <p:txBody>
          <a:bodyPr wrap="none" lIns="73152" rIns="73152" tIns="36576" bIns="36576">
            <a:spAutoFit/>
          </a:bodyPr>
          <a:lstStyle/>
          <a:p>
            <a:pPr algn="r"/>
            <a:r>
              <a:rPr sz="830" b="0">
                <a:solidFill>
                  <a:srgbClr val="66707A"/>
                </a:solidFill>
                <a:latin typeface="Yu Gothic"/>
              </a:rPr>
              <a:t>約2時間</a:t>
            </a:r>
          </a:p>
        </p:txBody>
      </p:sp>
      <p:sp>
        <p:nvSpPr>
          <p:cNvPr id="16" name="Rounded Rectangle 15"/>
          <p:cNvSpPr/>
          <p:nvPr/>
        </p:nvSpPr>
        <p:spPr>
          <a:xfrm>
            <a:off x="502920" y="2459736"/>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792" y="2532888"/>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10:45</a:t>
            </a:r>
          </a:p>
        </p:txBody>
      </p:sp>
      <p:sp>
        <p:nvSpPr>
          <p:cNvPr id="18" name="TextBox 17"/>
          <p:cNvSpPr txBox="1"/>
          <p:nvPr/>
        </p:nvSpPr>
        <p:spPr>
          <a:xfrm>
            <a:off x="1417320" y="2532888"/>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休憩</a:t>
            </a:r>
          </a:p>
        </p:txBody>
      </p:sp>
      <p:sp>
        <p:nvSpPr>
          <p:cNvPr id="19" name="TextBox 18"/>
          <p:cNvSpPr txBox="1"/>
          <p:nvPr/>
        </p:nvSpPr>
        <p:spPr>
          <a:xfrm>
            <a:off x="2084831" y="2523744"/>
            <a:ext cx="1234440" cy="274320"/>
          </a:xfrm>
          <a:prstGeom prst="rect">
            <a:avLst/>
          </a:prstGeom>
          <a:noFill/>
        </p:spPr>
        <p:txBody>
          <a:bodyPr wrap="none" lIns="73152" rIns="73152" tIns="36576" bIns="36576">
            <a:spAutoFit/>
          </a:bodyPr>
          <a:lstStyle/>
          <a:p>
            <a:pPr algn="l"/>
            <a:r>
              <a:rPr sz="900" b="1">
                <a:solidFill>
                  <a:srgbClr val="143753"/>
                </a:solidFill>
                <a:latin typeface="Yu Gothic"/>
              </a:rPr>
              <a:t>北見 / 道の駅周辺</a:t>
            </a:r>
          </a:p>
        </p:txBody>
      </p:sp>
      <p:sp>
        <p:nvSpPr>
          <p:cNvPr id="20" name="TextBox 19"/>
          <p:cNvSpPr txBox="1"/>
          <p:nvPr/>
        </p:nvSpPr>
        <p:spPr>
          <a:xfrm>
            <a:off x="3246120" y="2514600"/>
            <a:ext cx="3063240" cy="310896"/>
          </a:xfrm>
          <a:prstGeom prst="rect">
            <a:avLst/>
          </a:prstGeom>
          <a:noFill/>
        </p:spPr>
        <p:txBody>
          <a:bodyPr wrap="none" lIns="73152" rIns="73152" tIns="36576" bIns="36576">
            <a:spAutoFit/>
          </a:bodyPr>
          <a:lstStyle/>
          <a:p>
            <a:pPr algn="l"/>
            <a:r>
              <a:rPr sz="830" b="0">
                <a:solidFill>
                  <a:srgbClr val="222B34"/>
                </a:solidFill>
                <a:latin typeface="Yu Gothic"/>
              </a:rPr>
              <a:t>トイレ、給油、飲み物補充</a:t>
            </a:r>
          </a:p>
        </p:txBody>
      </p:sp>
      <p:sp>
        <p:nvSpPr>
          <p:cNvPr id="21" name="TextBox 20"/>
          <p:cNvSpPr txBox="1"/>
          <p:nvPr/>
        </p:nvSpPr>
        <p:spPr>
          <a:xfrm>
            <a:off x="6355080" y="2532888"/>
            <a:ext cx="411480" cy="256032"/>
          </a:xfrm>
          <a:prstGeom prst="rect">
            <a:avLst/>
          </a:prstGeom>
          <a:noFill/>
        </p:spPr>
        <p:txBody>
          <a:bodyPr wrap="none" lIns="73152" rIns="73152" tIns="36576" bIns="36576">
            <a:spAutoFit/>
          </a:bodyPr>
          <a:lstStyle/>
          <a:p>
            <a:pPr algn="r"/>
            <a:r>
              <a:rPr sz="830" b="0">
                <a:solidFill>
                  <a:srgbClr val="66707A"/>
                </a:solidFill>
                <a:latin typeface="Yu Gothic"/>
              </a:rPr>
              <a:t>30分</a:t>
            </a:r>
          </a:p>
        </p:txBody>
      </p:sp>
      <p:sp>
        <p:nvSpPr>
          <p:cNvPr id="22" name="Rounded Rectangle 21"/>
          <p:cNvSpPr/>
          <p:nvPr/>
        </p:nvSpPr>
        <p:spPr>
          <a:xfrm>
            <a:off x="502920" y="3026664"/>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1792" y="3099816"/>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11:15</a:t>
            </a:r>
          </a:p>
        </p:txBody>
      </p:sp>
      <p:sp>
        <p:nvSpPr>
          <p:cNvPr id="24" name="TextBox 23"/>
          <p:cNvSpPr txBox="1"/>
          <p:nvPr/>
        </p:nvSpPr>
        <p:spPr>
          <a:xfrm>
            <a:off x="1417320" y="3099816"/>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移動</a:t>
            </a:r>
          </a:p>
        </p:txBody>
      </p:sp>
      <p:sp>
        <p:nvSpPr>
          <p:cNvPr id="25" name="TextBox 24"/>
          <p:cNvSpPr txBox="1"/>
          <p:nvPr/>
        </p:nvSpPr>
        <p:spPr>
          <a:xfrm>
            <a:off x="2084831" y="3090672"/>
            <a:ext cx="1234440" cy="274320"/>
          </a:xfrm>
          <a:prstGeom prst="rect">
            <a:avLst/>
          </a:prstGeom>
          <a:noFill/>
        </p:spPr>
        <p:txBody>
          <a:bodyPr wrap="none" lIns="73152" rIns="73152" tIns="36576" bIns="36576">
            <a:spAutoFit/>
          </a:bodyPr>
          <a:lstStyle/>
          <a:p>
            <a:pPr algn="l"/>
            <a:r>
              <a:rPr sz="900" b="1">
                <a:solidFill>
                  <a:srgbClr val="143753"/>
                </a:solidFill>
                <a:latin typeface="Yu Gothic"/>
              </a:rPr>
              <a:t>北見 → 阿寒湖方面</a:t>
            </a:r>
          </a:p>
        </p:txBody>
      </p:sp>
      <p:sp>
        <p:nvSpPr>
          <p:cNvPr id="26" name="TextBox 25"/>
          <p:cNvSpPr txBox="1"/>
          <p:nvPr/>
        </p:nvSpPr>
        <p:spPr>
          <a:xfrm>
            <a:off x="3246120" y="3081528"/>
            <a:ext cx="3063240" cy="310896"/>
          </a:xfrm>
          <a:prstGeom prst="rect">
            <a:avLst/>
          </a:prstGeom>
          <a:noFill/>
        </p:spPr>
        <p:txBody>
          <a:bodyPr wrap="none" lIns="73152" rIns="73152" tIns="36576" bIns="36576">
            <a:spAutoFit/>
          </a:bodyPr>
          <a:lstStyle/>
          <a:p>
            <a:pPr algn="l"/>
            <a:r>
              <a:rPr sz="830" b="0">
                <a:solidFill>
                  <a:srgbClr val="222B34"/>
                </a:solidFill>
                <a:latin typeface="Yu Gothic"/>
              </a:rPr>
              <a:t>阿寒方面へ移動</a:t>
            </a:r>
          </a:p>
        </p:txBody>
      </p:sp>
      <p:sp>
        <p:nvSpPr>
          <p:cNvPr id="27" name="TextBox 26"/>
          <p:cNvSpPr txBox="1"/>
          <p:nvPr/>
        </p:nvSpPr>
        <p:spPr>
          <a:xfrm>
            <a:off x="6355080" y="3099816"/>
            <a:ext cx="411480" cy="256032"/>
          </a:xfrm>
          <a:prstGeom prst="rect">
            <a:avLst/>
          </a:prstGeom>
          <a:noFill/>
        </p:spPr>
        <p:txBody>
          <a:bodyPr wrap="none" lIns="73152" rIns="73152" tIns="36576" bIns="36576">
            <a:spAutoFit/>
          </a:bodyPr>
          <a:lstStyle/>
          <a:p>
            <a:pPr algn="r"/>
            <a:r>
              <a:rPr sz="830" b="0">
                <a:solidFill>
                  <a:srgbClr val="66707A"/>
                </a:solidFill>
                <a:latin typeface="Yu Gothic"/>
              </a:rPr>
              <a:t>約2時間</a:t>
            </a:r>
          </a:p>
        </p:txBody>
      </p:sp>
      <p:sp>
        <p:nvSpPr>
          <p:cNvPr id="28" name="Rounded Rectangle 27"/>
          <p:cNvSpPr/>
          <p:nvPr/>
        </p:nvSpPr>
        <p:spPr>
          <a:xfrm>
            <a:off x="502920" y="3593592"/>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1792" y="3666744"/>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13:15</a:t>
            </a:r>
          </a:p>
        </p:txBody>
      </p:sp>
      <p:sp>
        <p:nvSpPr>
          <p:cNvPr id="30" name="TextBox 29"/>
          <p:cNvSpPr txBox="1"/>
          <p:nvPr/>
        </p:nvSpPr>
        <p:spPr>
          <a:xfrm>
            <a:off x="1417320" y="3666744"/>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昼食</a:t>
            </a:r>
          </a:p>
        </p:txBody>
      </p:sp>
      <p:sp>
        <p:nvSpPr>
          <p:cNvPr id="31" name="TextBox 30"/>
          <p:cNvSpPr txBox="1"/>
          <p:nvPr/>
        </p:nvSpPr>
        <p:spPr>
          <a:xfrm>
            <a:off x="2084831" y="3657600"/>
            <a:ext cx="1234440" cy="274320"/>
          </a:xfrm>
          <a:prstGeom prst="rect">
            <a:avLst/>
          </a:prstGeom>
          <a:noFill/>
        </p:spPr>
        <p:txBody>
          <a:bodyPr wrap="none" lIns="73152" rIns="73152" tIns="36576" bIns="36576">
            <a:spAutoFit/>
          </a:bodyPr>
          <a:lstStyle/>
          <a:p>
            <a:pPr algn="l"/>
            <a:r>
              <a:rPr sz="900" b="1">
                <a:solidFill>
                  <a:srgbClr val="143753"/>
                </a:solidFill>
                <a:latin typeface="Yu Gothic"/>
              </a:rPr>
              <a:t>阿寒湖周辺</a:t>
            </a:r>
          </a:p>
        </p:txBody>
      </p:sp>
      <p:sp>
        <p:nvSpPr>
          <p:cNvPr id="32" name="TextBox 31"/>
          <p:cNvSpPr txBox="1"/>
          <p:nvPr/>
        </p:nvSpPr>
        <p:spPr>
          <a:xfrm>
            <a:off x="3246120" y="3648456"/>
            <a:ext cx="3063240" cy="310896"/>
          </a:xfrm>
          <a:prstGeom prst="rect">
            <a:avLst/>
          </a:prstGeom>
          <a:noFill/>
        </p:spPr>
        <p:txBody>
          <a:bodyPr wrap="none" lIns="73152" rIns="73152" tIns="36576" bIns="36576">
            <a:spAutoFit/>
          </a:bodyPr>
          <a:lstStyle/>
          <a:p>
            <a:pPr algn="l"/>
            <a:r>
              <a:rPr sz="830" b="0">
                <a:solidFill>
                  <a:srgbClr val="222B34"/>
                </a:solidFill>
                <a:latin typeface="Yu Gothic"/>
              </a:rPr>
              <a:t>湖畔で昼食。時間がなければ軽食</a:t>
            </a:r>
          </a:p>
        </p:txBody>
      </p:sp>
      <p:sp>
        <p:nvSpPr>
          <p:cNvPr id="33" name="TextBox 32"/>
          <p:cNvSpPr txBox="1"/>
          <p:nvPr/>
        </p:nvSpPr>
        <p:spPr>
          <a:xfrm>
            <a:off x="6355080" y="3666744"/>
            <a:ext cx="411480" cy="256032"/>
          </a:xfrm>
          <a:prstGeom prst="rect">
            <a:avLst/>
          </a:prstGeom>
          <a:noFill/>
        </p:spPr>
        <p:txBody>
          <a:bodyPr wrap="none" lIns="73152" rIns="73152" tIns="36576" bIns="36576">
            <a:spAutoFit/>
          </a:bodyPr>
          <a:lstStyle/>
          <a:p>
            <a:pPr algn="r"/>
            <a:r>
              <a:rPr sz="830" b="0">
                <a:solidFill>
                  <a:srgbClr val="66707A"/>
                </a:solidFill>
                <a:latin typeface="Yu Gothic"/>
              </a:rPr>
              <a:t>60分</a:t>
            </a:r>
          </a:p>
        </p:txBody>
      </p:sp>
      <p:sp>
        <p:nvSpPr>
          <p:cNvPr id="34" name="Rounded Rectangle 33"/>
          <p:cNvSpPr/>
          <p:nvPr/>
        </p:nvSpPr>
        <p:spPr>
          <a:xfrm>
            <a:off x="502920" y="4160520"/>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1792" y="4233672"/>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14:30</a:t>
            </a:r>
          </a:p>
        </p:txBody>
      </p:sp>
      <p:sp>
        <p:nvSpPr>
          <p:cNvPr id="36" name="TextBox 35"/>
          <p:cNvSpPr txBox="1"/>
          <p:nvPr/>
        </p:nvSpPr>
        <p:spPr>
          <a:xfrm>
            <a:off x="1417320" y="4233672"/>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観光</a:t>
            </a:r>
          </a:p>
        </p:txBody>
      </p:sp>
      <p:sp>
        <p:nvSpPr>
          <p:cNvPr id="37" name="TextBox 36"/>
          <p:cNvSpPr txBox="1"/>
          <p:nvPr/>
        </p:nvSpPr>
        <p:spPr>
          <a:xfrm>
            <a:off x="2084831" y="4224528"/>
            <a:ext cx="1234440" cy="274320"/>
          </a:xfrm>
          <a:prstGeom prst="rect">
            <a:avLst/>
          </a:prstGeom>
          <a:noFill/>
        </p:spPr>
        <p:txBody>
          <a:bodyPr wrap="none" lIns="73152" rIns="73152" tIns="36576" bIns="36576">
            <a:spAutoFit/>
          </a:bodyPr>
          <a:lstStyle/>
          <a:p>
            <a:pPr algn="l"/>
            <a:r>
              <a:rPr sz="900" b="1">
                <a:solidFill>
                  <a:srgbClr val="143753"/>
                </a:solidFill>
                <a:latin typeface="Yu Gothic"/>
              </a:rPr>
              <a:t>阿寒湖 / 摩周湖候補</a:t>
            </a:r>
          </a:p>
        </p:txBody>
      </p:sp>
      <p:sp>
        <p:nvSpPr>
          <p:cNvPr id="38" name="TextBox 37"/>
          <p:cNvSpPr txBox="1"/>
          <p:nvPr/>
        </p:nvSpPr>
        <p:spPr>
          <a:xfrm>
            <a:off x="3246120" y="4215384"/>
            <a:ext cx="3063240" cy="310896"/>
          </a:xfrm>
          <a:prstGeom prst="rect">
            <a:avLst/>
          </a:prstGeom>
          <a:noFill/>
        </p:spPr>
        <p:txBody>
          <a:bodyPr wrap="none" lIns="73152" rIns="73152" tIns="36576" bIns="36576">
            <a:spAutoFit/>
          </a:bodyPr>
          <a:lstStyle/>
          <a:p>
            <a:pPr algn="l"/>
            <a:r>
              <a:rPr sz="830" b="0">
                <a:solidFill>
                  <a:srgbClr val="222B34"/>
                </a:solidFill>
                <a:latin typeface="Yu Gothic"/>
              </a:rPr>
              <a:t>天候に合わせて湖畔散策または展望台</a:t>
            </a:r>
          </a:p>
        </p:txBody>
      </p:sp>
      <p:sp>
        <p:nvSpPr>
          <p:cNvPr id="39" name="TextBox 38"/>
          <p:cNvSpPr txBox="1"/>
          <p:nvPr/>
        </p:nvSpPr>
        <p:spPr>
          <a:xfrm>
            <a:off x="6355080" y="4233672"/>
            <a:ext cx="411480" cy="256032"/>
          </a:xfrm>
          <a:prstGeom prst="rect">
            <a:avLst/>
          </a:prstGeom>
          <a:noFill/>
        </p:spPr>
        <p:txBody>
          <a:bodyPr wrap="none" lIns="73152" rIns="73152" tIns="36576" bIns="36576">
            <a:spAutoFit/>
          </a:bodyPr>
          <a:lstStyle/>
          <a:p>
            <a:pPr algn="r"/>
            <a:r>
              <a:rPr sz="830" b="0">
                <a:solidFill>
                  <a:srgbClr val="66707A"/>
                </a:solidFill>
                <a:latin typeface="Yu Gothic"/>
              </a:rPr>
              <a:t>75分</a:t>
            </a:r>
          </a:p>
        </p:txBody>
      </p:sp>
      <p:sp>
        <p:nvSpPr>
          <p:cNvPr id="40" name="Rounded Rectangle 39"/>
          <p:cNvSpPr/>
          <p:nvPr/>
        </p:nvSpPr>
        <p:spPr>
          <a:xfrm>
            <a:off x="502920" y="4727448"/>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21792" y="4800600"/>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16:00</a:t>
            </a:r>
          </a:p>
        </p:txBody>
      </p:sp>
      <p:sp>
        <p:nvSpPr>
          <p:cNvPr id="42" name="TextBox 41"/>
          <p:cNvSpPr txBox="1"/>
          <p:nvPr/>
        </p:nvSpPr>
        <p:spPr>
          <a:xfrm>
            <a:off x="1417320" y="4800600"/>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移動</a:t>
            </a:r>
          </a:p>
        </p:txBody>
      </p:sp>
      <p:sp>
        <p:nvSpPr>
          <p:cNvPr id="43" name="TextBox 42"/>
          <p:cNvSpPr txBox="1"/>
          <p:nvPr/>
        </p:nvSpPr>
        <p:spPr>
          <a:xfrm>
            <a:off x="2084831" y="4791456"/>
            <a:ext cx="1234440" cy="274320"/>
          </a:xfrm>
          <a:prstGeom prst="rect">
            <a:avLst/>
          </a:prstGeom>
          <a:noFill/>
        </p:spPr>
        <p:txBody>
          <a:bodyPr wrap="none" lIns="73152" rIns="73152" tIns="36576" bIns="36576">
            <a:spAutoFit/>
          </a:bodyPr>
          <a:lstStyle/>
          <a:p>
            <a:pPr algn="l"/>
            <a:r>
              <a:rPr sz="900" b="1">
                <a:solidFill>
                  <a:srgbClr val="143753"/>
                </a:solidFill>
                <a:latin typeface="Yu Gothic"/>
              </a:rPr>
              <a:t>阿寒・摩周 → 中標津</a:t>
            </a:r>
          </a:p>
        </p:txBody>
      </p:sp>
      <p:sp>
        <p:nvSpPr>
          <p:cNvPr id="44" name="TextBox 43"/>
          <p:cNvSpPr txBox="1"/>
          <p:nvPr/>
        </p:nvSpPr>
        <p:spPr>
          <a:xfrm>
            <a:off x="3246120" y="4782312"/>
            <a:ext cx="3063240" cy="310896"/>
          </a:xfrm>
          <a:prstGeom prst="rect">
            <a:avLst/>
          </a:prstGeom>
          <a:noFill/>
        </p:spPr>
        <p:txBody>
          <a:bodyPr wrap="none" lIns="73152" rIns="73152" tIns="36576" bIns="36576">
            <a:spAutoFit/>
          </a:bodyPr>
          <a:lstStyle/>
          <a:p>
            <a:pPr algn="l"/>
            <a:r>
              <a:rPr sz="830" b="0">
                <a:solidFill>
                  <a:srgbClr val="222B34"/>
                </a:solidFill>
                <a:latin typeface="Yu Gothic"/>
              </a:rPr>
              <a:t>中標津方面へ移動</a:t>
            </a:r>
          </a:p>
        </p:txBody>
      </p:sp>
      <p:sp>
        <p:nvSpPr>
          <p:cNvPr id="45" name="TextBox 44"/>
          <p:cNvSpPr txBox="1"/>
          <p:nvPr/>
        </p:nvSpPr>
        <p:spPr>
          <a:xfrm>
            <a:off x="6355080" y="4800600"/>
            <a:ext cx="411480" cy="256032"/>
          </a:xfrm>
          <a:prstGeom prst="rect">
            <a:avLst/>
          </a:prstGeom>
          <a:noFill/>
        </p:spPr>
        <p:txBody>
          <a:bodyPr wrap="none" lIns="73152" rIns="73152" tIns="36576" bIns="36576">
            <a:spAutoFit/>
          </a:bodyPr>
          <a:lstStyle/>
          <a:p>
            <a:pPr algn="r"/>
            <a:r>
              <a:rPr sz="830" b="0">
                <a:solidFill>
                  <a:srgbClr val="66707A"/>
                </a:solidFill>
                <a:latin typeface="Yu Gothic"/>
              </a:rPr>
              <a:t>約90分</a:t>
            </a:r>
          </a:p>
        </p:txBody>
      </p:sp>
      <p:sp>
        <p:nvSpPr>
          <p:cNvPr id="46" name="Rounded Rectangle 45"/>
          <p:cNvSpPr/>
          <p:nvPr/>
        </p:nvSpPr>
        <p:spPr>
          <a:xfrm>
            <a:off x="502920" y="5294376"/>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21792" y="5367528"/>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17:30</a:t>
            </a:r>
          </a:p>
        </p:txBody>
      </p:sp>
      <p:sp>
        <p:nvSpPr>
          <p:cNvPr id="48" name="TextBox 47"/>
          <p:cNvSpPr txBox="1"/>
          <p:nvPr/>
        </p:nvSpPr>
        <p:spPr>
          <a:xfrm>
            <a:off x="1417320" y="5367528"/>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手続き</a:t>
            </a:r>
          </a:p>
        </p:txBody>
      </p:sp>
      <p:sp>
        <p:nvSpPr>
          <p:cNvPr id="49" name="TextBox 48"/>
          <p:cNvSpPr txBox="1"/>
          <p:nvPr/>
        </p:nvSpPr>
        <p:spPr>
          <a:xfrm>
            <a:off x="2084831" y="5358384"/>
            <a:ext cx="1234440" cy="274320"/>
          </a:xfrm>
          <a:prstGeom prst="rect">
            <a:avLst/>
          </a:prstGeom>
          <a:noFill/>
        </p:spPr>
        <p:txBody>
          <a:bodyPr wrap="none" lIns="73152" rIns="73152" tIns="36576" bIns="36576">
            <a:spAutoFit/>
          </a:bodyPr>
          <a:lstStyle/>
          <a:p>
            <a:pPr algn="l"/>
            <a:r>
              <a:rPr sz="900" b="1">
                <a:solidFill>
                  <a:srgbClr val="143753"/>
                </a:solidFill>
                <a:latin typeface="Yu Gothic"/>
              </a:rPr>
              <a:t>Shinrin Koen Camp</a:t>
            </a:r>
          </a:p>
        </p:txBody>
      </p:sp>
      <p:sp>
        <p:nvSpPr>
          <p:cNvPr id="50" name="TextBox 49"/>
          <p:cNvSpPr txBox="1"/>
          <p:nvPr/>
        </p:nvSpPr>
        <p:spPr>
          <a:xfrm>
            <a:off x="3246120" y="5349240"/>
            <a:ext cx="3063240" cy="310896"/>
          </a:xfrm>
          <a:prstGeom prst="rect">
            <a:avLst/>
          </a:prstGeom>
          <a:noFill/>
        </p:spPr>
        <p:txBody>
          <a:bodyPr wrap="none" lIns="73152" rIns="73152" tIns="36576" bIns="36576">
            <a:spAutoFit/>
          </a:bodyPr>
          <a:lstStyle/>
          <a:p>
            <a:pPr algn="l"/>
            <a:r>
              <a:rPr sz="830" b="0">
                <a:solidFill>
                  <a:srgbClr val="222B34"/>
                </a:solidFill>
                <a:latin typeface="Yu Gothic"/>
              </a:rPr>
              <a:t>バンガローへチェックイン、荷下ろし</a:t>
            </a:r>
          </a:p>
        </p:txBody>
      </p:sp>
      <p:sp>
        <p:nvSpPr>
          <p:cNvPr id="51" name="TextBox 50"/>
          <p:cNvSpPr txBox="1"/>
          <p:nvPr/>
        </p:nvSpPr>
        <p:spPr>
          <a:xfrm>
            <a:off x="6355080" y="5367528"/>
            <a:ext cx="411480" cy="256032"/>
          </a:xfrm>
          <a:prstGeom prst="rect">
            <a:avLst/>
          </a:prstGeom>
          <a:noFill/>
        </p:spPr>
        <p:txBody>
          <a:bodyPr wrap="none" lIns="73152" rIns="73152" tIns="36576" bIns="36576">
            <a:spAutoFit/>
          </a:bodyPr>
          <a:lstStyle/>
          <a:p>
            <a:pPr algn="r"/>
            <a:r>
              <a:rPr sz="830" b="0">
                <a:solidFill>
                  <a:srgbClr val="66707A"/>
                </a:solidFill>
                <a:latin typeface="Yu Gothic"/>
              </a:rPr>
              <a:t>60分</a:t>
            </a:r>
          </a:p>
        </p:txBody>
      </p:sp>
      <p:sp>
        <p:nvSpPr>
          <p:cNvPr id="52" name="Rounded Rectangle 51"/>
          <p:cNvSpPr/>
          <p:nvPr/>
        </p:nvSpPr>
        <p:spPr>
          <a:xfrm>
            <a:off x="502920" y="5861304"/>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1792" y="5934456"/>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18:45</a:t>
            </a:r>
          </a:p>
        </p:txBody>
      </p:sp>
      <p:sp>
        <p:nvSpPr>
          <p:cNvPr id="54" name="TextBox 53"/>
          <p:cNvSpPr txBox="1"/>
          <p:nvPr/>
        </p:nvSpPr>
        <p:spPr>
          <a:xfrm>
            <a:off x="1417320" y="5934456"/>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夕食</a:t>
            </a:r>
          </a:p>
        </p:txBody>
      </p:sp>
      <p:sp>
        <p:nvSpPr>
          <p:cNvPr id="55" name="TextBox 54"/>
          <p:cNvSpPr txBox="1"/>
          <p:nvPr/>
        </p:nvSpPr>
        <p:spPr>
          <a:xfrm>
            <a:off x="2084831" y="5925312"/>
            <a:ext cx="1234440" cy="274320"/>
          </a:xfrm>
          <a:prstGeom prst="rect">
            <a:avLst/>
          </a:prstGeom>
          <a:noFill/>
        </p:spPr>
        <p:txBody>
          <a:bodyPr wrap="none" lIns="73152" rIns="73152" tIns="36576" bIns="36576">
            <a:spAutoFit/>
          </a:bodyPr>
          <a:lstStyle/>
          <a:p>
            <a:pPr algn="l"/>
            <a:r>
              <a:rPr sz="900" b="1">
                <a:solidFill>
                  <a:srgbClr val="143753"/>
                </a:solidFill>
                <a:latin typeface="Yu Gothic"/>
              </a:rPr>
              <a:t>中標津市街 / キャンプ場</a:t>
            </a:r>
          </a:p>
        </p:txBody>
      </p:sp>
      <p:sp>
        <p:nvSpPr>
          <p:cNvPr id="56" name="TextBox 55"/>
          <p:cNvSpPr txBox="1"/>
          <p:nvPr/>
        </p:nvSpPr>
        <p:spPr>
          <a:xfrm>
            <a:off x="3246120" y="5916168"/>
            <a:ext cx="3063240" cy="310896"/>
          </a:xfrm>
          <a:prstGeom prst="rect">
            <a:avLst/>
          </a:prstGeom>
          <a:noFill/>
        </p:spPr>
        <p:txBody>
          <a:bodyPr wrap="none" lIns="73152" rIns="73152" tIns="36576" bIns="36576">
            <a:spAutoFit/>
          </a:bodyPr>
          <a:lstStyle/>
          <a:p>
            <a:pPr algn="l"/>
            <a:r>
              <a:rPr sz="830" b="0">
                <a:solidFill>
                  <a:srgbClr val="222B34"/>
                </a:solidFill>
                <a:latin typeface="Yu Gothic"/>
              </a:rPr>
              <a:t>外食または簡単調理</a:t>
            </a:r>
          </a:p>
        </p:txBody>
      </p:sp>
      <p:sp>
        <p:nvSpPr>
          <p:cNvPr id="57" name="TextBox 56"/>
          <p:cNvSpPr txBox="1"/>
          <p:nvPr/>
        </p:nvSpPr>
        <p:spPr>
          <a:xfrm>
            <a:off x="6355080" y="5934456"/>
            <a:ext cx="411480" cy="256032"/>
          </a:xfrm>
          <a:prstGeom prst="rect">
            <a:avLst/>
          </a:prstGeom>
          <a:noFill/>
        </p:spPr>
        <p:txBody>
          <a:bodyPr wrap="none" lIns="73152" rIns="73152" tIns="36576" bIns="36576">
            <a:spAutoFit/>
          </a:bodyPr>
          <a:lstStyle/>
          <a:p>
            <a:pPr algn="r"/>
            <a:r>
              <a:rPr sz="830" b="0">
                <a:solidFill>
                  <a:srgbClr val="66707A"/>
                </a:solidFill>
                <a:latin typeface="Yu Gothic"/>
              </a:rPr>
              <a:t>90分</a:t>
            </a:r>
          </a:p>
        </p:txBody>
      </p:sp>
      <p:pic>
        <p:nvPicPr>
          <p:cNvPr id="58" name="Picture 57" descr="2026-08-07_摩周湖.png"/>
          <p:cNvPicPr>
            <a:picLocks noChangeAspect="1"/>
          </p:cNvPicPr>
          <p:nvPr/>
        </p:nvPicPr>
        <p:blipFill>
          <a:blip r:embed="rId2"/>
          <a:stretch>
            <a:fillRect/>
          </a:stretch>
        </p:blipFill>
        <p:spPr>
          <a:xfrm>
            <a:off x="7360920" y="502920"/>
            <a:ext cx="4160520" cy="2331720"/>
          </a:xfrm>
          <a:prstGeom prst="rect">
            <a:avLst/>
          </a:prstGeom>
        </p:spPr>
      </p:pic>
      <p:sp>
        <p:nvSpPr>
          <p:cNvPr id="59" name="TextBox 58"/>
          <p:cNvSpPr txBox="1"/>
          <p:nvPr/>
        </p:nvSpPr>
        <p:spPr>
          <a:xfrm>
            <a:off x="7360920" y="3063240"/>
            <a:ext cx="4343400" cy="292608"/>
          </a:xfrm>
          <a:prstGeom prst="rect">
            <a:avLst/>
          </a:prstGeom>
          <a:noFill/>
        </p:spPr>
        <p:txBody>
          <a:bodyPr wrap="none" lIns="73152" rIns="73152" tIns="36576" bIns="36576">
            <a:spAutoFit/>
          </a:bodyPr>
          <a:lstStyle/>
          <a:p>
            <a:pPr algn="l"/>
            <a:r>
              <a:rPr sz="1500" b="1">
                <a:solidFill>
                  <a:srgbClr val="143753"/>
                </a:solidFill>
                <a:latin typeface="Yu Gothic"/>
              </a:rPr>
              <a:t>レストラン候補</a:t>
            </a:r>
          </a:p>
        </p:txBody>
      </p:sp>
      <p:sp>
        <p:nvSpPr>
          <p:cNvPr id="60" name="Rounded Rectangle 59"/>
          <p:cNvSpPr/>
          <p:nvPr/>
        </p:nvSpPr>
        <p:spPr>
          <a:xfrm>
            <a:off x="7360920" y="344728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434072" y="3502152"/>
            <a:ext cx="566928" cy="228600"/>
          </a:xfrm>
          <a:prstGeom prst="rect">
            <a:avLst/>
          </a:prstGeom>
          <a:noFill/>
        </p:spPr>
        <p:txBody>
          <a:bodyPr wrap="none" lIns="73152" rIns="73152" tIns="36576" bIns="36576">
            <a:spAutoFit/>
          </a:bodyPr>
          <a:lstStyle/>
          <a:p>
            <a:pPr algn="l"/>
            <a:r>
              <a:rPr sz="850" b="1">
                <a:solidFill>
                  <a:srgbClr val="D86352"/>
                </a:solidFill>
                <a:latin typeface="Yu Gothic"/>
              </a:rPr>
              <a:t>昼食</a:t>
            </a:r>
          </a:p>
        </p:txBody>
      </p:sp>
      <p:sp>
        <p:nvSpPr>
          <p:cNvPr id="62" name="TextBox 61"/>
          <p:cNvSpPr txBox="1"/>
          <p:nvPr/>
        </p:nvSpPr>
        <p:spPr>
          <a:xfrm>
            <a:off x="8001000" y="349300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阿寒湖温泉街の食堂</a:t>
            </a:r>
          </a:p>
        </p:txBody>
      </p:sp>
      <p:sp>
        <p:nvSpPr>
          <p:cNvPr id="63" name="TextBox 62"/>
          <p:cNvSpPr txBox="1"/>
          <p:nvPr/>
        </p:nvSpPr>
        <p:spPr>
          <a:xfrm>
            <a:off x="9509760" y="349300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湖畔休憩とセットにしやすい</a:t>
            </a:r>
          </a:p>
        </p:txBody>
      </p:sp>
      <p:sp>
        <p:nvSpPr>
          <p:cNvPr id="64" name="Rounded Rectangle 63"/>
          <p:cNvSpPr/>
          <p:nvPr/>
        </p:nvSpPr>
        <p:spPr>
          <a:xfrm>
            <a:off x="7360920" y="395020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434072" y="4005072"/>
            <a:ext cx="566928" cy="228600"/>
          </a:xfrm>
          <a:prstGeom prst="rect">
            <a:avLst/>
          </a:prstGeom>
          <a:noFill/>
        </p:spPr>
        <p:txBody>
          <a:bodyPr wrap="none" lIns="73152" rIns="73152" tIns="36576" bIns="36576">
            <a:spAutoFit/>
          </a:bodyPr>
          <a:lstStyle/>
          <a:p>
            <a:pPr algn="l"/>
            <a:r>
              <a:rPr sz="850" b="1">
                <a:solidFill>
                  <a:srgbClr val="D86352"/>
                </a:solidFill>
                <a:latin typeface="Yu Gothic"/>
              </a:rPr>
              <a:t>昼食</a:t>
            </a:r>
          </a:p>
        </p:txBody>
      </p:sp>
      <p:sp>
        <p:nvSpPr>
          <p:cNvPr id="66" name="TextBox 65"/>
          <p:cNvSpPr txBox="1"/>
          <p:nvPr/>
        </p:nvSpPr>
        <p:spPr>
          <a:xfrm>
            <a:off x="8001000" y="399592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道の駅・ドライブイン</a:t>
            </a:r>
          </a:p>
        </p:txBody>
      </p:sp>
      <p:sp>
        <p:nvSpPr>
          <p:cNvPr id="67" name="TextBox 66"/>
          <p:cNvSpPr txBox="1"/>
          <p:nvPr/>
        </p:nvSpPr>
        <p:spPr>
          <a:xfrm>
            <a:off x="9509760" y="399592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移動優先のバックアップ</a:t>
            </a:r>
          </a:p>
        </p:txBody>
      </p:sp>
      <p:sp>
        <p:nvSpPr>
          <p:cNvPr id="68" name="Rounded Rectangle 67"/>
          <p:cNvSpPr/>
          <p:nvPr/>
        </p:nvSpPr>
        <p:spPr>
          <a:xfrm>
            <a:off x="7360920" y="445312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434072" y="4507992"/>
            <a:ext cx="566928" cy="228600"/>
          </a:xfrm>
          <a:prstGeom prst="rect">
            <a:avLst/>
          </a:prstGeom>
          <a:noFill/>
        </p:spPr>
        <p:txBody>
          <a:bodyPr wrap="none" lIns="73152" rIns="73152" tIns="36576" bIns="36576">
            <a:spAutoFit/>
          </a:bodyPr>
          <a:lstStyle/>
          <a:p>
            <a:pPr algn="l"/>
            <a:r>
              <a:rPr sz="850" b="1">
                <a:solidFill>
                  <a:srgbClr val="D86352"/>
                </a:solidFill>
                <a:latin typeface="Yu Gothic"/>
              </a:rPr>
              <a:t>夕食</a:t>
            </a:r>
          </a:p>
        </p:txBody>
      </p:sp>
      <p:sp>
        <p:nvSpPr>
          <p:cNvPr id="70" name="TextBox 69"/>
          <p:cNvSpPr txBox="1"/>
          <p:nvPr/>
        </p:nvSpPr>
        <p:spPr>
          <a:xfrm>
            <a:off x="8001000" y="449884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中標津市街の回転寿司・定食</a:t>
            </a:r>
          </a:p>
        </p:txBody>
      </p:sp>
      <p:sp>
        <p:nvSpPr>
          <p:cNvPr id="71" name="TextBox 70"/>
          <p:cNvSpPr txBox="1"/>
          <p:nvPr/>
        </p:nvSpPr>
        <p:spPr>
          <a:xfrm>
            <a:off x="9509760" y="449884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到着後に外食する場合の候補</a:t>
            </a:r>
          </a:p>
        </p:txBody>
      </p:sp>
      <p:sp>
        <p:nvSpPr>
          <p:cNvPr id="72" name="Rounded Rectangle 71"/>
          <p:cNvSpPr/>
          <p:nvPr/>
        </p:nvSpPr>
        <p:spPr>
          <a:xfrm>
            <a:off x="7360920" y="495604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434072" y="5010912"/>
            <a:ext cx="566928" cy="228600"/>
          </a:xfrm>
          <a:prstGeom prst="rect">
            <a:avLst/>
          </a:prstGeom>
          <a:noFill/>
        </p:spPr>
        <p:txBody>
          <a:bodyPr wrap="none" lIns="73152" rIns="73152" tIns="36576" bIns="36576">
            <a:spAutoFit/>
          </a:bodyPr>
          <a:lstStyle/>
          <a:p>
            <a:pPr algn="l"/>
            <a:r>
              <a:rPr sz="850" b="1">
                <a:solidFill>
                  <a:srgbClr val="D86352"/>
                </a:solidFill>
                <a:latin typeface="Yu Gothic"/>
              </a:rPr>
              <a:t>夕食</a:t>
            </a:r>
          </a:p>
        </p:txBody>
      </p:sp>
      <p:sp>
        <p:nvSpPr>
          <p:cNvPr id="74" name="TextBox 73"/>
          <p:cNvSpPr txBox="1"/>
          <p:nvPr/>
        </p:nvSpPr>
        <p:spPr>
          <a:xfrm>
            <a:off x="8001000" y="500176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バンガローで簡単調理</a:t>
            </a:r>
          </a:p>
        </p:txBody>
      </p:sp>
      <p:sp>
        <p:nvSpPr>
          <p:cNvPr id="75" name="TextBox 74"/>
          <p:cNvSpPr txBox="1"/>
          <p:nvPr/>
        </p:nvSpPr>
        <p:spPr>
          <a:xfrm>
            <a:off x="9509760" y="500176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疲れている場合の安全策</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2026-08-08_開陽台.png"/>
          <p:cNvPicPr>
            <a:picLocks noChangeAspect="1"/>
          </p:cNvPicPr>
          <p:nvPr/>
        </p:nvPicPr>
        <p:blipFill>
          <a:blip r:embed="rId2"/>
          <a:stretch>
            <a:fillRect/>
          </a:stretch>
        </p:blipFill>
        <p:spPr>
          <a:xfrm>
            <a:off x="7059168" y="0"/>
            <a:ext cx="5129784" cy="3886200"/>
          </a:xfrm>
          <a:prstGeom prst="rect">
            <a:avLst/>
          </a:prstGeom>
        </p:spPr>
      </p:pic>
      <p:sp>
        <p:nvSpPr>
          <p:cNvPr id="3" name="Rounded Rectangle 2"/>
          <p:cNvSpPr/>
          <p:nvPr/>
        </p:nvSpPr>
        <p:spPr>
          <a:xfrm>
            <a:off x="502920" y="347472"/>
            <a:ext cx="1325880" cy="329184"/>
          </a:xfrm>
          <a:prstGeom prst="roundRect">
            <a:avLst/>
          </a:prstGeom>
          <a:solidFill>
            <a:srgbClr val="D863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Yu Gothic"/>
              </a:rPr>
              <a:t>DAY 9</a:t>
            </a:r>
          </a:p>
        </p:txBody>
      </p:sp>
      <p:sp>
        <p:nvSpPr>
          <p:cNvPr id="4" name="TextBox 3"/>
          <p:cNvSpPr txBox="1"/>
          <p:nvPr/>
        </p:nvSpPr>
        <p:spPr>
          <a:xfrm>
            <a:off x="502920" y="749808"/>
            <a:ext cx="6126480" cy="548640"/>
          </a:xfrm>
          <a:prstGeom prst="rect">
            <a:avLst/>
          </a:prstGeom>
          <a:noFill/>
        </p:spPr>
        <p:txBody>
          <a:bodyPr wrap="none" lIns="73152" rIns="73152" tIns="36576" bIns="36576">
            <a:spAutoFit/>
          </a:bodyPr>
          <a:lstStyle/>
          <a:p>
            <a:pPr algn="l"/>
            <a:r>
              <a:rPr sz="2200" b="1">
                <a:solidFill>
                  <a:srgbClr val="143753"/>
                </a:solidFill>
                <a:latin typeface="Yu Gothic"/>
              </a:rPr>
              <a:t>2026-08-08  開陽台とミルクロードで道東の広さを感じる</a:t>
            </a:r>
          </a:p>
        </p:txBody>
      </p:sp>
      <p:sp>
        <p:nvSpPr>
          <p:cNvPr id="5" name="TextBox 4"/>
          <p:cNvSpPr txBox="1"/>
          <p:nvPr/>
        </p:nvSpPr>
        <p:spPr>
          <a:xfrm>
            <a:off x="530352" y="1234440"/>
            <a:ext cx="5989320" cy="384048"/>
          </a:xfrm>
          <a:prstGeom prst="rect">
            <a:avLst/>
          </a:prstGeom>
          <a:noFill/>
        </p:spPr>
        <p:txBody>
          <a:bodyPr wrap="none" lIns="73152" rIns="73152" tIns="36576" bIns="36576">
            <a:spAutoFit/>
          </a:bodyPr>
          <a:lstStyle/>
          <a:p>
            <a:pPr algn="l"/>
            <a:r>
              <a:rPr sz="1300" b="1">
                <a:solidFill>
                  <a:srgbClr val="2C73A0"/>
                </a:solidFill>
                <a:latin typeface="Yu Gothic"/>
              </a:rPr>
              <a:t>中標津 / 開陽台 / 養老牛</a:t>
            </a:r>
          </a:p>
        </p:txBody>
      </p:sp>
      <p:sp>
        <p:nvSpPr>
          <p:cNvPr id="6" name="TextBox 5"/>
          <p:cNvSpPr txBox="1"/>
          <p:nvPr/>
        </p:nvSpPr>
        <p:spPr>
          <a:xfrm>
            <a:off x="530352" y="1719072"/>
            <a:ext cx="6080760" cy="896112"/>
          </a:xfrm>
          <a:prstGeom prst="rect">
            <a:avLst/>
          </a:prstGeom>
          <a:noFill/>
        </p:spPr>
        <p:txBody>
          <a:bodyPr wrap="none" lIns="73152" rIns="73152" tIns="36576" bIns="36576">
            <a:spAutoFit/>
          </a:bodyPr>
          <a:lstStyle/>
          <a:p>
            <a:pPr algn="l"/>
            <a:r>
              <a:rPr sz="1230" b="0">
                <a:solidFill>
                  <a:srgbClr val="222B34"/>
                </a:solidFill>
                <a:latin typeface="Yu Gothic"/>
              </a:rPr>
              <a:t>中標津滞在の自然満喫日。開陽台、ミルクロード、牧場風景、養老牛方面をゆっくり回り、道東らしい広さと空を楽しみます。夜は星空も候補です。</a:t>
            </a:r>
          </a:p>
        </p:txBody>
      </p:sp>
      <p:sp>
        <p:nvSpPr>
          <p:cNvPr id="7" name="TextBox 6"/>
          <p:cNvSpPr txBox="1"/>
          <p:nvPr/>
        </p:nvSpPr>
        <p:spPr>
          <a:xfrm>
            <a:off x="530352" y="2852928"/>
            <a:ext cx="6126480" cy="292608"/>
          </a:xfrm>
          <a:prstGeom prst="rect">
            <a:avLst/>
          </a:prstGeom>
          <a:noFill/>
        </p:spPr>
        <p:txBody>
          <a:bodyPr wrap="none" lIns="73152" rIns="73152" tIns="36576" bIns="36576">
            <a:spAutoFit/>
          </a:bodyPr>
          <a:lstStyle/>
          <a:p>
            <a:pPr algn="l"/>
            <a:r>
              <a:rPr sz="1500" b="1">
                <a:solidFill>
                  <a:srgbClr val="143753"/>
                </a:solidFill>
                <a:latin typeface="Yu Gothic"/>
              </a:rPr>
              <a:t>この日の流れ</a:t>
            </a:r>
          </a:p>
        </p:txBody>
      </p:sp>
      <p:sp>
        <p:nvSpPr>
          <p:cNvPr id="8" name="Rounded Rectangle 7"/>
          <p:cNvSpPr/>
          <p:nvPr/>
        </p:nvSpPr>
        <p:spPr>
          <a:xfrm>
            <a:off x="502920" y="3246120"/>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3319272"/>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08:00</a:t>
            </a:r>
          </a:p>
        </p:txBody>
      </p:sp>
      <p:sp>
        <p:nvSpPr>
          <p:cNvPr id="10" name="TextBox 9"/>
          <p:cNvSpPr txBox="1"/>
          <p:nvPr/>
        </p:nvSpPr>
        <p:spPr>
          <a:xfrm>
            <a:off x="1417320" y="3319272"/>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朝食</a:t>
            </a:r>
          </a:p>
        </p:txBody>
      </p:sp>
      <p:sp>
        <p:nvSpPr>
          <p:cNvPr id="11" name="TextBox 10"/>
          <p:cNvSpPr txBox="1"/>
          <p:nvPr/>
        </p:nvSpPr>
        <p:spPr>
          <a:xfrm>
            <a:off x="2084831" y="3310128"/>
            <a:ext cx="1234440" cy="274320"/>
          </a:xfrm>
          <a:prstGeom prst="rect">
            <a:avLst/>
          </a:prstGeom>
          <a:noFill/>
        </p:spPr>
        <p:txBody>
          <a:bodyPr wrap="none" lIns="73152" rIns="73152" tIns="36576" bIns="36576">
            <a:spAutoFit/>
          </a:bodyPr>
          <a:lstStyle/>
          <a:p>
            <a:pPr algn="l"/>
            <a:r>
              <a:rPr sz="900" b="1">
                <a:solidFill>
                  <a:srgbClr val="143753"/>
                </a:solidFill>
                <a:latin typeface="Yu Gothic"/>
              </a:rPr>
              <a:t>バンガロー</a:t>
            </a:r>
          </a:p>
        </p:txBody>
      </p:sp>
      <p:sp>
        <p:nvSpPr>
          <p:cNvPr id="12" name="TextBox 11"/>
          <p:cNvSpPr txBox="1"/>
          <p:nvPr/>
        </p:nvSpPr>
        <p:spPr>
          <a:xfrm>
            <a:off x="3246120" y="3300984"/>
            <a:ext cx="3063240" cy="310896"/>
          </a:xfrm>
          <a:prstGeom prst="rect">
            <a:avLst/>
          </a:prstGeom>
          <a:noFill/>
        </p:spPr>
        <p:txBody>
          <a:bodyPr wrap="none" lIns="73152" rIns="73152" tIns="36576" bIns="36576">
            <a:spAutoFit/>
          </a:bodyPr>
          <a:lstStyle/>
          <a:p>
            <a:pPr algn="l"/>
            <a:r>
              <a:rPr sz="830" b="0">
                <a:solidFill>
                  <a:srgbClr val="222B34"/>
                </a:solidFill>
                <a:latin typeface="Yu Gothic"/>
              </a:rPr>
              <a:t>朝食、天気確認、カメラ準備</a:t>
            </a:r>
          </a:p>
        </p:txBody>
      </p:sp>
      <p:sp>
        <p:nvSpPr>
          <p:cNvPr id="13" name="TextBox 12"/>
          <p:cNvSpPr txBox="1"/>
          <p:nvPr/>
        </p:nvSpPr>
        <p:spPr>
          <a:xfrm>
            <a:off x="6355080" y="3319272"/>
            <a:ext cx="411480" cy="256032"/>
          </a:xfrm>
          <a:prstGeom prst="rect">
            <a:avLst/>
          </a:prstGeom>
          <a:noFill/>
        </p:spPr>
        <p:txBody>
          <a:bodyPr wrap="none" lIns="73152" rIns="73152" tIns="36576" bIns="36576">
            <a:spAutoFit/>
          </a:bodyPr>
          <a:lstStyle/>
          <a:p>
            <a:pPr algn="r"/>
            <a:r>
              <a:rPr sz="830" b="0">
                <a:solidFill>
                  <a:srgbClr val="66707A"/>
                </a:solidFill>
                <a:latin typeface="Yu Gothic"/>
              </a:rPr>
              <a:t>60分</a:t>
            </a:r>
          </a:p>
        </p:txBody>
      </p:sp>
      <p:sp>
        <p:nvSpPr>
          <p:cNvPr id="14" name="Rounded Rectangle 13"/>
          <p:cNvSpPr/>
          <p:nvPr/>
        </p:nvSpPr>
        <p:spPr>
          <a:xfrm>
            <a:off x="502920" y="3813048"/>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 y="3886200"/>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09:30</a:t>
            </a:r>
          </a:p>
        </p:txBody>
      </p:sp>
      <p:sp>
        <p:nvSpPr>
          <p:cNvPr id="16" name="TextBox 15"/>
          <p:cNvSpPr txBox="1"/>
          <p:nvPr/>
        </p:nvSpPr>
        <p:spPr>
          <a:xfrm>
            <a:off x="1417320" y="3886200"/>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移動</a:t>
            </a:r>
          </a:p>
        </p:txBody>
      </p:sp>
      <p:sp>
        <p:nvSpPr>
          <p:cNvPr id="17" name="TextBox 16"/>
          <p:cNvSpPr txBox="1"/>
          <p:nvPr/>
        </p:nvSpPr>
        <p:spPr>
          <a:xfrm>
            <a:off x="2084831" y="3877056"/>
            <a:ext cx="1234440" cy="274320"/>
          </a:xfrm>
          <a:prstGeom prst="rect">
            <a:avLst/>
          </a:prstGeom>
          <a:noFill/>
        </p:spPr>
        <p:txBody>
          <a:bodyPr wrap="none" lIns="73152" rIns="73152" tIns="36576" bIns="36576">
            <a:spAutoFit/>
          </a:bodyPr>
          <a:lstStyle/>
          <a:p>
            <a:pPr algn="l"/>
            <a:r>
              <a:rPr sz="900" b="1">
                <a:solidFill>
                  <a:srgbClr val="143753"/>
                </a:solidFill>
                <a:latin typeface="Yu Gothic"/>
              </a:rPr>
              <a:t>中標津市街 → 開陽台</a:t>
            </a:r>
          </a:p>
        </p:txBody>
      </p:sp>
      <p:sp>
        <p:nvSpPr>
          <p:cNvPr id="18" name="TextBox 17"/>
          <p:cNvSpPr txBox="1"/>
          <p:nvPr/>
        </p:nvSpPr>
        <p:spPr>
          <a:xfrm>
            <a:off x="3246120" y="3867912"/>
            <a:ext cx="3063240" cy="310896"/>
          </a:xfrm>
          <a:prstGeom prst="rect">
            <a:avLst/>
          </a:prstGeom>
          <a:noFill/>
        </p:spPr>
        <p:txBody>
          <a:bodyPr wrap="none" lIns="73152" rIns="73152" tIns="36576" bIns="36576">
            <a:spAutoFit/>
          </a:bodyPr>
          <a:lstStyle/>
          <a:p>
            <a:pPr algn="l"/>
            <a:r>
              <a:rPr sz="830" b="0">
                <a:solidFill>
                  <a:srgbClr val="222B34"/>
                </a:solidFill>
                <a:latin typeface="Yu Gothic"/>
              </a:rPr>
              <a:t>ミルクロードを走りながら展望台へ</a:t>
            </a:r>
          </a:p>
        </p:txBody>
      </p:sp>
      <p:sp>
        <p:nvSpPr>
          <p:cNvPr id="19" name="TextBox 18"/>
          <p:cNvSpPr txBox="1"/>
          <p:nvPr/>
        </p:nvSpPr>
        <p:spPr>
          <a:xfrm>
            <a:off x="6355080" y="3886200"/>
            <a:ext cx="411480" cy="256032"/>
          </a:xfrm>
          <a:prstGeom prst="rect">
            <a:avLst/>
          </a:prstGeom>
          <a:noFill/>
        </p:spPr>
        <p:txBody>
          <a:bodyPr wrap="none" lIns="73152" rIns="73152" tIns="36576" bIns="36576">
            <a:spAutoFit/>
          </a:bodyPr>
          <a:lstStyle/>
          <a:p>
            <a:pPr algn="r"/>
            <a:r>
              <a:rPr sz="830" b="0">
                <a:solidFill>
                  <a:srgbClr val="66707A"/>
                </a:solidFill>
                <a:latin typeface="Yu Gothic"/>
              </a:rPr>
              <a:t>約30分</a:t>
            </a:r>
          </a:p>
        </p:txBody>
      </p:sp>
      <p:sp>
        <p:nvSpPr>
          <p:cNvPr id="20" name="Rounded Rectangle 19"/>
          <p:cNvSpPr/>
          <p:nvPr/>
        </p:nvSpPr>
        <p:spPr>
          <a:xfrm>
            <a:off x="502920" y="4379976"/>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1792" y="4453128"/>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10:00</a:t>
            </a:r>
          </a:p>
        </p:txBody>
      </p:sp>
      <p:sp>
        <p:nvSpPr>
          <p:cNvPr id="22" name="TextBox 21"/>
          <p:cNvSpPr txBox="1"/>
          <p:nvPr/>
        </p:nvSpPr>
        <p:spPr>
          <a:xfrm>
            <a:off x="1417320" y="4453128"/>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観光</a:t>
            </a:r>
          </a:p>
        </p:txBody>
      </p:sp>
      <p:sp>
        <p:nvSpPr>
          <p:cNvPr id="23" name="TextBox 22"/>
          <p:cNvSpPr txBox="1"/>
          <p:nvPr/>
        </p:nvSpPr>
        <p:spPr>
          <a:xfrm>
            <a:off x="2084831" y="4443984"/>
            <a:ext cx="1234440" cy="274320"/>
          </a:xfrm>
          <a:prstGeom prst="rect">
            <a:avLst/>
          </a:prstGeom>
          <a:noFill/>
        </p:spPr>
        <p:txBody>
          <a:bodyPr wrap="none" lIns="73152" rIns="73152" tIns="36576" bIns="36576">
            <a:spAutoFit/>
          </a:bodyPr>
          <a:lstStyle/>
          <a:p>
            <a:pPr algn="l"/>
            <a:r>
              <a:rPr sz="900" b="1">
                <a:solidFill>
                  <a:srgbClr val="143753"/>
                </a:solidFill>
                <a:latin typeface="Yu Gothic"/>
              </a:rPr>
              <a:t>開陽台</a:t>
            </a:r>
          </a:p>
        </p:txBody>
      </p:sp>
      <p:sp>
        <p:nvSpPr>
          <p:cNvPr id="24" name="TextBox 23"/>
          <p:cNvSpPr txBox="1"/>
          <p:nvPr/>
        </p:nvSpPr>
        <p:spPr>
          <a:xfrm>
            <a:off x="3246120" y="4434840"/>
            <a:ext cx="3063240" cy="310896"/>
          </a:xfrm>
          <a:prstGeom prst="rect">
            <a:avLst/>
          </a:prstGeom>
          <a:noFill/>
        </p:spPr>
        <p:txBody>
          <a:bodyPr wrap="none" lIns="73152" rIns="73152" tIns="36576" bIns="36576">
            <a:spAutoFit/>
          </a:bodyPr>
          <a:lstStyle/>
          <a:p>
            <a:pPr algn="l"/>
            <a:r>
              <a:rPr sz="830" b="0">
                <a:solidFill>
                  <a:srgbClr val="222B34"/>
                </a:solidFill>
                <a:latin typeface="Yu Gothic"/>
              </a:rPr>
              <a:t>展望台、カフェ、牧場ふれあい広場を楽しむ</a:t>
            </a:r>
          </a:p>
        </p:txBody>
      </p:sp>
      <p:sp>
        <p:nvSpPr>
          <p:cNvPr id="25" name="TextBox 24"/>
          <p:cNvSpPr txBox="1"/>
          <p:nvPr/>
        </p:nvSpPr>
        <p:spPr>
          <a:xfrm>
            <a:off x="6355080" y="4453128"/>
            <a:ext cx="411480" cy="256032"/>
          </a:xfrm>
          <a:prstGeom prst="rect">
            <a:avLst/>
          </a:prstGeom>
          <a:noFill/>
        </p:spPr>
        <p:txBody>
          <a:bodyPr wrap="none" lIns="73152" rIns="73152" tIns="36576" bIns="36576">
            <a:spAutoFit/>
          </a:bodyPr>
          <a:lstStyle/>
          <a:p>
            <a:pPr algn="r"/>
            <a:r>
              <a:rPr sz="830" b="0">
                <a:solidFill>
                  <a:srgbClr val="66707A"/>
                </a:solidFill>
                <a:latin typeface="Yu Gothic"/>
              </a:rPr>
              <a:t>120分</a:t>
            </a:r>
          </a:p>
        </p:txBody>
      </p:sp>
      <p:sp>
        <p:nvSpPr>
          <p:cNvPr id="26" name="Rounded Rectangle 25"/>
          <p:cNvSpPr/>
          <p:nvPr/>
        </p:nvSpPr>
        <p:spPr>
          <a:xfrm>
            <a:off x="502920" y="4946904"/>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1792" y="5020056"/>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12:15</a:t>
            </a:r>
          </a:p>
        </p:txBody>
      </p:sp>
      <p:sp>
        <p:nvSpPr>
          <p:cNvPr id="28" name="TextBox 27"/>
          <p:cNvSpPr txBox="1"/>
          <p:nvPr/>
        </p:nvSpPr>
        <p:spPr>
          <a:xfrm>
            <a:off x="1417320" y="5020056"/>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昼食</a:t>
            </a:r>
          </a:p>
        </p:txBody>
      </p:sp>
      <p:sp>
        <p:nvSpPr>
          <p:cNvPr id="29" name="TextBox 28"/>
          <p:cNvSpPr txBox="1"/>
          <p:nvPr/>
        </p:nvSpPr>
        <p:spPr>
          <a:xfrm>
            <a:off x="2084831" y="5010912"/>
            <a:ext cx="1234440" cy="274320"/>
          </a:xfrm>
          <a:prstGeom prst="rect">
            <a:avLst/>
          </a:prstGeom>
          <a:noFill/>
        </p:spPr>
        <p:txBody>
          <a:bodyPr wrap="none" lIns="73152" rIns="73152" tIns="36576" bIns="36576">
            <a:spAutoFit/>
          </a:bodyPr>
          <a:lstStyle/>
          <a:p>
            <a:pPr algn="l"/>
            <a:r>
              <a:rPr sz="900" b="1">
                <a:solidFill>
                  <a:srgbClr val="143753"/>
                </a:solidFill>
                <a:latin typeface="Yu Gothic"/>
              </a:rPr>
              <a:t>中標津市街</a:t>
            </a:r>
          </a:p>
        </p:txBody>
      </p:sp>
      <p:sp>
        <p:nvSpPr>
          <p:cNvPr id="30" name="TextBox 29"/>
          <p:cNvSpPr txBox="1"/>
          <p:nvPr/>
        </p:nvSpPr>
        <p:spPr>
          <a:xfrm>
            <a:off x="3246120" y="5001768"/>
            <a:ext cx="3063240" cy="310896"/>
          </a:xfrm>
          <a:prstGeom prst="rect">
            <a:avLst/>
          </a:prstGeom>
          <a:noFill/>
        </p:spPr>
        <p:txBody>
          <a:bodyPr wrap="none" lIns="73152" rIns="73152" tIns="36576" bIns="36576">
            <a:spAutoFit/>
          </a:bodyPr>
          <a:lstStyle/>
          <a:p>
            <a:pPr algn="l"/>
            <a:r>
              <a:rPr sz="830" b="0">
                <a:solidFill>
                  <a:srgbClr val="222B34"/>
                </a:solidFill>
                <a:latin typeface="Yu Gothic"/>
              </a:rPr>
              <a:t>洋食、定食、カフェ候補</a:t>
            </a:r>
          </a:p>
        </p:txBody>
      </p:sp>
      <p:sp>
        <p:nvSpPr>
          <p:cNvPr id="31" name="TextBox 30"/>
          <p:cNvSpPr txBox="1"/>
          <p:nvPr/>
        </p:nvSpPr>
        <p:spPr>
          <a:xfrm>
            <a:off x="6355080" y="5020056"/>
            <a:ext cx="411480" cy="256032"/>
          </a:xfrm>
          <a:prstGeom prst="rect">
            <a:avLst/>
          </a:prstGeom>
          <a:noFill/>
        </p:spPr>
        <p:txBody>
          <a:bodyPr wrap="none" lIns="73152" rIns="73152" tIns="36576" bIns="36576">
            <a:spAutoFit/>
          </a:bodyPr>
          <a:lstStyle/>
          <a:p>
            <a:pPr algn="r"/>
            <a:r>
              <a:rPr sz="830" b="0">
                <a:solidFill>
                  <a:srgbClr val="66707A"/>
                </a:solidFill>
                <a:latin typeface="Yu Gothic"/>
              </a:rPr>
              <a:t>60分</a:t>
            </a:r>
          </a:p>
        </p:txBody>
      </p:sp>
      <p:sp>
        <p:nvSpPr>
          <p:cNvPr id="32" name="Rounded Rectangle 31"/>
          <p:cNvSpPr/>
          <p:nvPr/>
        </p:nvSpPr>
        <p:spPr>
          <a:xfrm>
            <a:off x="502920" y="5513832"/>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1792" y="5586984"/>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13:30</a:t>
            </a:r>
          </a:p>
        </p:txBody>
      </p:sp>
      <p:sp>
        <p:nvSpPr>
          <p:cNvPr id="34" name="TextBox 33"/>
          <p:cNvSpPr txBox="1"/>
          <p:nvPr/>
        </p:nvSpPr>
        <p:spPr>
          <a:xfrm>
            <a:off x="1417320" y="5586984"/>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観光</a:t>
            </a:r>
          </a:p>
        </p:txBody>
      </p:sp>
      <p:sp>
        <p:nvSpPr>
          <p:cNvPr id="35" name="TextBox 34"/>
          <p:cNvSpPr txBox="1"/>
          <p:nvPr/>
        </p:nvSpPr>
        <p:spPr>
          <a:xfrm>
            <a:off x="2084831" y="5577840"/>
            <a:ext cx="1234440" cy="274320"/>
          </a:xfrm>
          <a:prstGeom prst="rect">
            <a:avLst/>
          </a:prstGeom>
          <a:noFill/>
        </p:spPr>
        <p:txBody>
          <a:bodyPr wrap="none" lIns="73152" rIns="73152" tIns="36576" bIns="36576">
            <a:spAutoFit/>
          </a:bodyPr>
          <a:lstStyle/>
          <a:p>
            <a:pPr algn="l"/>
            <a:r>
              <a:rPr sz="900" b="1">
                <a:solidFill>
                  <a:srgbClr val="143753"/>
                </a:solidFill>
                <a:latin typeface="Yu Gothic"/>
              </a:rPr>
              <a:t>養老牛方面</a:t>
            </a:r>
          </a:p>
        </p:txBody>
      </p:sp>
      <p:sp>
        <p:nvSpPr>
          <p:cNvPr id="36" name="TextBox 35"/>
          <p:cNvSpPr txBox="1"/>
          <p:nvPr/>
        </p:nvSpPr>
        <p:spPr>
          <a:xfrm>
            <a:off x="3246120" y="5568696"/>
            <a:ext cx="3063240" cy="310896"/>
          </a:xfrm>
          <a:prstGeom prst="rect">
            <a:avLst/>
          </a:prstGeom>
          <a:noFill/>
        </p:spPr>
        <p:txBody>
          <a:bodyPr wrap="none" lIns="73152" rIns="73152" tIns="36576" bIns="36576">
            <a:spAutoFit/>
          </a:bodyPr>
          <a:lstStyle/>
          <a:p>
            <a:pPr algn="l"/>
            <a:r>
              <a:rPr sz="830" b="0">
                <a:solidFill>
                  <a:srgbClr val="222B34"/>
                </a:solidFill>
                <a:latin typeface="Yu Gothic"/>
              </a:rPr>
              <a:t>温泉、渓流、牧場風景をゆっくり見る</a:t>
            </a:r>
          </a:p>
        </p:txBody>
      </p:sp>
      <p:sp>
        <p:nvSpPr>
          <p:cNvPr id="37" name="TextBox 36"/>
          <p:cNvSpPr txBox="1"/>
          <p:nvPr/>
        </p:nvSpPr>
        <p:spPr>
          <a:xfrm>
            <a:off x="6355080" y="5586984"/>
            <a:ext cx="411480" cy="256032"/>
          </a:xfrm>
          <a:prstGeom prst="rect">
            <a:avLst/>
          </a:prstGeom>
          <a:noFill/>
        </p:spPr>
        <p:txBody>
          <a:bodyPr wrap="none" lIns="73152" rIns="73152" tIns="36576" bIns="36576">
            <a:spAutoFit/>
          </a:bodyPr>
          <a:lstStyle/>
          <a:p>
            <a:pPr algn="r"/>
            <a:r>
              <a:rPr sz="830" b="0">
                <a:solidFill>
                  <a:srgbClr val="66707A"/>
                </a:solidFill>
                <a:latin typeface="Yu Gothic"/>
              </a:rPr>
              <a:t>120分</a:t>
            </a:r>
          </a:p>
        </p:txBody>
      </p:sp>
      <p:sp>
        <p:nvSpPr>
          <p:cNvPr id="38" name="TextBox 37"/>
          <p:cNvSpPr txBox="1"/>
          <p:nvPr/>
        </p:nvSpPr>
        <p:spPr>
          <a:xfrm>
            <a:off x="7150608" y="4251960"/>
            <a:ext cx="4343400" cy="292608"/>
          </a:xfrm>
          <a:prstGeom prst="rect">
            <a:avLst/>
          </a:prstGeom>
          <a:noFill/>
        </p:spPr>
        <p:txBody>
          <a:bodyPr wrap="none" lIns="73152" rIns="73152" tIns="36576" bIns="36576">
            <a:spAutoFit/>
          </a:bodyPr>
          <a:lstStyle/>
          <a:p>
            <a:pPr algn="l"/>
            <a:r>
              <a:rPr sz="1500" b="1">
                <a:solidFill>
                  <a:srgbClr val="143753"/>
                </a:solidFill>
                <a:latin typeface="Yu Gothic"/>
              </a:rPr>
              <a:t>レストラン候補</a:t>
            </a:r>
          </a:p>
        </p:txBody>
      </p:sp>
      <p:sp>
        <p:nvSpPr>
          <p:cNvPr id="39" name="Rounded Rectangle 38"/>
          <p:cNvSpPr/>
          <p:nvPr/>
        </p:nvSpPr>
        <p:spPr>
          <a:xfrm>
            <a:off x="7150608" y="463600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223760" y="4690872"/>
            <a:ext cx="566928" cy="228600"/>
          </a:xfrm>
          <a:prstGeom prst="rect">
            <a:avLst/>
          </a:prstGeom>
          <a:noFill/>
        </p:spPr>
        <p:txBody>
          <a:bodyPr wrap="none" lIns="73152" rIns="73152" tIns="36576" bIns="36576">
            <a:spAutoFit/>
          </a:bodyPr>
          <a:lstStyle/>
          <a:p>
            <a:pPr algn="l"/>
            <a:r>
              <a:rPr sz="850" b="1">
                <a:solidFill>
                  <a:srgbClr val="D86352"/>
                </a:solidFill>
                <a:latin typeface="Yu Gothic"/>
              </a:rPr>
              <a:t>昼食</a:t>
            </a:r>
          </a:p>
        </p:txBody>
      </p:sp>
      <p:sp>
        <p:nvSpPr>
          <p:cNvPr id="41" name="TextBox 40"/>
          <p:cNvSpPr txBox="1"/>
          <p:nvPr/>
        </p:nvSpPr>
        <p:spPr>
          <a:xfrm>
            <a:off x="7790688" y="468172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中標津市街カフェ</a:t>
            </a:r>
          </a:p>
        </p:txBody>
      </p:sp>
      <p:sp>
        <p:nvSpPr>
          <p:cNvPr id="42" name="TextBox 41"/>
          <p:cNvSpPr txBox="1"/>
          <p:nvPr/>
        </p:nvSpPr>
        <p:spPr>
          <a:xfrm>
            <a:off x="9299448" y="468172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開陽台後に戻って昼食</a:t>
            </a:r>
          </a:p>
        </p:txBody>
      </p:sp>
      <p:sp>
        <p:nvSpPr>
          <p:cNvPr id="43" name="Rounded Rectangle 42"/>
          <p:cNvSpPr/>
          <p:nvPr/>
        </p:nvSpPr>
        <p:spPr>
          <a:xfrm>
            <a:off x="7150608" y="513892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223760" y="5193792"/>
            <a:ext cx="566928" cy="228600"/>
          </a:xfrm>
          <a:prstGeom prst="rect">
            <a:avLst/>
          </a:prstGeom>
          <a:noFill/>
        </p:spPr>
        <p:txBody>
          <a:bodyPr wrap="none" lIns="73152" rIns="73152" tIns="36576" bIns="36576">
            <a:spAutoFit/>
          </a:bodyPr>
          <a:lstStyle/>
          <a:p>
            <a:pPr algn="l"/>
            <a:r>
              <a:rPr sz="850" b="1">
                <a:solidFill>
                  <a:srgbClr val="D86352"/>
                </a:solidFill>
                <a:latin typeface="Yu Gothic"/>
              </a:rPr>
              <a:t>昼食</a:t>
            </a:r>
          </a:p>
        </p:txBody>
      </p:sp>
      <p:sp>
        <p:nvSpPr>
          <p:cNvPr id="45" name="TextBox 44"/>
          <p:cNvSpPr txBox="1"/>
          <p:nvPr/>
        </p:nvSpPr>
        <p:spPr>
          <a:xfrm>
            <a:off x="7790688" y="518464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ラ・レトリなかしべつ周辺候補</a:t>
            </a:r>
          </a:p>
        </p:txBody>
      </p:sp>
      <p:sp>
        <p:nvSpPr>
          <p:cNvPr id="46" name="TextBox 45"/>
          <p:cNvSpPr txBox="1"/>
          <p:nvPr/>
        </p:nvSpPr>
        <p:spPr>
          <a:xfrm>
            <a:off x="9299448" y="518464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乳製品・軽食の候補</a:t>
            </a:r>
          </a:p>
        </p:txBody>
      </p:sp>
      <p:sp>
        <p:nvSpPr>
          <p:cNvPr id="47" name="Rounded Rectangle 46"/>
          <p:cNvSpPr/>
          <p:nvPr/>
        </p:nvSpPr>
        <p:spPr>
          <a:xfrm>
            <a:off x="7150608" y="564184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223760" y="5696712"/>
            <a:ext cx="566928" cy="228600"/>
          </a:xfrm>
          <a:prstGeom prst="rect">
            <a:avLst/>
          </a:prstGeom>
          <a:noFill/>
        </p:spPr>
        <p:txBody>
          <a:bodyPr wrap="none" lIns="73152" rIns="73152" tIns="36576" bIns="36576">
            <a:spAutoFit/>
          </a:bodyPr>
          <a:lstStyle/>
          <a:p>
            <a:pPr algn="l"/>
            <a:r>
              <a:rPr sz="850" b="1">
                <a:solidFill>
                  <a:srgbClr val="D86352"/>
                </a:solidFill>
                <a:latin typeface="Yu Gothic"/>
              </a:rPr>
              <a:t>夕食</a:t>
            </a:r>
          </a:p>
        </p:txBody>
      </p:sp>
      <p:sp>
        <p:nvSpPr>
          <p:cNvPr id="49" name="TextBox 48"/>
          <p:cNvSpPr txBox="1"/>
          <p:nvPr/>
        </p:nvSpPr>
        <p:spPr>
          <a:xfrm>
            <a:off x="7790688" y="568756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中標津市街の定食店</a:t>
            </a:r>
          </a:p>
        </p:txBody>
      </p:sp>
      <p:sp>
        <p:nvSpPr>
          <p:cNvPr id="50" name="TextBox 49"/>
          <p:cNvSpPr txBox="1"/>
          <p:nvPr/>
        </p:nvSpPr>
        <p:spPr>
          <a:xfrm>
            <a:off x="9299448" y="568756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子ども連れで入りやすい店を現地確認</a:t>
            </a:r>
          </a:p>
        </p:txBody>
      </p:sp>
      <p:sp>
        <p:nvSpPr>
          <p:cNvPr id="51" name="Rounded Rectangle 50"/>
          <p:cNvSpPr/>
          <p:nvPr/>
        </p:nvSpPr>
        <p:spPr>
          <a:xfrm>
            <a:off x="7150608" y="614476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223760" y="6199632"/>
            <a:ext cx="566928" cy="228600"/>
          </a:xfrm>
          <a:prstGeom prst="rect">
            <a:avLst/>
          </a:prstGeom>
          <a:noFill/>
        </p:spPr>
        <p:txBody>
          <a:bodyPr wrap="none" lIns="73152" rIns="73152" tIns="36576" bIns="36576">
            <a:spAutoFit/>
          </a:bodyPr>
          <a:lstStyle/>
          <a:p>
            <a:pPr algn="l"/>
            <a:r>
              <a:rPr sz="850" b="1">
                <a:solidFill>
                  <a:srgbClr val="D86352"/>
                </a:solidFill>
                <a:latin typeface="Yu Gothic"/>
              </a:rPr>
              <a:t>甘味</a:t>
            </a:r>
          </a:p>
        </p:txBody>
      </p:sp>
      <p:sp>
        <p:nvSpPr>
          <p:cNvPr id="53" name="TextBox 52"/>
          <p:cNvSpPr txBox="1"/>
          <p:nvPr/>
        </p:nvSpPr>
        <p:spPr>
          <a:xfrm>
            <a:off x="7790688" y="619048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カフェ・カイヨウダイ</a:t>
            </a:r>
          </a:p>
        </p:txBody>
      </p:sp>
      <p:sp>
        <p:nvSpPr>
          <p:cNvPr id="54" name="TextBox 53"/>
          <p:cNvSpPr txBox="1"/>
          <p:nvPr/>
        </p:nvSpPr>
        <p:spPr>
          <a:xfrm>
            <a:off x="9299448" y="619048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はちみつソフトなど休憩候補</a:t>
            </a:r>
          </a:p>
        </p:txBody>
      </p:sp>
      <p:sp>
        <p:nvSpPr>
          <p:cNvPr id="55" name="TextBox 54"/>
          <p:cNvSpPr txBox="1"/>
          <p:nvPr/>
        </p:nvSpPr>
        <p:spPr>
          <a:xfrm>
            <a:off x="7150608" y="6199632"/>
            <a:ext cx="4206240" cy="228600"/>
          </a:xfrm>
          <a:prstGeom prst="rect">
            <a:avLst/>
          </a:prstGeom>
          <a:noFill/>
        </p:spPr>
        <p:txBody>
          <a:bodyPr wrap="none" lIns="73152" rIns="73152" tIns="36576" bIns="36576">
            <a:spAutoFit/>
          </a:bodyPr>
          <a:lstStyle/>
          <a:p>
            <a:pPr algn="l"/>
            <a:r>
              <a:rPr sz="780" b="0">
                <a:solidFill>
                  <a:srgbClr val="66707A"/>
                </a:solidFill>
                <a:latin typeface="Yu Gothic"/>
              </a:rPr>
              <a:t>MEMO  開陽台は晴天優先。曇天なら午前午後を入れ替える。 / 夜の開陽台は暗いので、安全最優先で短時間にする。</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CFCFA"/>
        </a:solidFill>
        <a:effectLst/>
      </p:bgPr>
    </p:bg>
    <p:spTree>
      <p:nvGrpSpPr>
        <p:cNvPr id="1" name=""/>
        <p:cNvGrpSpPr/>
        <p:nvPr/>
      </p:nvGrpSpPr>
      <p:grpSpPr/>
      <p:sp>
        <p:nvSpPr>
          <p:cNvPr id="2" name="Rounded Rectangle 1"/>
          <p:cNvSpPr/>
          <p:nvPr/>
        </p:nvSpPr>
        <p:spPr>
          <a:xfrm>
            <a:off x="502920" y="320040"/>
            <a:ext cx="1325880" cy="329184"/>
          </a:xfrm>
          <a:prstGeom prst="roundRect">
            <a:avLst/>
          </a:prstGeom>
          <a:solidFill>
            <a:srgbClr val="D863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Yu Gothic"/>
              </a:rPr>
              <a:t>DAY 9</a:t>
            </a:r>
          </a:p>
        </p:txBody>
      </p:sp>
      <p:sp>
        <p:nvSpPr>
          <p:cNvPr id="3" name="TextBox 2"/>
          <p:cNvSpPr txBox="1"/>
          <p:nvPr/>
        </p:nvSpPr>
        <p:spPr>
          <a:xfrm>
            <a:off x="502920" y="713232"/>
            <a:ext cx="6217920" cy="384048"/>
          </a:xfrm>
          <a:prstGeom prst="rect">
            <a:avLst/>
          </a:prstGeom>
          <a:noFill/>
        </p:spPr>
        <p:txBody>
          <a:bodyPr wrap="none" lIns="73152" rIns="73152" tIns="36576" bIns="36576">
            <a:spAutoFit/>
          </a:bodyPr>
          <a:lstStyle/>
          <a:p>
            <a:pPr algn="l"/>
            <a:r>
              <a:rPr sz="2200" b="1">
                <a:solidFill>
                  <a:srgbClr val="143753"/>
                </a:solidFill>
                <a:latin typeface="Yu Gothic"/>
              </a:rPr>
              <a:t>時刻ベース詳細スケジュール</a:t>
            </a:r>
          </a:p>
        </p:txBody>
      </p:sp>
      <p:sp>
        <p:nvSpPr>
          <p:cNvPr id="4" name="Rounded Rectangle 3"/>
          <p:cNvSpPr/>
          <p:nvPr/>
        </p:nvSpPr>
        <p:spPr>
          <a:xfrm>
            <a:off x="502920" y="1325880"/>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1399032"/>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08:00</a:t>
            </a:r>
          </a:p>
        </p:txBody>
      </p:sp>
      <p:sp>
        <p:nvSpPr>
          <p:cNvPr id="6" name="TextBox 5"/>
          <p:cNvSpPr txBox="1"/>
          <p:nvPr/>
        </p:nvSpPr>
        <p:spPr>
          <a:xfrm>
            <a:off x="1417320" y="1399032"/>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朝食</a:t>
            </a:r>
          </a:p>
        </p:txBody>
      </p:sp>
      <p:sp>
        <p:nvSpPr>
          <p:cNvPr id="7" name="TextBox 6"/>
          <p:cNvSpPr txBox="1"/>
          <p:nvPr/>
        </p:nvSpPr>
        <p:spPr>
          <a:xfrm>
            <a:off x="2084831" y="1389888"/>
            <a:ext cx="1234440" cy="274320"/>
          </a:xfrm>
          <a:prstGeom prst="rect">
            <a:avLst/>
          </a:prstGeom>
          <a:noFill/>
        </p:spPr>
        <p:txBody>
          <a:bodyPr wrap="none" lIns="73152" rIns="73152" tIns="36576" bIns="36576">
            <a:spAutoFit/>
          </a:bodyPr>
          <a:lstStyle/>
          <a:p>
            <a:pPr algn="l"/>
            <a:r>
              <a:rPr sz="900" b="1">
                <a:solidFill>
                  <a:srgbClr val="143753"/>
                </a:solidFill>
                <a:latin typeface="Yu Gothic"/>
              </a:rPr>
              <a:t>バンガロー</a:t>
            </a:r>
          </a:p>
        </p:txBody>
      </p:sp>
      <p:sp>
        <p:nvSpPr>
          <p:cNvPr id="8" name="TextBox 7"/>
          <p:cNvSpPr txBox="1"/>
          <p:nvPr/>
        </p:nvSpPr>
        <p:spPr>
          <a:xfrm>
            <a:off x="3246120" y="1380744"/>
            <a:ext cx="3063240" cy="310896"/>
          </a:xfrm>
          <a:prstGeom prst="rect">
            <a:avLst/>
          </a:prstGeom>
          <a:noFill/>
        </p:spPr>
        <p:txBody>
          <a:bodyPr wrap="none" lIns="73152" rIns="73152" tIns="36576" bIns="36576">
            <a:spAutoFit/>
          </a:bodyPr>
          <a:lstStyle/>
          <a:p>
            <a:pPr algn="l"/>
            <a:r>
              <a:rPr sz="830" b="0">
                <a:solidFill>
                  <a:srgbClr val="222B34"/>
                </a:solidFill>
                <a:latin typeface="Yu Gothic"/>
              </a:rPr>
              <a:t>朝食、天気確認、カメラ準備</a:t>
            </a:r>
          </a:p>
        </p:txBody>
      </p:sp>
      <p:sp>
        <p:nvSpPr>
          <p:cNvPr id="9" name="TextBox 8"/>
          <p:cNvSpPr txBox="1"/>
          <p:nvPr/>
        </p:nvSpPr>
        <p:spPr>
          <a:xfrm>
            <a:off x="6355080" y="1399032"/>
            <a:ext cx="411480" cy="256032"/>
          </a:xfrm>
          <a:prstGeom prst="rect">
            <a:avLst/>
          </a:prstGeom>
          <a:noFill/>
        </p:spPr>
        <p:txBody>
          <a:bodyPr wrap="none" lIns="73152" rIns="73152" tIns="36576" bIns="36576">
            <a:spAutoFit/>
          </a:bodyPr>
          <a:lstStyle/>
          <a:p>
            <a:pPr algn="r"/>
            <a:r>
              <a:rPr sz="830" b="0">
                <a:solidFill>
                  <a:srgbClr val="66707A"/>
                </a:solidFill>
                <a:latin typeface="Yu Gothic"/>
              </a:rPr>
              <a:t>60分</a:t>
            </a:r>
          </a:p>
        </p:txBody>
      </p:sp>
      <p:sp>
        <p:nvSpPr>
          <p:cNvPr id="10" name="Rounded Rectangle 9"/>
          <p:cNvSpPr/>
          <p:nvPr/>
        </p:nvSpPr>
        <p:spPr>
          <a:xfrm>
            <a:off x="502920" y="1892808"/>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965960"/>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09:30</a:t>
            </a:r>
          </a:p>
        </p:txBody>
      </p:sp>
      <p:sp>
        <p:nvSpPr>
          <p:cNvPr id="12" name="TextBox 11"/>
          <p:cNvSpPr txBox="1"/>
          <p:nvPr/>
        </p:nvSpPr>
        <p:spPr>
          <a:xfrm>
            <a:off x="1417320" y="1965960"/>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移動</a:t>
            </a:r>
          </a:p>
        </p:txBody>
      </p:sp>
      <p:sp>
        <p:nvSpPr>
          <p:cNvPr id="13" name="TextBox 12"/>
          <p:cNvSpPr txBox="1"/>
          <p:nvPr/>
        </p:nvSpPr>
        <p:spPr>
          <a:xfrm>
            <a:off x="2084831" y="1956816"/>
            <a:ext cx="1234440" cy="274320"/>
          </a:xfrm>
          <a:prstGeom prst="rect">
            <a:avLst/>
          </a:prstGeom>
          <a:noFill/>
        </p:spPr>
        <p:txBody>
          <a:bodyPr wrap="none" lIns="73152" rIns="73152" tIns="36576" bIns="36576">
            <a:spAutoFit/>
          </a:bodyPr>
          <a:lstStyle/>
          <a:p>
            <a:pPr algn="l"/>
            <a:r>
              <a:rPr sz="900" b="1">
                <a:solidFill>
                  <a:srgbClr val="143753"/>
                </a:solidFill>
                <a:latin typeface="Yu Gothic"/>
              </a:rPr>
              <a:t>中標津市街 → 開陽台</a:t>
            </a:r>
          </a:p>
        </p:txBody>
      </p:sp>
      <p:sp>
        <p:nvSpPr>
          <p:cNvPr id="14" name="TextBox 13"/>
          <p:cNvSpPr txBox="1"/>
          <p:nvPr/>
        </p:nvSpPr>
        <p:spPr>
          <a:xfrm>
            <a:off x="3246120" y="1947672"/>
            <a:ext cx="3063240" cy="310896"/>
          </a:xfrm>
          <a:prstGeom prst="rect">
            <a:avLst/>
          </a:prstGeom>
          <a:noFill/>
        </p:spPr>
        <p:txBody>
          <a:bodyPr wrap="none" lIns="73152" rIns="73152" tIns="36576" bIns="36576">
            <a:spAutoFit/>
          </a:bodyPr>
          <a:lstStyle/>
          <a:p>
            <a:pPr algn="l"/>
            <a:r>
              <a:rPr sz="830" b="0">
                <a:solidFill>
                  <a:srgbClr val="222B34"/>
                </a:solidFill>
                <a:latin typeface="Yu Gothic"/>
              </a:rPr>
              <a:t>ミルクロードを走りながら展望台へ</a:t>
            </a:r>
          </a:p>
        </p:txBody>
      </p:sp>
      <p:sp>
        <p:nvSpPr>
          <p:cNvPr id="15" name="TextBox 14"/>
          <p:cNvSpPr txBox="1"/>
          <p:nvPr/>
        </p:nvSpPr>
        <p:spPr>
          <a:xfrm>
            <a:off x="6355080" y="1965960"/>
            <a:ext cx="411480" cy="256032"/>
          </a:xfrm>
          <a:prstGeom prst="rect">
            <a:avLst/>
          </a:prstGeom>
          <a:noFill/>
        </p:spPr>
        <p:txBody>
          <a:bodyPr wrap="none" lIns="73152" rIns="73152" tIns="36576" bIns="36576">
            <a:spAutoFit/>
          </a:bodyPr>
          <a:lstStyle/>
          <a:p>
            <a:pPr algn="r"/>
            <a:r>
              <a:rPr sz="830" b="0">
                <a:solidFill>
                  <a:srgbClr val="66707A"/>
                </a:solidFill>
                <a:latin typeface="Yu Gothic"/>
              </a:rPr>
              <a:t>約30分</a:t>
            </a:r>
          </a:p>
        </p:txBody>
      </p:sp>
      <p:sp>
        <p:nvSpPr>
          <p:cNvPr id="16" name="Rounded Rectangle 15"/>
          <p:cNvSpPr/>
          <p:nvPr/>
        </p:nvSpPr>
        <p:spPr>
          <a:xfrm>
            <a:off x="502920" y="2459736"/>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792" y="2532888"/>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10:00</a:t>
            </a:r>
          </a:p>
        </p:txBody>
      </p:sp>
      <p:sp>
        <p:nvSpPr>
          <p:cNvPr id="18" name="TextBox 17"/>
          <p:cNvSpPr txBox="1"/>
          <p:nvPr/>
        </p:nvSpPr>
        <p:spPr>
          <a:xfrm>
            <a:off x="1417320" y="2532888"/>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観光</a:t>
            </a:r>
          </a:p>
        </p:txBody>
      </p:sp>
      <p:sp>
        <p:nvSpPr>
          <p:cNvPr id="19" name="TextBox 18"/>
          <p:cNvSpPr txBox="1"/>
          <p:nvPr/>
        </p:nvSpPr>
        <p:spPr>
          <a:xfrm>
            <a:off x="2084831" y="2523744"/>
            <a:ext cx="1234440" cy="274320"/>
          </a:xfrm>
          <a:prstGeom prst="rect">
            <a:avLst/>
          </a:prstGeom>
          <a:noFill/>
        </p:spPr>
        <p:txBody>
          <a:bodyPr wrap="none" lIns="73152" rIns="73152" tIns="36576" bIns="36576">
            <a:spAutoFit/>
          </a:bodyPr>
          <a:lstStyle/>
          <a:p>
            <a:pPr algn="l"/>
            <a:r>
              <a:rPr sz="900" b="1">
                <a:solidFill>
                  <a:srgbClr val="143753"/>
                </a:solidFill>
                <a:latin typeface="Yu Gothic"/>
              </a:rPr>
              <a:t>開陽台</a:t>
            </a:r>
          </a:p>
        </p:txBody>
      </p:sp>
      <p:sp>
        <p:nvSpPr>
          <p:cNvPr id="20" name="TextBox 19"/>
          <p:cNvSpPr txBox="1"/>
          <p:nvPr/>
        </p:nvSpPr>
        <p:spPr>
          <a:xfrm>
            <a:off x="3246120" y="2514600"/>
            <a:ext cx="3063240" cy="310896"/>
          </a:xfrm>
          <a:prstGeom prst="rect">
            <a:avLst/>
          </a:prstGeom>
          <a:noFill/>
        </p:spPr>
        <p:txBody>
          <a:bodyPr wrap="none" lIns="73152" rIns="73152" tIns="36576" bIns="36576">
            <a:spAutoFit/>
          </a:bodyPr>
          <a:lstStyle/>
          <a:p>
            <a:pPr algn="l"/>
            <a:r>
              <a:rPr sz="830" b="0">
                <a:solidFill>
                  <a:srgbClr val="222B34"/>
                </a:solidFill>
                <a:latin typeface="Yu Gothic"/>
              </a:rPr>
              <a:t>展望台、カフェ、牧場ふれあい広場を楽しむ</a:t>
            </a:r>
          </a:p>
        </p:txBody>
      </p:sp>
      <p:sp>
        <p:nvSpPr>
          <p:cNvPr id="21" name="TextBox 20"/>
          <p:cNvSpPr txBox="1"/>
          <p:nvPr/>
        </p:nvSpPr>
        <p:spPr>
          <a:xfrm>
            <a:off x="6355080" y="2532888"/>
            <a:ext cx="411480" cy="256032"/>
          </a:xfrm>
          <a:prstGeom prst="rect">
            <a:avLst/>
          </a:prstGeom>
          <a:noFill/>
        </p:spPr>
        <p:txBody>
          <a:bodyPr wrap="none" lIns="73152" rIns="73152" tIns="36576" bIns="36576">
            <a:spAutoFit/>
          </a:bodyPr>
          <a:lstStyle/>
          <a:p>
            <a:pPr algn="r"/>
            <a:r>
              <a:rPr sz="830" b="0">
                <a:solidFill>
                  <a:srgbClr val="66707A"/>
                </a:solidFill>
                <a:latin typeface="Yu Gothic"/>
              </a:rPr>
              <a:t>120分</a:t>
            </a:r>
          </a:p>
        </p:txBody>
      </p:sp>
      <p:sp>
        <p:nvSpPr>
          <p:cNvPr id="22" name="Rounded Rectangle 21"/>
          <p:cNvSpPr/>
          <p:nvPr/>
        </p:nvSpPr>
        <p:spPr>
          <a:xfrm>
            <a:off x="502920" y="3026664"/>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1792" y="3099816"/>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12:15</a:t>
            </a:r>
          </a:p>
        </p:txBody>
      </p:sp>
      <p:sp>
        <p:nvSpPr>
          <p:cNvPr id="24" name="TextBox 23"/>
          <p:cNvSpPr txBox="1"/>
          <p:nvPr/>
        </p:nvSpPr>
        <p:spPr>
          <a:xfrm>
            <a:off x="1417320" y="3099816"/>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昼食</a:t>
            </a:r>
          </a:p>
        </p:txBody>
      </p:sp>
      <p:sp>
        <p:nvSpPr>
          <p:cNvPr id="25" name="TextBox 24"/>
          <p:cNvSpPr txBox="1"/>
          <p:nvPr/>
        </p:nvSpPr>
        <p:spPr>
          <a:xfrm>
            <a:off x="2084831" y="3090672"/>
            <a:ext cx="1234440" cy="274320"/>
          </a:xfrm>
          <a:prstGeom prst="rect">
            <a:avLst/>
          </a:prstGeom>
          <a:noFill/>
        </p:spPr>
        <p:txBody>
          <a:bodyPr wrap="none" lIns="73152" rIns="73152" tIns="36576" bIns="36576">
            <a:spAutoFit/>
          </a:bodyPr>
          <a:lstStyle/>
          <a:p>
            <a:pPr algn="l"/>
            <a:r>
              <a:rPr sz="900" b="1">
                <a:solidFill>
                  <a:srgbClr val="143753"/>
                </a:solidFill>
                <a:latin typeface="Yu Gothic"/>
              </a:rPr>
              <a:t>中標津市街</a:t>
            </a:r>
          </a:p>
        </p:txBody>
      </p:sp>
      <p:sp>
        <p:nvSpPr>
          <p:cNvPr id="26" name="TextBox 25"/>
          <p:cNvSpPr txBox="1"/>
          <p:nvPr/>
        </p:nvSpPr>
        <p:spPr>
          <a:xfrm>
            <a:off x="3246120" y="3081528"/>
            <a:ext cx="3063240" cy="310896"/>
          </a:xfrm>
          <a:prstGeom prst="rect">
            <a:avLst/>
          </a:prstGeom>
          <a:noFill/>
        </p:spPr>
        <p:txBody>
          <a:bodyPr wrap="none" lIns="73152" rIns="73152" tIns="36576" bIns="36576">
            <a:spAutoFit/>
          </a:bodyPr>
          <a:lstStyle/>
          <a:p>
            <a:pPr algn="l"/>
            <a:r>
              <a:rPr sz="830" b="0">
                <a:solidFill>
                  <a:srgbClr val="222B34"/>
                </a:solidFill>
                <a:latin typeface="Yu Gothic"/>
              </a:rPr>
              <a:t>洋食、定食、カフェ候補</a:t>
            </a:r>
          </a:p>
        </p:txBody>
      </p:sp>
      <p:sp>
        <p:nvSpPr>
          <p:cNvPr id="27" name="TextBox 26"/>
          <p:cNvSpPr txBox="1"/>
          <p:nvPr/>
        </p:nvSpPr>
        <p:spPr>
          <a:xfrm>
            <a:off x="6355080" y="3099816"/>
            <a:ext cx="411480" cy="256032"/>
          </a:xfrm>
          <a:prstGeom prst="rect">
            <a:avLst/>
          </a:prstGeom>
          <a:noFill/>
        </p:spPr>
        <p:txBody>
          <a:bodyPr wrap="none" lIns="73152" rIns="73152" tIns="36576" bIns="36576">
            <a:spAutoFit/>
          </a:bodyPr>
          <a:lstStyle/>
          <a:p>
            <a:pPr algn="r"/>
            <a:r>
              <a:rPr sz="830" b="0">
                <a:solidFill>
                  <a:srgbClr val="66707A"/>
                </a:solidFill>
                <a:latin typeface="Yu Gothic"/>
              </a:rPr>
              <a:t>60分</a:t>
            </a:r>
          </a:p>
        </p:txBody>
      </p:sp>
      <p:sp>
        <p:nvSpPr>
          <p:cNvPr id="28" name="Rounded Rectangle 27"/>
          <p:cNvSpPr/>
          <p:nvPr/>
        </p:nvSpPr>
        <p:spPr>
          <a:xfrm>
            <a:off x="502920" y="3593592"/>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1792" y="3666744"/>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13:30</a:t>
            </a:r>
          </a:p>
        </p:txBody>
      </p:sp>
      <p:sp>
        <p:nvSpPr>
          <p:cNvPr id="30" name="TextBox 29"/>
          <p:cNvSpPr txBox="1"/>
          <p:nvPr/>
        </p:nvSpPr>
        <p:spPr>
          <a:xfrm>
            <a:off x="1417320" y="3666744"/>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観光</a:t>
            </a:r>
          </a:p>
        </p:txBody>
      </p:sp>
      <p:sp>
        <p:nvSpPr>
          <p:cNvPr id="31" name="TextBox 30"/>
          <p:cNvSpPr txBox="1"/>
          <p:nvPr/>
        </p:nvSpPr>
        <p:spPr>
          <a:xfrm>
            <a:off x="2084831" y="3657600"/>
            <a:ext cx="1234440" cy="274320"/>
          </a:xfrm>
          <a:prstGeom prst="rect">
            <a:avLst/>
          </a:prstGeom>
          <a:noFill/>
        </p:spPr>
        <p:txBody>
          <a:bodyPr wrap="none" lIns="73152" rIns="73152" tIns="36576" bIns="36576">
            <a:spAutoFit/>
          </a:bodyPr>
          <a:lstStyle/>
          <a:p>
            <a:pPr algn="l"/>
            <a:r>
              <a:rPr sz="900" b="1">
                <a:solidFill>
                  <a:srgbClr val="143753"/>
                </a:solidFill>
                <a:latin typeface="Yu Gothic"/>
              </a:rPr>
              <a:t>養老牛方面</a:t>
            </a:r>
          </a:p>
        </p:txBody>
      </p:sp>
      <p:sp>
        <p:nvSpPr>
          <p:cNvPr id="32" name="TextBox 31"/>
          <p:cNvSpPr txBox="1"/>
          <p:nvPr/>
        </p:nvSpPr>
        <p:spPr>
          <a:xfrm>
            <a:off x="3246120" y="3648456"/>
            <a:ext cx="3063240" cy="310896"/>
          </a:xfrm>
          <a:prstGeom prst="rect">
            <a:avLst/>
          </a:prstGeom>
          <a:noFill/>
        </p:spPr>
        <p:txBody>
          <a:bodyPr wrap="none" lIns="73152" rIns="73152" tIns="36576" bIns="36576">
            <a:spAutoFit/>
          </a:bodyPr>
          <a:lstStyle/>
          <a:p>
            <a:pPr algn="l"/>
            <a:r>
              <a:rPr sz="830" b="0">
                <a:solidFill>
                  <a:srgbClr val="222B34"/>
                </a:solidFill>
                <a:latin typeface="Yu Gothic"/>
              </a:rPr>
              <a:t>温泉、渓流、牧場風景をゆっくり見る</a:t>
            </a:r>
          </a:p>
        </p:txBody>
      </p:sp>
      <p:sp>
        <p:nvSpPr>
          <p:cNvPr id="33" name="TextBox 32"/>
          <p:cNvSpPr txBox="1"/>
          <p:nvPr/>
        </p:nvSpPr>
        <p:spPr>
          <a:xfrm>
            <a:off x="6355080" y="3666744"/>
            <a:ext cx="411480" cy="256032"/>
          </a:xfrm>
          <a:prstGeom prst="rect">
            <a:avLst/>
          </a:prstGeom>
          <a:noFill/>
        </p:spPr>
        <p:txBody>
          <a:bodyPr wrap="none" lIns="73152" rIns="73152" tIns="36576" bIns="36576">
            <a:spAutoFit/>
          </a:bodyPr>
          <a:lstStyle/>
          <a:p>
            <a:pPr algn="r"/>
            <a:r>
              <a:rPr sz="830" b="0">
                <a:solidFill>
                  <a:srgbClr val="66707A"/>
                </a:solidFill>
                <a:latin typeface="Yu Gothic"/>
              </a:rPr>
              <a:t>120分</a:t>
            </a:r>
          </a:p>
        </p:txBody>
      </p:sp>
      <p:sp>
        <p:nvSpPr>
          <p:cNvPr id="34" name="Rounded Rectangle 33"/>
          <p:cNvSpPr/>
          <p:nvPr/>
        </p:nvSpPr>
        <p:spPr>
          <a:xfrm>
            <a:off x="502920" y="4160520"/>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1792" y="4233672"/>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15:45</a:t>
            </a:r>
          </a:p>
        </p:txBody>
      </p:sp>
      <p:sp>
        <p:nvSpPr>
          <p:cNvPr id="36" name="TextBox 35"/>
          <p:cNvSpPr txBox="1"/>
          <p:nvPr/>
        </p:nvSpPr>
        <p:spPr>
          <a:xfrm>
            <a:off x="1417320" y="4233672"/>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休憩</a:t>
            </a:r>
          </a:p>
        </p:txBody>
      </p:sp>
      <p:sp>
        <p:nvSpPr>
          <p:cNvPr id="37" name="TextBox 36"/>
          <p:cNvSpPr txBox="1"/>
          <p:nvPr/>
        </p:nvSpPr>
        <p:spPr>
          <a:xfrm>
            <a:off x="2084831" y="4224528"/>
            <a:ext cx="1234440" cy="274320"/>
          </a:xfrm>
          <a:prstGeom prst="rect">
            <a:avLst/>
          </a:prstGeom>
          <a:noFill/>
        </p:spPr>
        <p:txBody>
          <a:bodyPr wrap="none" lIns="73152" rIns="73152" tIns="36576" bIns="36576">
            <a:spAutoFit/>
          </a:bodyPr>
          <a:lstStyle/>
          <a:p>
            <a:pPr algn="l"/>
            <a:r>
              <a:rPr sz="900" b="1">
                <a:solidFill>
                  <a:srgbClr val="143753"/>
                </a:solidFill>
                <a:latin typeface="Yu Gothic"/>
              </a:rPr>
              <a:t>バンガロー</a:t>
            </a:r>
          </a:p>
        </p:txBody>
      </p:sp>
      <p:sp>
        <p:nvSpPr>
          <p:cNvPr id="38" name="TextBox 37"/>
          <p:cNvSpPr txBox="1"/>
          <p:nvPr/>
        </p:nvSpPr>
        <p:spPr>
          <a:xfrm>
            <a:off x="3246120" y="4215384"/>
            <a:ext cx="3063240" cy="310896"/>
          </a:xfrm>
          <a:prstGeom prst="rect">
            <a:avLst/>
          </a:prstGeom>
          <a:noFill/>
        </p:spPr>
        <p:txBody>
          <a:bodyPr wrap="none" lIns="73152" rIns="73152" tIns="36576" bIns="36576">
            <a:spAutoFit/>
          </a:bodyPr>
          <a:lstStyle/>
          <a:p>
            <a:pPr algn="l"/>
            <a:r>
              <a:rPr sz="830" b="0">
                <a:solidFill>
                  <a:srgbClr val="222B34"/>
                </a:solidFill>
                <a:latin typeface="Yu Gothic"/>
              </a:rPr>
              <a:t>昼寝、洗濯、車内整理</a:t>
            </a:r>
          </a:p>
        </p:txBody>
      </p:sp>
      <p:sp>
        <p:nvSpPr>
          <p:cNvPr id="39" name="TextBox 38"/>
          <p:cNvSpPr txBox="1"/>
          <p:nvPr/>
        </p:nvSpPr>
        <p:spPr>
          <a:xfrm>
            <a:off x="6355080" y="4233672"/>
            <a:ext cx="411480" cy="256032"/>
          </a:xfrm>
          <a:prstGeom prst="rect">
            <a:avLst/>
          </a:prstGeom>
          <a:noFill/>
        </p:spPr>
        <p:txBody>
          <a:bodyPr wrap="none" lIns="73152" rIns="73152" tIns="36576" bIns="36576">
            <a:spAutoFit/>
          </a:bodyPr>
          <a:lstStyle/>
          <a:p>
            <a:pPr algn="r"/>
            <a:r>
              <a:rPr sz="830" b="0">
                <a:solidFill>
                  <a:srgbClr val="66707A"/>
                </a:solidFill>
                <a:latin typeface="Yu Gothic"/>
              </a:rPr>
              <a:t>90分</a:t>
            </a:r>
          </a:p>
        </p:txBody>
      </p:sp>
      <p:sp>
        <p:nvSpPr>
          <p:cNvPr id="40" name="Rounded Rectangle 39"/>
          <p:cNvSpPr/>
          <p:nvPr/>
        </p:nvSpPr>
        <p:spPr>
          <a:xfrm>
            <a:off x="502920" y="4727448"/>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21792" y="4800600"/>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17:30</a:t>
            </a:r>
          </a:p>
        </p:txBody>
      </p:sp>
      <p:sp>
        <p:nvSpPr>
          <p:cNvPr id="42" name="TextBox 41"/>
          <p:cNvSpPr txBox="1"/>
          <p:nvPr/>
        </p:nvSpPr>
        <p:spPr>
          <a:xfrm>
            <a:off x="1417320" y="4800600"/>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夕食</a:t>
            </a:r>
          </a:p>
        </p:txBody>
      </p:sp>
      <p:sp>
        <p:nvSpPr>
          <p:cNvPr id="43" name="TextBox 42"/>
          <p:cNvSpPr txBox="1"/>
          <p:nvPr/>
        </p:nvSpPr>
        <p:spPr>
          <a:xfrm>
            <a:off x="2084831" y="4791456"/>
            <a:ext cx="1234440" cy="274320"/>
          </a:xfrm>
          <a:prstGeom prst="rect">
            <a:avLst/>
          </a:prstGeom>
          <a:noFill/>
        </p:spPr>
        <p:txBody>
          <a:bodyPr wrap="none" lIns="73152" rIns="73152" tIns="36576" bIns="36576">
            <a:spAutoFit/>
          </a:bodyPr>
          <a:lstStyle/>
          <a:p>
            <a:pPr algn="l"/>
            <a:r>
              <a:rPr sz="900" b="1">
                <a:solidFill>
                  <a:srgbClr val="143753"/>
                </a:solidFill>
                <a:latin typeface="Yu Gothic"/>
              </a:rPr>
              <a:t>中標津市街 / キャンプ場</a:t>
            </a:r>
          </a:p>
        </p:txBody>
      </p:sp>
      <p:sp>
        <p:nvSpPr>
          <p:cNvPr id="44" name="TextBox 43"/>
          <p:cNvSpPr txBox="1"/>
          <p:nvPr/>
        </p:nvSpPr>
        <p:spPr>
          <a:xfrm>
            <a:off x="3246120" y="4782312"/>
            <a:ext cx="3063240" cy="310896"/>
          </a:xfrm>
          <a:prstGeom prst="rect">
            <a:avLst/>
          </a:prstGeom>
          <a:noFill/>
        </p:spPr>
        <p:txBody>
          <a:bodyPr wrap="none" lIns="73152" rIns="73152" tIns="36576" bIns="36576">
            <a:spAutoFit/>
          </a:bodyPr>
          <a:lstStyle/>
          <a:p>
            <a:pPr algn="l"/>
            <a:r>
              <a:rPr sz="830" b="0">
                <a:solidFill>
                  <a:srgbClr val="222B34"/>
                </a:solidFill>
                <a:latin typeface="Yu Gothic"/>
              </a:rPr>
              <a:t>外食またはキャンプ飯</a:t>
            </a:r>
          </a:p>
        </p:txBody>
      </p:sp>
      <p:sp>
        <p:nvSpPr>
          <p:cNvPr id="45" name="TextBox 44"/>
          <p:cNvSpPr txBox="1"/>
          <p:nvPr/>
        </p:nvSpPr>
        <p:spPr>
          <a:xfrm>
            <a:off x="6355080" y="4800600"/>
            <a:ext cx="411480" cy="256032"/>
          </a:xfrm>
          <a:prstGeom prst="rect">
            <a:avLst/>
          </a:prstGeom>
          <a:noFill/>
        </p:spPr>
        <p:txBody>
          <a:bodyPr wrap="none" lIns="73152" rIns="73152" tIns="36576" bIns="36576">
            <a:spAutoFit/>
          </a:bodyPr>
          <a:lstStyle/>
          <a:p>
            <a:pPr algn="r"/>
            <a:r>
              <a:rPr sz="830" b="0">
                <a:solidFill>
                  <a:srgbClr val="66707A"/>
                </a:solidFill>
                <a:latin typeface="Yu Gothic"/>
              </a:rPr>
              <a:t>90分</a:t>
            </a:r>
          </a:p>
        </p:txBody>
      </p:sp>
      <p:sp>
        <p:nvSpPr>
          <p:cNvPr id="46" name="Rounded Rectangle 45"/>
          <p:cNvSpPr/>
          <p:nvPr/>
        </p:nvSpPr>
        <p:spPr>
          <a:xfrm>
            <a:off x="502920" y="5294376"/>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21792" y="5367528"/>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20:00</a:t>
            </a:r>
          </a:p>
        </p:txBody>
      </p:sp>
      <p:sp>
        <p:nvSpPr>
          <p:cNvPr id="48" name="TextBox 47"/>
          <p:cNvSpPr txBox="1"/>
          <p:nvPr/>
        </p:nvSpPr>
        <p:spPr>
          <a:xfrm>
            <a:off x="1417320" y="5367528"/>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観光</a:t>
            </a:r>
          </a:p>
        </p:txBody>
      </p:sp>
      <p:sp>
        <p:nvSpPr>
          <p:cNvPr id="49" name="TextBox 48"/>
          <p:cNvSpPr txBox="1"/>
          <p:nvPr/>
        </p:nvSpPr>
        <p:spPr>
          <a:xfrm>
            <a:off x="2084831" y="5358384"/>
            <a:ext cx="1234440" cy="274320"/>
          </a:xfrm>
          <a:prstGeom prst="rect">
            <a:avLst/>
          </a:prstGeom>
          <a:noFill/>
        </p:spPr>
        <p:txBody>
          <a:bodyPr wrap="none" lIns="73152" rIns="73152" tIns="36576" bIns="36576">
            <a:spAutoFit/>
          </a:bodyPr>
          <a:lstStyle/>
          <a:p>
            <a:pPr algn="l"/>
            <a:r>
              <a:rPr sz="900" b="1">
                <a:solidFill>
                  <a:srgbClr val="143753"/>
                </a:solidFill>
                <a:latin typeface="Yu Gothic"/>
              </a:rPr>
              <a:t>開陽台 / キャンプ場周辺</a:t>
            </a:r>
          </a:p>
        </p:txBody>
      </p:sp>
      <p:sp>
        <p:nvSpPr>
          <p:cNvPr id="50" name="TextBox 49"/>
          <p:cNvSpPr txBox="1"/>
          <p:nvPr/>
        </p:nvSpPr>
        <p:spPr>
          <a:xfrm>
            <a:off x="3246120" y="5349240"/>
            <a:ext cx="3063240" cy="310896"/>
          </a:xfrm>
          <a:prstGeom prst="rect">
            <a:avLst/>
          </a:prstGeom>
          <a:noFill/>
        </p:spPr>
        <p:txBody>
          <a:bodyPr wrap="none" lIns="73152" rIns="73152" tIns="36576" bIns="36576">
            <a:spAutoFit/>
          </a:bodyPr>
          <a:lstStyle/>
          <a:p>
            <a:pPr algn="l"/>
            <a:r>
              <a:rPr sz="830" b="0">
                <a:solidFill>
                  <a:srgbClr val="222B34"/>
                </a:solidFill>
                <a:latin typeface="Yu Gothic"/>
              </a:rPr>
              <a:t>晴れていれば星空観察。寒さ対策をする</a:t>
            </a:r>
          </a:p>
        </p:txBody>
      </p:sp>
      <p:sp>
        <p:nvSpPr>
          <p:cNvPr id="51" name="TextBox 50"/>
          <p:cNvSpPr txBox="1"/>
          <p:nvPr/>
        </p:nvSpPr>
        <p:spPr>
          <a:xfrm>
            <a:off x="6355080" y="5367528"/>
            <a:ext cx="411480" cy="256032"/>
          </a:xfrm>
          <a:prstGeom prst="rect">
            <a:avLst/>
          </a:prstGeom>
          <a:noFill/>
        </p:spPr>
        <p:txBody>
          <a:bodyPr wrap="none" lIns="73152" rIns="73152" tIns="36576" bIns="36576">
            <a:spAutoFit/>
          </a:bodyPr>
          <a:lstStyle/>
          <a:p>
            <a:pPr algn="r"/>
            <a:r>
              <a:rPr sz="830" b="0">
                <a:solidFill>
                  <a:srgbClr val="66707A"/>
                </a:solidFill>
                <a:latin typeface="Yu Gothic"/>
              </a:rPr>
              <a:t>45分</a:t>
            </a:r>
          </a:p>
        </p:txBody>
      </p:sp>
      <p:pic>
        <p:nvPicPr>
          <p:cNvPr id="52" name="Picture 51" descr="2026-08-08_開陽台.png"/>
          <p:cNvPicPr>
            <a:picLocks noChangeAspect="1"/>
          </p:cNvPicPr>
          <p:nvPr/>
        </p:nvPicPr>
        <p:blipFill>
          <a:blip r:embed="rId2"/>
          <a:stretch>
            <a:fillRect/>
          </a:stretch>
        </p:blipFill>
        <p:spPr>
          <a:xfrm>
            <a:off x="7360920" y="502920"/>
            <a:ext cx="4160520" cy="2331720"/>
          </a:xfrm>
          <a:prstGeom prst="rect">
            <a:avLst/>
          </a:prstGeom>
        </p:spPr>
      </p:pic>
      <p:sp>
        <p:nvSpPr>
          <p:cNvPr id="53" name="TextBox 52"/>
          <p:cNvSpPr txBox="1"/>
          <p:nvPr/>
        </p:nvSpPr>
        <p:spPr>
          <a:xfrm>
            <a:off x="7360920" y="3063240"/>
            <a:ext cx="4343400" cy="292608"/>
          </a:xfrm>
          <a:prstGeom prst="rect">
            <a:avLst/>
          </a:prstGeom>
          <a:noFill/>
        </p:spPr>
        <p:txBody>
          <a:bodyPr wrap="none" lIns="73152" rIns="73152" tIns="36576" bIns="36576">
            <a:spAutoFit/>
          </a:bodyPr>
          <a:lstStyle/>
          <a:p>
            <a:pPr algn="l"/>
            <a:r>
              <a:rPr sz="1500" b="1">
                <a:solidFill>
                  <a:srgbClr val="143753"/>
                </a:solidFill>
                <a:latin typeface="Yu Gothic"/>
              </a:rPr>
              <a:t>レストラン候補</a:t>
            </a:r>
          </a:p>
        </p:txBody>
      </p:sp>
      <p:sp>
        <p:nvSpPr>
          <p:cNvPr id="54" name="Rounded Rectangle 53"/>
          <p:cNvSpPr/>
          <p:nvPr/>
        </p:nvSpPr>
        <p:spPr>
          <a:xfrm>
            <a:off x="7360920" y="344728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434072" y="3502152"/>
            <a:ext cx="566928" cy="228600"/>
          </a:xfrm>
          <a:prstGeom prst="rect">
            <a:avLst/>
          </a:prstGeom>
          <a:noFill/>
        </p:spPr>
        <p:txBody>
          <a:bodyPr wrap="none" lIns="73152" rIns="73152" tIns="36576" bIns="36576">
            <a:spAutoFit/>
          </a:bodyPr>
          <a:lstStyle/>
          <a:p>
            <a:pPr algn="l"/>
            <a:r>
              <a:rPr sz="850" b="1">
                <a:solidFill>
                  <a:srgbClr val="D86352"/>
                </a:solidFill>
                <a:latin typeface="Yu Gothic"/>
              </a:rPr>
              <a:t>昼食</a:t>
            </a:r>
          </a:p>
        </p:txBody>
      </p:sp>
      <p:sp>
        <p:nvSpPr>
          <p:cNvPr id="56" name="TextBox 55"/>
          <p:cNvSpPr txBox="1"/>
          <p:nvPr/>
        </p:nvSpPr>
        <p:spPr>
          <a:xfrm>
            <a:off x="8001000" y="349300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中標津市街カフェ</a:t>
            </a:r>
          </a:p>
        </p:txBody>
      </p:sp>
      <p:sp>
        <p:nvSpPr>
          <p:cNvPr id="57" name="TextBox 56"/>
          <p:cNvSpPr txBox="1"/>
          <p:nvPr/>
        </p:nvSpPr>
        <p:spPr>
          <a:xfrm>
            <a:off x="9509760" y="349300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開陽台後に戻って昼食</a:t>
            </a:r>
          </a:p>
        </p:txBody>
      </p:sp>
      <p:sp>
        <p:nvSpPr>
          <p:cNvPr id="58" name="Rounded Rectangle 57"/>
          <p:cNvSpPr/>
          <p:nvPr/>
        </p:nvSpPr>
        <p:spPr>
          <a:xfrm>
            <a:off x="7360920" y="395020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434072" y="4005072"/>
            <a:ext cx="566928" cy="228600"/>
          </a:xfrm>
          <a:prstGeom prst="rect">
            <a:avLst/>
          </a:prstGeom>
          <a:noFill/>
        </p:spPr>
        <p:txBody>
          <a:bodyPr wrap="none" lIns="73152" rIns="73152" tIns="36576" bIns="36576">
            <a:spAutoFit/>
          </a:bodyPr>
          <a:lstStyle/>
          <a:p>
            <a:pPr algn="l"/>
            <a:r>
              <a:rPr sz="850" b="1">
                <a:solidFill>
                  <a:srgbClr val="D86352"/>
                </a:solidFill>
                <a:latin typeface="Yu Gothic"/>
              </a:rPr>
              <a:t>昼食</a:t>
            </a:r>
          </a:p>
        </p:txBody>
      </p:sp>
      <p:sp>
        <p:nvSpPr>
          <p:cNvPr id="60" name="TextBox 59"/>
          <p:cNvSpPr txBox="1"/>
          <p:nvPr/>
        </p:nvSpPr>
        <p:spPr>
          <a:xfrm>
            <a:off x="8001000" y="399592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ラ・レトリなかしべつ周辺候補</a:t>
            </a:r>
          </a:p>
        </p:txBody>
      </p:sp>
      <p:sp>
        <p:nvSpPr>
          <p:cNvPr id="61" name="TextBox 60"/>
          <p:cNvSpPr txBox="1"/>
          <p:nvPr/>
        </p:nvSpPr>
        <p:spPr>
          <a:xfrm>
            <a:off x="9509760" y="399592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乳製品・軽食の候補</a:t>
            </a:r>
          </a:p>
        </p:txBody>
      </p:sp>
      <p:sp>
        <p:nvSpPr>
          <p:cNvPr id="62" name="Rounded Rectangle 61"/>
          <p:cNvSpPr/>
          <p:nvPr/>
        </p:nvSpPr>
        <p:spPr>
          <a:xfrm>
            <a:off x="7360920" y="445312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434072" y="4507992"/>
            <a:ext cx="566928" cy="228600"/>
          </a:xfrm>
          <a:prstGeom prst="rect">
            <a:avLst/>
          </a:prstGeom>
          <a:noFill/>
        </p:spPr>
        <p:txBody>
          <a:bodyPr wrap="none" lIns="73152" rIns="73152" tIns="36576" bIns="36576">
            <a:spAutoFit/>
          </a:bodyPr>
          <a:lstStyle/>
          <a:p>
            <a:pPr algn="l"/>
            <a:r>
              <a:rPr sz="850" b="1">
                <a:solidFill>
                  <a:srgbClr val="D86352"/>
                </a:solidFill>
                <a:latin typeface="Yu Gothic"/>
              </a:rPr>
              <a:t>夕食</a:t>
            </a:r>
          </a:p>
        </p:txBody>
      </p:sp>
      <p:sp>
        <p:nvSpPr>
          <p:cNvPr id="64" name="TextBox 63"/>
          <p:cNvSpPr txBox="1"/>
          <p:nvPr/>
        </p:nvSpPr>
        <p:spPr>
          <a:xfrm>
            <a:off x="8001000" y="449884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中標津市街の定食店</a:t>
            </a:r>
          </a:p>
        </p:txBody>
      </p:sp>
      <p:sp>
        <p:nvSpPr>
          <p:cNvPr id="65" name="TextBox 64"/>
          <p:cNvSpPr txBox="1"/>
          <p:nvPr/>
        </p:nvSpPr>
        <p:spPr>
          <a:xfrm>
            <a:off x="9509760" y="449884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子ども連れで入りやすい店を現地確認</a:t>
            </a:r>
          </a:p>
        </p:txBody>
      </p:sp>
      <p:sp>
        <p:nvSpPr>
          <p:cNvPr id="66" name="Rounded Rectangle 65"/>
          <p:cNvSpPr/>
          <p:nvPr/>
        </p:nvSpPr>
        <p:spPr>
          <a:xfrm>
            <a:off x="7360920" y="495604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434072" y="5010912"/>
            <a:ext cx="566928" cy="228600"/>
          </a:xfrm>
          <a:prstGeom prst="rect">
            <a:avLst/>
          </a:prstGeom>
          <a:noFill/>
        </p:spPr>
        <p:txBody>
          <a:bodyPr wrap="none" lIns="73152" rIns="73152" tIns="36576" bIns="36576">
            <a:spAutoFit/>
          </a:bodyPr>
          <a:lstStyle/>
          <a:p>
            <a:pPr algn="l"/>
            <a:r>
              <a:rPr sz="850" b="1">
                <a:solidFill>
                  <a:srgbClr val="D86352"/>
                </a:solidFill>
                <a:latin typeface="Yu Gothic"/>
              </a:rPr>
              <a:t>甘味</a:t>
            </a:r>
          </a:p>
        </p:txBody>
      </p:sp>
      <p:sp>
        <p:nvSpPr>
          <p:cNvPr id="68" name="TextBox 67"/>
          <p:cNvSpPr txBox="1"/>
          <p:nvPr/>
        </p:nvSpPr>
        <p:spPr>
          <a:xfrm>
            <a:off x="8001000" y="500176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カフェ・カイヨウダイ</a:t>
            </a:r>
          </a:p>
        </p:txBody>
      </p:sp>
      <p:sp>
        <p:nvSpPr>
          <p:cNvPr id="69" name="TextBox 68"/>
          <p:cNvSpPr txBox="1"/>
          <p:nvPr/>
        </p:nvSpPr>
        <p:spPr>
          <a:xfrm>
            <a:off x="9509760" y="500176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はちみつソフトなど休憩候補</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2026-08-09_野付半島.png"/>
          <p:cNvPicPr>
            <a:picLocks noChangeAspect="1"/>
          </p:cNvPicPr>
          <p:nvPr/>
        </p:nvPicPr>
        <p:blipFill>
          <a:blip r:embed="rId2"/>
          <a:stretch>
            <a:fillRect/>
          </a:stretch>
        </p:blipFill>
        <p:spPr>
          <a:xfrm>
            <a:off x="7059168" y="0"/>
            <a:ext cx="5129784" cy="3886200"/>
          </a:xfrm>
          <a:prstGeom prst="rect">
            <a:avLst/>
          </a:prstGeom>
        </p:spPr>
      </p:pic>
      <p:sp>
        <p:nvSpPr>
          <p:cNvPr id="3" name="Rounded Rectangle 2"/>
          <p:cNvSpPr/>
          <p:nvPr/>
        </p:nvSpPr>
        <p:spPr>
          <a:xfrm>
            <a:off x="502920" y="347472"/>
            <a:ext cx="1325880" cy="329184"/>
          </a:xfrm>
          <a:prstGeom prst="roundRect">
            <a:avLst/>
          </a:prstGeom>
          <a:solidFill>
            <a:srgbClr val="D863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Yu Gothic"/>
              </a:rPr>
              <a:t>DAY 10</a:t>
            </a:r>
          </a:p>
        </p:txBody>
      </p:sp>
      <p:sp>
        <p:nvSpPr>
          <p:cNvPr id="4" name="TextBox 3"/>
          <p:cNvSpPr txBox="1"/>
          <p:nvPr/>
        </p:nvSpPr>
        <p:spPr>
          <a:xfrm>
            <a:off x="502920" y="749808"/>
            <a:ext cx="6126480" cy="548640"/>
          </a:xfrm>
          <a:prstGeom prst="rect">
            <a:avLst/>
          </a:prstGeom>
          <a:noFill/>
        </p:spPr>
        <p:txBody>
          <a:bodyPr wrap="none" lIns="73152" rIns="73152" tIns="36576" bIns="36576">
            <a:spAutoFit/>
          </a:bodyPr>
          <a:lstStyle/>
          <a:p>
            <a:pPr algn="l"/>
            <a:r>
              <a:rPr sz="2200" b="1">
                <a:solidFill>
                  <a:srgbClr val="143753"/>
                </a:solidFill>
                <a:latin typeface="Yu Gothic"/>
              </a:rPr>
              <a:t>2026-08-09  野付半島と海辺の道東自然ドライブ</a:t>
            </a:r>
          </a:p>
        </p:txBody>
      </p:sp>
      <p:sp>
        <p:nvSpPr>
          <p:cNvPr id="5" name="TextBox 4"/>
          <p:cNvSpPr txBox="1"/>
          <p:nvPr/>
        </p:nvSpPr>
        <p:spPr>
          <a:xfrm>
            <a:off x="530352" y="1234440"/>
            <a:ext cx="5989320" cy="384048"/>
          </a:xfrm>
          <a:prstGeom prst="rect">
            <a:avLst/>
          </a:prstGeom>
          <a:noFill/>
        </p:spPr>
        <p:txBody>
          <a:bodyPr wrap="none" lIns="73152" rIns="73152" tIns="36576" bIns="36576">
            <a:spAutoFit/>
          </a:bodyPr>
          <a:lstStyle/>
          <a:p>
            <a:pPr algn="l"/>
            <a:r>
              <a:rPr sz="1300" b="1">
                <a:solidFill>
                  <a:srgbClr val="2C73A0"/>
                </a:solidFill>
                <a:latin typeface="Yu Gothic"/>
              </a:rPr>
              <a:t>中標津 / 標津 / 野付半島</a:t>
            </a:r>
          </a:p>
        </p:txBody>
      </p:sp>
      <p:sp>
        <p:nvSpPr>
          <p:cNvPr id="6" name="TextBox 5"/>
          <p:cNvSpPr txBox="1"/>
          <p:nvPr/>
        </p:nvSpPr>
        <p:spPr>
          <a:xfrm>
            <a:off x="530352" y="1719072"/>
            <a:ext cx="6080760" cy="896112"/>
          </a:xfrm>
          <a:prstGeom prst="rect">
            <a:avLst/>
          </a:prstGeom>
          <a:noFill/>
        </p:spPr>
        <p:txBody>
          <a:bodyPr wrap="none" lIns="73152" rIns="73152" tIns="36576" bIns="36576">
            <a:spAutoFit/>
          </a:bodyPr>
          <a:lstStyle/>
          <a:p>
            <a:pPr algn="l"/>
            <a:r>
              <a:rPr sz="1230" b="0">
                <a:solidFill>
                  <a:srgbClr val="222B34"/>
                </a:solidFill>
                <a:latin typeface="Yu Gothic"/>
              </a:rPr>
              <a:t>中標津から標津・野付半島方面へ。海、湿原、野鳥、立ち枯れたトドワラの風景など、道東らしい自然を味わいます。移動はあるものの、日帰りで戻れる範囲にします。</a:t>
            </a:r>
          </a:p>
        </p:txBody>
      </p:sp>
      <p:sp>
        <p:nvSpPr>
          <p:cNvPr id="7" name="TextBox 6"/>
          <p:cNvSpPr txBox="1"/>
          <p:nvPr/>
        </p:nvSpPr>
        <p:spPr>
          <a:xfrm>
            <a:off x="530352" y="2852928"/>
            <a:ext cx="6126480" cy="292608"/>
          </a:xfrm>
          <a:prstGeom prst="rect">
            <a:avLst/>
          </a:prstGeom>
          <a:noFill/>
        </p:spPr>
        <p:txBody>
          <a:bodyPr wrap="none" lIns="73152" rIns="73152" tIns="36576" bIns="36576">
            <a:spAutoFit/>
          </a:bodyPr>
          <a:lstStyle/>
          <a:p>
            <a:pPr algn="l"/>
            <a:r>
              <a:rPr sz="1500" b="1">
                <a:solidFill>
                  <a:srgbClr val="143753"/>
                </a:solidFill>
                <a:latin typeface="Yu Gothic"/>
              </a:rPr>
              <a:t>この日の流れ</a:t>
            </a:r>
          </a:p>
        </p:txBody>
      </p:sp>
      <p:sp>
        <p:nvSpPr>
          <p:cNvPr id="8" name="Rounded Rectangle 7"/>
          <p:cNvSpPr/>
          <p:nvPr/>
        </p:nvSpPr>
        <p:spPr>
          <a:xfrm>
            <a:off x="502920" y="3246120"/>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3319272"/>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08:00</a:t>
            </a:r>
          </a:p>
        </p:txBody>
      </p:sp>
      <p:sp>
        <p:nvSpPr>
          <p:cNvPr id="10" name="TextBox 9"/>
          <p:cNvSpPr txBox="1"/>
          <p:nvPr/>
        </p:nvSpPr>
        <p:spPr>
          <a:xfrm>
            <a:off x="1417320" y="3319272"/>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朝食</a:t>
            </a:r>
          </a:p>
        </p:txBody>
      </p:sp>
      <p:sp>
        <p:nvSpPr>
          <p:cNvPr id="11" name="TextBox 10"/>
          <p:cNvSpPr txBox="1"/>
          <p:nvPr/>
        </p:nvSpPr>
        <p:spPr>
          <a:xfrm>
            <a:off x="2084831" y="3310128"/>
            <a:ext cx="1234440" cy="274320"/>
          </a:xfrm>
          <a:prstGeom prst="rect">
            <a:avLst/>
          </a:prstGeom>
          <a:noFill/>
        </p:spPr>
        <p:txBody>
          <a:bodyPr wrap="none" lIns="73152" rIns="73152" tIns="36576" bIns="36576">
            <a:spAutoFit/>
          </a:bodyPr>
          <a:lstStyle/>
          <a:p>
            <a:pPr algn="l"/>
            <a:r>
              <a:rPr sz="900" b="1">
                <a:solidFill>
                  <a:srgbClr val="143753"/>
                </a:solidFill>
                <a:latin typeface="Yu Gothic"/>
              </a:rPr>
              <a:t>バンガロー</a:t>
            </a:r>
          </a:p>
        </p:txBody>
      </p:sp>
      <p:sp>
        <p:nvSpPr>
          <p:cNvPr id="12" name="TextBox 11"/>
          <p:cNvSpPr txBox="1"/>
          <p:nvPr/>
        </p:nvSpPr>
        <p:spPr>
          <a:xfrm>
            <a:off x="3246120" y="3300984"/>
            <a:ext cx="3063240" cy="310896"/>
          </a:xfrm>
          <a:prstGeom prst="rect">
            <a:avLst/>
          </a:prstGeom>
          <a:noFill/>
        </p:spPr>
        <p:txBody>
          <a:bodyPr wrap="none" lIns="73152" rIns="73152" tIns="36576" bIns="36576">
            <a:spAutoFit/>
          </a:bodyPr>
          <a:lstStyle/>
          <a:p>
            <a:pPr algn="l"/>
            <a:r>
              <a:rPr sz="830" b="0">
                <a:solidFill>
                  <a:srgbClr val="222B34"/>
                </a:solidFill>
                <a:latin typeface="Yu Gothic"/>
              </a:rPr>
              <a:t>朝食、飲み物準備、双眼鏡や上着を用意</a:t>
            </a:r>
          </a:p>
        </p:txBody>
      </p:sp>
      <p:sp>
        <p:nvSpPr>
          <p:cNvPr id="13" name="TextBox 12"/>
          <p:cNvSpPr txBox="1"/>
          <p:nvPr/>
        </p:nvSpPr>
        <p:spPr>
          <a:xfrm>
            <a:off x="6355080" y="3319272"/>
            <a:ext cx="411480" cy="256032"/>
          </a:xfrm>
          <a:prstGeom prst="rect">
            <a:avLst/>
          </a:prstGeom>
          <a:noFill/>
        </p:spPr>
        <p:txBody>
          <a:bodyPr wrap="none" lIns="73152" rIns="73152" tIns="36576" bIns="36576">
            <a:spAutoFit/>
          </a:bodyPr>
          <a:lstStyle/>
          <a:p>
            <a:pPr algn="r"/>
            <a:r>
              <a:rPr sz="830" b="0">
                <a:solidFill>
                  <a:srgbClr val="66707A"/>
                </a:solidFill>
                <a:latin typeface="Yu Gothic"/>
              </a:rPr>
              <a:t>60分</a:t>
            </a:r>
          </a:p>
        </p:txBody>
      </p:sp>
      <p:sp>
        <p:nvSpPr>
          <p:cNvPr id="14" name="Rounded Rectangle 13"/>
          <p:cNvSpPr/>
          <p:nvPr/>
        </p:nvSpPr>
        <p:spPr>
          <a:xfrm>
            <a:off x="502920" y="3813048"/>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 y="3886200"/>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09:15</a:t>
            </a:r>
          </a:p>
        </p:txBody>
      </p:sp>
      <p:sp>
        <p:nvSpPr>
          <p:cNvPr id="16" name="TextBox 15"/>
          <p:cNvSpPr txBox="1"/>
          <p:nvPr/>
        </p:nvSpPr>
        <p:spPr>
          <a:xfrm>
            <a:off x="1417320" y="3886200"/>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移動</a:t>
            </a:r>
          </a:p>
        </p:txBody>
      </p:sp>
      <p:sp>
        <p:nvSpPr>
          <p:cNvPr id="17" name="TextBox 16"/>
          <p:cNvSpPr txBox="1"/>
          <p:nvPr/>
        </p:nvSpPr>
        <p:spPr>
          <a:xfrm>
            <a:off x="2084831" y="3877056"/>
            <a:ext cx="1234440" cy="274320"/>
          </a:xfrm>
          <a:prstGeom prst="rect">
            <a:avLst/>
          </a:prstGeom>
          <a:noFill/>
        </p:spPr>
        <p:txBody>
          <a:bodyPr wrap="none" lIns="73152" rIns="73152" tIns="36576" bIns="36576">
            <a:spAutoFit/>
          </a:bodyPr>
          <a:lstStyle/>
          <a:p>
            <a:pPr algn="l"/>
            <a:r>
              <a:rPr sz="900" b="1">
                <a:solidFill>
                  <a:srgbClr val="143753"/>
                </a:solidFill>
                <a:latin typeface="Yu Gothic"/>
              </a:rPr>
              <a:t>中標津 → 標津</a:t>
            </a:r>
          </a:p>
        </p:txBody>
      </p:sp>
      <p:sp>
        <p:nvSpPr>
          <p:cNvPr id="18" name="TextBox 17"/>
          <p:cNvSpPr txBox="1"/>
          <p:nvPr/>
        </p:nvSpPr>
        <p:spPr>
          <a:xfrm>
            <a:off x="3246120" y="3867912"/>
            <a:ext cx="3063240" cy="310896"/>
          </a:xfrm>
          <a:prstGeom prst="rect">
            <a:avLst/>
          </a:prstGeom>
          <a:noFill/>
        </p:spPr>
        <p:txBody>
          <a:bodyPr wrap="none" lIns="73152" rIns="73152" tIns="36576" bIns="36576">
            <a:spAutoFit/>
          </a:bodyPr>
          <a:lstStyle/>
          <a:p>
            <a:pPr algn="l"/>
            <a:r>
              <a:rPr sz="830" b="0">
                <a:solidFill>
                  <a:srgbClr val="222B34"/>
                </a:solidFill>
                <a:latin typeface="Yu Gothic"/>
              </a:rPr>
              <a:t>海沿い方面へ移動</a:t>
            </a:r>
          </a:p>
        </p:txBody>
      </p:sp>
      <p:sp>
        <p:nvSpPr>
          <p:cNvPr id="19" name="TextBox 18"/>
          <p:cNvSpPr txBox="1"/>
          <p:nvPr/>
        </p:nvSpPr>
        <p:spPr>
          <a:xfrm>
            <a:off x="6355080" y="3886200"/>
            <a:ext cx="411480" cy="256032"/>
          </a:xfrm>
          <a:prstGeom prst="rect">
            <a:avLst/>
          </a:prstGeom>
          <a:noFill/>
        </p:spPr>
        <p:txBody>
          <a:bodyPr wrap="none" lIns="73152" rIns="73152" tIns="36576" bIns="36576">
            <a:spAutoFit/>
          </a:bodyPr>
          <a:lstStyle/>
          <a:p>
            <a:pPr algn="r"/>
            <a:r>
              <a:rPr sz="830" b="0">
                <a:solidFill>
                  <a:srgbClr val="66707A"/>
                </a:solidFill>
                <a:latin typeface="Yu Gothic"/>
              </a:rPr>
              <a:t>約45分</a:t>
            </a:r>
          </a:p>
        </p:txBody>
      </p:sp>
      <p:sp>
        <p:nvSpPr>
          <p:cNvPr id="20" name="Rounded Rectangle 19"/>
          <p:cNvSpPr/>
          <p:nvPr/>
        </p:nvSpPr>
        <p:spPr>
          <a:xfrm>
            <a:off x="502920" y="4379976"/>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1792" y="4453128"/>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10:00</a:t>
            </a:r>
          </a:p>
        </p:txBody>
      </p:sp>
      <p:sp>
        <p:nvSpPr>
          <p:cNvPr id="22" name="TextBox 21"/>
          <p:cNvSpPr txBox="1"/>
          <p:nvPr/>
        </p:nvSpPr>
        <p:spPr>
          <a:xfrm>
            <a:off x="1417320" y="4453128"/>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観光</a:t>
            </a:r>
          </a:p>
        </p:txBody>
      </p:sp>
      <p:sp>
        <p:nvSpPr>
          <p:cNvPr id="23" name="TextBox 22"/>
          <p:cNvSpPr txBox="1"/>
          <p:nvPr/>
        </p:nvSpPr>
        <p:spPr>
          <a:xfrm>
            <a:off x="2084831" y="4443984"/>
            <a:ext cx="1234440" cy="274320"/>
          </a:xfrm>
          <a:prstGeom prst="rect">
            <a:avLst/>
          </a:prstGeom>
          <a:noFill/>
        </p:spPr>
        <p:txBody>
          <a:bodyPr wrap="none" lIns="73152" rIns="73152" tIns="36576" bIns="36576">
            <a:spAutoFit/>
          </a:bodyPr>
          <a:lstStyle/>
          <a:p>
            <a:pPr algn="l"/>
            <a:r>
              <a:rPr sz="900" b="1">
                <a:solidFill>
                  <a:srgbClr val="143753"/>
                </a:solidFill>
                <a:latin typeface="Yu Gothic"/>
              </a:rPr>
              <a:t>標津周辺</a:t>
            </a:r>
          </a:p>
        </p:txBody>
      </p:sp>
      <p:sp>
        <p:nvSpPr>
          <p:cNvPr id="24" name="TextBox 23"/>
          <p:cNvSpPr txBox="1"/>
          <p:nvPr/>
        </p:nvSpPr>
        <p:spPr>
          <a:xfrm>
            <a:off x="3246120" y="4434840"/>
            <a:ext cx="3063240" cy="310896"/>
          </a:xfrm>
          <a:prstGeom prst="rect">
            <a:avLst/>
          </a:prstGeom>
          <a:noFill/>
        </p:spPr>
        <p:txBody>
          <a:bodyPr wrap="none" lIns="73152" rIns="73152" tIns="36576" bIns="36576">
            <a:spAutoFit/>
          </a:bodyPr>
          <a:lstStyle/>
          <a:p>
            <a:pPr algn="l"/>
            <a:r>
              <a:rPr sz="830" b="0">
                <a:solidFill>
                  <a:srgbClr val="222B34"/>
                </a:solidFill>
                <a:latin typeface="Yu Gothic"/>
              </a:rPr>
              <a:t>海辺散策、資料館や道の駅候補</a:t>
            </a:r>
          </a:p>
        </p:txBody>
      </p:sp>
      <p:sp>
        <p:nvSpPr>
          <p:cNvPr id="25" name="TextBox 24"/>
          <p:cNvSpPr txBox="1"/>
          <p:nvPr/>
        </p:nvSpPr>
        <p:spPr>
          <a:xfrm>
            <a:off x="6355080" y="4453128"/>
            <a:ext cx="411480" cy="256032"/>
          </a:xfrm>
          <a:prstGeom prst="rect">
            <a:avLst/>
          </a:prstGeom>
          <a:noFill/>
        </p:spPr>
        <p:txBody>
          <a:bodyPr wrap="none" lIns="73152" rIns="73152" tIns="36576" bIns="36576">
            <a:spAutoFit/>
          </a:bodyPr>
          <a:lstStyle/>
          <a:p>
            <a:pPr algn="r"/>
            <a:r>
              <a:rPr sz="830" b="0">
                <a:solidFill>
                  <a:srgbClr val="66707A"/>
                </a:solidFill>
                <a:latin typeface="Yu Gothic"/>
              </a:rPr>
              <a:t>60分</a:t>
            </a:r>
          </a:p>
        </p:txBody>
      </p:sp>
      <p:sp>
        <p:nvSpPr>
          <p:cNvPr id="26" name="Rounded Rectangle 25"/>
          <p:cNvSpPr/>
          <p:nvPr/>
        </p:nvSpPr>
        <p:spPr>
          <a:xfrm>
            <a:off x="502920" y="4946904"/>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1792" y="5020056"/>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11:15</a:t>
            </a:r>
          </a:p>
        </p:txBody>
      </p:sp>
      <p:sp>
        <p:nvSpPr>
          <p:cNvPr id="28" name="TextBox 27"/>
          <p:cNvSpPr txBox="1"/>
          <p:nvPr/>
        </p:nvSpPr>
        <p:spPr>
          <a:xfrm>
            <a:off x="1417320" y="5020056"/>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移動</a:t>
            </a:r>
          </a:p>
        </p:txBody>
      </p:sp>
      <p:sp>
        <p:nvSpPr>
          <p:cNvPr id="29" name="TextBox 28"/>
          <p:cNvSpPr txBox="1"/>
          <p:nvPr/>
        </p:nvSpPr>
        <p:spPr>
          <a:xfrm>
            <a:off x="2084831" y="5010912"/>
            <a:ext cx="1234440" cy="274320"/>
          </a:xfrm>
          <a:prstGeom prst="rect">
            <a:avLst/>
          </a:prstGeom>
          <a:noFill/>
        </p:spPr>
        <p:txBody>
          <a:bodyPr wrap="none" lIns="73152" rIns="73152" tIns="36576" bIns="36576">
            <a:spAutoFit/>
          </a:bodyPr>
          <a:lstStyle/>
          <a:p>
            <a:pPr algn="l"/>
            <a:r>
              <a:rPr sz="900" b="1">
                <a:solidFill>
                  <a:srgbClr val="143753"/>
                </a:solidFill>
                <a:latin typeface="Yu Gothic"/>
              </a:rPr>
              <a:t>標津 → 野付半島</a:t>
            </a:r>
          </a:p>
        </p:txBody>
      </p:sp>
      <p:sp>
        <p:nvSpPr>
          <p:cNvPr id="30" name="TextBox 29"/>
          <p:cNvSpPr txBox="1"/>
          <p:nvPr/>
        </p:nvSpPr>
        <p:spPr>
          <a:xfrm>
            <a:off x="3246120" y="5001768"/>
            <a:ext cx="3063240" cy="310896"/>
          </a:xfrm>
          <a:prstGeom prst="rect">
            <a:avLst/>
          </a:prstGeom>
          <a:noFill/>
        </p:spPr>
        <p:txBody>
          <a:bodyPr wrap="none" lIns="73152" rIns="73152" tIns="36576" bIns="36576">
            <a:spAutoFit/>
          </a:bodyPr>
          <a:lstStyle/>
          <a:p>
            <a:pPr algn="l"/>
            <a:r>
              <a:rPr sz="830" b="0">
                <a:solidFill>
                  <a:srgbClr val="222B34"/>
                </a:solidFill>
                <a:latin typeface="Yu Gothic"/>
              </a:rPr>
              <a:t>半島方面へ移動。景色の良い場所で休憩</a:t>
            </a:r>
          </a:p>
        </p:txBody>
      </p:sp>
      <p:sp>
        <p:nvSpPr>
          <p:cNvPr id="31" name="TextBox 30"/>
          <p:cNvSpPr txBox="1"/>
          <p:nvPr/>
        </p:nvSpPr>
        <p:spPr>
          <a:xfrm>
            <a:off x="6355080" y="5020056"/>
            <a:ext cx="411480" cy="256032"/>
          </a:xfrm>
          <a:prstGeom prst="rect">
            <a:avLst/>
          </a:prstGeom>
          <a:noFill/>
        </p:spPr>
        <p:txBody>
          <a:bodyPr wrap="none" lIns="73152" rIns="73152" tIns="36576" bIns="36576">
            <a:spAutoFit/>
          </a:bodyPr>
          <a:lstStyle/>
          <a:p>
            <a:pPr algn="r"/>
            <a:r>
              <a:rPr sz="830" b="0">
                <a:solidFill>
                  <a:srgbClr val="66707A"/>
                </a:solidFill>
                <a:latin typeface="Yu Gothic"/>
              </a:rPr>
              <a:t>約45分</a:t>
            </a:r>
          </a:p>
        </p:txBody>
      </p:sp>
      <p:sp>
        <p:nvSpPr>
          <p:cNvPr id="32" name="Rounded Rectangle 31"/>
          <p:cNvSpPr/>
          <p:nvPr/>
        </p:nvSpPr>
        <p:spPr>
          <a:xfrm>
            <a:off x="502920" y="5513832"/>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1792" y="5586984"/>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12:15</a:t>
            </a:r>
          </a:p>
        </p:txBody>
      </p:sp>
      <p:sp>
        <p:nvSpPr>
          <p:cNvPr id="34" name="TextBox 33"/>
          <p:cNvSpPr txBox="1"/>
          <p:nvPr/>
        </p:nvSpPr>
        <p:spPr>
          <a:xfrm>
            <a:off x="1417320" y="5586984"/>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昼食</a:t>
            </a:r>
          </a:p>
        </p:txBody>
      </p:sp>
      <p:sp>
        <p:nvSpPr>
          <p:cNvPr id="35" name="TextBox 34"/>
          <p:cNvSpPr txBox="1"/>
          <p:nvPr/>
        </p:nvSpPr>
        <p:spPr>
          <a:xfrm>
            <a:off x="2084831" y="5577840"/>
            <a:ext cx="1234440" cy="274320"/>
          </a:xfrm>
          <a:prstGeom prst="rect">
            <a:avLst/>
          </a:prstGeom>
          <a:noFill/>
        </p:spPr>
        <p:txBody>
          <a:bodyPr wrap="none" lIns="73152" rIns="73152" tIns="36576" bIns="36576">
            <a:spAutoFit/>
          </a:bodyPr>
          <a:lstStyle/>
          <a:p>
            <a:pPr algn="l"/>
            <a:r>
              <a:rPr sz="900" b="1">
                <a:solidFill>
                  <a:srgbClr val="143753"/>
                </a:solidFill>
                <a:latin typeface="Yu Gothic"/>
              </a:rPr>
              <a:t>野付半島 / 尾岱沼方面</a:t>
            </a:r>
          </a:p>
        </p:txBody>
      </p:sp>
      <p:sp>
        <p:nvSpPr>
          <p:cNvPr id="36" name="TextBox 35"/>
          <p:cNvSpPr txBox="1"/>
          <p:nvPr/>
        </p:nvSpPr>
        <p:spPr>
          <a:xfrm>
            <a:off x="3246120" y="5568696"/>
            <a:ext cx="3063240" cy="310896"/>
          </a:xfrm>
          <a:prstGeom prst="rect">
            <a:avLst/>
          </a:prstGeom>
          <a:noFill/>
        </p:spPr>
        <p:txBody>
          <a:bodyPr wrap="none" lIns="73152" rIns="73152" tIns="36576" bIns="36576">
            <a:spAutoFit/>
          </a:bodyPr>
          <a:lstStyle/>
          <a:p>
            <a:pPr algn="l"/>
            <a:r>
              <a:rPr sz="830" b="0">
                <a:solidFill>
                  <a:srgbClr val="222B34"/>
                </a:solidFill>
                <a:latin typeface="Yu Gothic"/>
              </a:rPr>
              <a:t>海鮮または軽食。混雑時は標津へ戻る</a:t>
            </a:r>
          </a:p>
        </p:txBody>
      </p:sp>
      <p:sp>
        <p:nvSpPr>
          <p:cNvPr id="37" name="TextBox 36"/>
          <p:cNvSpPr txBox="1"/>
          <p:nvPr/>
        </p:nvSpPr>
        <p:spPr>
          <a:xfrm>
            <a:off x="6355080" y="5586984"/>
            <a:ext cx="411480" cy="256032"/>
          </a:xfrm>
          <a:prstGeom prst="rect">
            <a:avLst/>
          </a:prstGeom>
          <a:noFill/>
        </p:spPr>
        <p:txBody>
          <a:bodyPr wrap="none" lIns="73152" rIns="73152" tIns="36576" bIns="36576">
            <a:spAutoFit/>
          </a:bodyPr>
          <a:lstStyle/>
          <a:p>
            <a:pPr algn="r"/>
            <a:r>
              <a:rPr sz="830" b="0">
                <a:solidFill>
                  <a:srgbClr val="66707A"/>
                </a:solidFill>
                <a:latin typeface="Yu Gothic"/>
              </a:rPr>
              <a:t>60分</a:t>
            </a:r>
          </a:p>
        </p:txBody>
      </p:sp>
      <p:sp>
        <p:nvSpPr>
          <p:cNvPr id="38" name="TextBox 37"/>
          <p:cNvSpPr txBox="1"/>
          <p:nvPr/>
        </p:nvSpPr>
        <p:spPr>
          <a:xfrm>
            <a:off x="7150608" y="4251960"/>
            <a:ext cx="4343400" cy="292608"/>
          </a:xfrm>
          <a:prstGeom prst="rect">
            <a:avLst/>
          </a:prstGeom>
          <a:noFill/>
        </p:spPr>
        <p:txBody>
          <a:bodyPr wrap="none" lIns="73152" rIns="73152" tIns="36576" bIns="36576">
            <a:spAutoFit/>
          </a:bodyPr>
          <a:lstStyle/>
          <a:p>
            <a:pPr algn="l"/>
            <a:r>
              <a:rPr sz="1500" b="1">
                <a:solidFill>
                  <a:srgbClr val="143753"/>
                </a:solidFill>
                <a:latin typeface="Yu Gothic"/>
              </a:rPr>
              <a:t>レストラン候補</a:t>
            </a:r>
          </a:p>
        </p:txBody>
      </p:sp>
      <p:sp>
        <p:nvSpPr>
          <p:cNvPr id="39" name="Rounded Rectangle 38"/>
          <p:cNvSpPr/>
          <p:nvPr/>
        </p:nvSpPr>
        <p:spPr>
          <a:xfrm>
            <a:off x="7150608" y="463600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223760" y="4690872"/>
            <a:ext cx="566928" cy="228600"/>
          </a:xfrm>
          <a:prstGeom prst="rect">
            <a:avLst/>
          </a:prstGeom>
          <a:noFill/>
        </p:spPr>
        <p:txBody>
          <a:bodyPr wrap="none" lIns="73152" rIns="73152" tIns="36576" bIns="36576">
            <a:spAutoFit/>
          </a:bodyPr>
          <a:lstStyle/>
          <a:p>
            <a:pPr algn="l"/>
            <a:r>
              <a:rPr sz="850" b="1">
                <a:solidFill>
                  <a:srgbClr val="D86352"/>
                </a:solidFill>
                <a:latin typeface="Yu Gothic"/>
              </a:rPr>
              <a:t>昼食</a:t>
            </a:r>
          </a:p>
        </p:txBody>
      </p:sp>
      <p:sp>
        <p:nvSpPr>
          <p:cNvPr id="41" name="TextBox 40"/>
          <p:cNvSpPr txBox="1"/>
          <p:nvPr/>
        </p:nvSpPr>
        <p:spPr>
          <a:xfrm>
            <a:off x="7790688" y="468172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尾岱沼・標津の海鮮候補</a:t>
            </a:r>
          </a:p>
        </p:txBody>
      </p:sp>
      <p:sp>
        <p:nvSpPr>
          <p:cNvPr id="42" name="TextBox 41"/>
          <p:cNvSpPr txBox="1"/>
          <p:nvPr/>
        </p:nvSpPr>
        <p:spPr>
          <a:xfrm>
            <a:off x="9299448" y="468172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海辺の日らしい第一候補</a:t>
            </a:r>
          </a:p>
        </p:txBody>
      </p:sp>
      <p:sp>
        <p:nvSpPr>
          <p:cNvPr id="43" name="Rounded Rectangle 42"/>
          <p:cNvSpPr/>
          <p:nvPr/>
        </p:nvSpPr>
        <p:spPr>
          <a:xfrm>
            <a:off x="7150608" y="513892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223760" y="5193792"/>
            <a:ext cx="566928" cy="228600"/>
          </a:xfrm>
          <a:prstGeom prst="rect">
            <a:avLst/>
          </a:prstGeom>
          <a:noFill/>
        </p:spPr>
        <p:txBody>
          <a:bodyPr wrap="none" lIns="73152" rIns="73152" tIns="36576" bIns="36576">
            <a:spAutoFit/>
          </a:bodyPr>
          <a:lstStyle/>
          <a:p>
            <a:pPr algn="l"/>
            <a:r>
              <a:rPr sz="850" b="1">
                <a:solidFill>
                  <a:srgbClr val="D86352"/>
                </a:solidFill>
                <a:latin typeface="Yu Gothic"/>
              </a:rPr>
              <a:t>昼食</a:t>
            </a:r>
          </a:p>
        </p:txBody>
      </p:sp>
      <p:sp>
        <p:nvSpPr>
          <p:cNvPr id="45" name="TextBox 44"/>
          <p:cNvSpPr txBox="1"/>
          <p:nvPr/>
        </p:nvSpPr>
        <p:spPr>
          <a:xfrm>
            <a:off x="7790688" y="518464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道の駅・軽食</a:t>
            </a:r>
          </a:p>
        </p:txBody>
      </p:sp>
      <p:sp>
        <p:nvSpPr>
          <p:cNvPr id="46" name="TextBox 45"/>
          <p:cNvSpPr txBox="1"/>
          <p:nvPr/>
        </p:nvSpPr>
        <p:spPr>
          <a:xfrm>
            <a:off x="9299448" y="518464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混雑時のバックアップ</a:t>
            </a:r>
          </a:p>
        </p:txBody>
      </p:sp>
      <p:sp>
        <p:nvSpPr>
          <p:cNvPr id="47" name="Rounded Rectangle 46"/>
          <p:cNvSpPr/>
          <p:nvPr/>
        </p:nvSpPr>
        <p:spPr>
          <a:xfrm>
            <a:off x="7150608" y="564184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223760" y="5696712"/>
            <a:ext cx="566928" cy="228600"/>
          </a:xfrm>
          <a:prstGeom prst="rect">
            <a:avLst/>
          </a:prstGeom>
          <a:noFill/>
        </p:spPr>
        <p:txBody>
          <a:bodyPr wrap="none" lIns="73152" rIns="73152" tIns="36576" bIns="36576">
            <a:spAutoFit/>
          </a:bodyPr>
          <a:lstStyle/>
          <a:p>
            <a:pPr algn="l"/>
            <a:r>
              <a:rPr sz="850" b="1">
                <a:solidFill>
                  <a:srgbClr val="D86352"/>
                </a:solidFill>
                <a:latin typeface="Yu Gothic"/>
              </a:rPr>
              <a:t>夕食</a:t>
            </a:r>
          </a:p>
        </p:txBody>
      </p:sp>
      <p:sp>
        <p:nvSpPr>
          <p:cNvPr id="49" name="TextBox 48"/>
          <p:cNvSpPr txBox="1"/>
          <p:nvPr/>
        </p:nvSpPr>
        <p:spPr>
          <a:xfrm>
            <a:off x="7790688" y="568756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中標津市街のレストラン</a:t>
            </a:r>
          </a:p>
        </p:txBody>
      </p:sp>
      <p:sp>
        <p:nvSpPr>
          <p:cNvPr id="50" name="TextBox 49"/>
          <p:cNvSpPr txBox="1"/>
          <p:nvPr/>
        </p:nvSpPr>
        <p:spPr>
          <a:xfrm>
            <a:off x="9299448" y="568756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戻ってからゆっくり食べる候補</a:t>
            </a:r>
          </a:p>
        </p:txBody>
      </p:sp>
      <p:sp>
        <p:nvSpPr>
          <p:cNvPr id="51" name="Rounded Rectangle 50"/>
          <p:cNvSpPr/>
          <p:nvPr/>
        </p:nvSpPr>
        <p:spPr>
          <a:xfrm>
            <a:off x="7150608" y="614476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223760" y="6199632"/>
            <a:ext cx="566928" cy="228600"/>
          </a:xfrm>
          <a:prstGeom prst="rect">
            <a:avLst/>
          </a:prstGeom>
          <a:noFill/>
        </p:spPr>
        <p:txBody>
          <a:bodyPr wrap="none" lIns="73152" rIns="73152" tIns="36576" bIns="36576">
            <a:spAutoFit/>
          </a:bodyPr>
          <a:lstStyle/>
          <a:p>
            <a:pPr algn="l"/>
            <a:r>
              <a:rPr sz="850" b="1">
                <a:solidFill>
                  <a:srgbClr val="D86352"/>
                </a:solidFill>
                <a:latin typeface="Yu Gothic"/>
              </a:rPr>
              <a:t>夕食</a:t>
            </a:r>
          </a:p>
        </p:txBody>
      </p:sp>
      <p:sp>
        <p:nvSpPr>
          <p:cNvPr id="53" name="TextBox 52"/>
          <p:cNvSpPr txBox="1"/>
          <p:nvPr/>
        </p:nvSpPr>
        <p:spPr>
          <a:xfrm>
            <a:off x="7790688" y="619048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バンガローでキャンプ飯</a:t>
            </a:r>
          </a:p>
        </p:txBody>
      </p:sp>
      <p:sp>
        <p:nvSpPr>
          <p:cNvPr id="54" name="TextBox 53"/>
          <p:cNvSpPr txBox="1"/>
          <p:nvPr/>
        </p:nvSpPr>
        <p:spPr>
          <a:xfrm>
            <a:off x="9299448" y="619048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疲れている場合の安全策</a:t>
            </a:r>
          </a:p>
        </p:txBody>
      </p:sp>
      <p:sp>
        <p:nvSpPr>
          <p:cNvPr id="55" name="TextBox 54"/>
          <p:cNvSpPr txBox="1"/>
          <p:nvPr/>
        </p:nvSpPr>
        <p:spPr>
          <a:xfrm>
            <a:off x="7150608" y="6199632"/>
            <a:ext cx="4206240" cy="228600"/>
          </a:xfrm>
          <a:prstGeom prst="rect">
            <a:avLst/>
          </a:prstGeom>
          <a:noFill/>
        </p:spPr>
        <p:txBody>
          <a:bodyPr wrap="none" lIns="73152" rIns="73152" tIns="36576" bIns="36576">
            <a:spAutoFit/>
          </a:bodyPr>
          <a:lstStyle/>
          <a:p>
            <a:pPr algn="l"/>
            <a:r>
              <a:rPr sz="780" b="0">
                <a:solidFill>
                  <a:srgbClr val="66707A"/>
                </a:solidFill>
                <a:latin typeface="Yu Gothic"/>
              </a:rPr>
              <a:t>MEMO  野付半島は風が強いことがあるので上着を持つ。 / 野生動物や鳥との距離を守り、立入禁止エリアに入らない。</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CFCFA"/>
        </a:solidFill>
        <a:effectLst/>
      </p:bgPr>
    </p:bg>
    <p:spTree>
      <p:nvGrpSpPr>
        <p:cNvPr id="1" name=""/>
        <p:cNvGrpSpPr/>
        <p:nvPr/>
      </p:nvGrpSpPr>
      <p:grpSpPr/>
      <p:sp>
        <p:nvSpPr>
          <p:cNvPr id="2" name="Rounded Rectangle 1"/>
          <p:cNvSpPr/>
          <p:nvPr/>
        </p:nvSpPr>
        <p:spPr>
          <a:xfrm>
            <a:off x="502920" y="320040"/>
            <a:ext cx="1325880" cy="329184"/>
          </a:xfrm>
          <a:prstGeom prst="roundRect">
            <a:avLst/>
          </a:prstGeom>
          <a:solidFill>
            <a:srgbClr val="D863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Yu Gothic"/>
              </a:rPr>
              <a:t>DAY 10</a:t>
            </a:r>
          </a:p>
        </p:txBody>
      </p:sp>
      <p:sp>
        <p:nvSpPr>
          <p:cNvPr id="3" name="TextBox 2"/>
          <p:cNvSpPr txBox="1"/>
          <p:nvPr/>
        </p:nvSpPr>
        <p:spPr>
          <a:xfrm>
            <a:off x="502920" y="713232"/>
            <a:ext cx="6217920" cy="384048"/>
          </a:xfrm>
          <a:prstGeom prst="rect">
            <a:avLst/>
          </a:prstGeom>
          <a:noFill/>
        </p:spPr>
        <p:txBody>
          <a:bodyPr wrap="none" lIns="73152" rIns="73152" tIns="36576" bIns="36576">
            <a:spAutoFit/>
          </a:bodyPr>
          <a:lstStyle/>
          <a:p>
            <a:pPr algn="l"/>
            <a:r>
              <a:rPr sz="2200" b="1">
                <a:solidFill>
                  <a:srgbClr val="143753"/>
                </a:solidFill>
                <a:latin typeface="Yu Gothic"/>
              </a:rPr>
              <a:t>時刻ベース詳細スケジュール</a:t>
            </a:r>
          </a:p>
        </p:txBody>
      </p:sp>
      <p:sp>
        <p:nvSpPr>
          <p:cNvPr id="4" name="Rounded Rectangle 3"/>
          <p:cNvSpPr/>
          <p:nvPr/>
        </p:nvSpPr>
        <p:spPr>
          <a:xfrm>
            <a:off x="502920" y="1325880"/>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1399032"/>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08:00</a:t>
            </a:r>
          </a:p>
        </p:txBody>
      </p:sp>
      <p:sp>
        <p:nvSpPr>
          <p:cNvPr id="6" name="TextBox 5"/>
          <p:cNvSpPr txBox="1"/>
          <p:nvPr/>
        </p:nvSpPr>
        <p:spPr>
          <a:xfrm>
            <a:off x="1417320" y="1399032"/>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朝食</a:t>
            </a:r>
          </a:p>
        </p:txBody>
      </p:sp>
      <p:sp>
        <p:nvSpPr>
          <p:cNvPr id="7" name="TextBox 6"/>
          <p:cNvSpPr txBox="1"/>
          <p:nvPr/>
        </p:nvSpPr>
        <p:spPr>
          <a:xfrm>
            <a:off x="2084831" y="1389888"/>
            <a:ext cx="1234440" cy="274320"/>
          </a:xfrm>
          <a:prstGeom prst="rect">
            <a:avLst/>
          </a:prstGeom>
          <a:noFill/>
        </p:spPr>
        <p:txBody>
          <a:bodyPr wrap="none" lIns="73152" rIns="73152" tIns="36576" bIns="36576">
            <a:spAutoFit/>
          </a:bodyPr>
          <a:lstStyle/>
          <a:p>
            <a:pPr algn="l"/>
            <a:r>
              <a:rPr sz="900" b="1">
                <a:solidFill>
                  <a:srgbClr val="143753"/>
                </a:solidFill>
                <a:latin typeface="Yu Gothic"/>
              </a:rPr>
              <a:t>バンガロー</a:t>
            </a:r>
          </a:p>
        </p:txBody>
      </p:sp>
      <p:sp>
        <p:nvSpPr>
          <p:cNvPr id="8" name="TextBox 7"/>
          <p:cNvSpPr txBox="1"/>
          <p:nvPr/>
        </p:nvSpPr>
        <p:spPr>
          <a:xfrm>
            <a:off x="3246120" y="1380744"/>
            <a:ext cx="3063240" cy="310896"/>
          </a:xfrm>
          <a:prstGeom prst="rect">
            <a:avLst/>
          </a:prstGeom>
          <a:noFill/>
        </p:spPr>
        <p:txBody>
          <a:bodyPr wrap="none" lIns="73152" rIns="73152" tIns="36576" bIns="36576">
            <a:spAutoFit/>
          </a:bodyPr>
          <a:lstStyle/>
          <a:p>
            <a:pPr algn="l"/>
            <a:r>
              <a:rPr sz="830" b="0">
                <a:solidFill>
                  <a:srgbClr val="222B34"/>
                </a:solidFill>
                <a:latin typeface="Yu Gothic"/>
              </a:rPr>
              <a:t>朝食、飲み物準備、双眼鏡や上着を用意</a:t>
            </a:r>
          </a:p>
        </p:txBody>
      </p:sp>
      <p:sp>
        <p:nvSpPr>
          <p:cNvPr id="9" name="TextBox 8"/>
          <p:cNvSpPr txBox="1"/>
          <p:nvPr/>
        </p:nvSpPr>
        <p:spPr>
          <a:xfrm>
            <a:off x="6355080" y="1399032"/>
            <a:ext cx="411480" cy="256032"/>
          </a:xfrm>
          <a:prstGeom prst="rect">
            <a:avLst/>
          </a:prstGeom>
          <a:noFill/>
        </p:spPr>
        <p:txBody>
          <a:bodyPr wrap="none" lIns="73152" rIns="73152" tIns="36576" bIns="36576">
            <a:spAutoFit/>
          </a:bodyPr>
          <a:lstStyle/>
          <a:p>
            <a:pPr algn="r"/>
            <a:r>
              <a:rPr sz="830" b="0">
                <a:solidFill>
                  <a:srgbClr val="66707A"/>
                </a:solidFill>
                <a:latin typeface="Yu Gothic"/>
              </a:rPr>
              <a:t>60分</a:t>
            </a:r>
          </a:p>
        </p:txBody>
      </p:sp>
      <p:sp>
        <p:nvSpPr>
          <p:cNvPr id="10" name="Rounded Rectangle 9"/>
          <p:cNvSpPr/>
          <p:nvPr/>
        </p:nvSpPr>
        <p:spPr>
          <a:xfrm>
            <a:off x="502920" y="1892808"/>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965960"/>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09:15</a:t>
            </a:r>
          </a:p>
        </p:txBody>
      </p:sp>
      <p:sp>
        <p:nvSpPr>
          <p:cNvPr id="12" name="TextBox 11"/>
          <p:cNvSpPr txBox="1"/>
          <p:nvPr/>
        </p:nvSpPr>
        <p:spPr>
          <a:xfrm>
            <a:off x="1417320" y="1965960"/>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移動</a:t>
            </a:r>
          </a:p>
        </p:txBody>
      </p:sp>
      <p:sp>
        <p:nvSpPr>
          <p:cNvPr id="13" name="TextBox 12"/>
          <p:cNvSpPr txBox="1"/>
          <p:nvPr/>
        </p:nvSpPr>
        <p:spPr>
          <a:xfrm>
            <a:off x="2084831" y="1956816"/>
            <a:ext cx="1234440" cy="274320"/>
          </a:xfrm>
          <a:prstGeom prst="rect">
            <a:avLst/>
          </a:prstGeom>
          <a:noFill/>
        </p:spPr>
        <p:txBody>
          <a:bodyPr wrap="none" lIns="73152" rIns="73152" tIns="36576" bIns="36576">
            <a:spAutoFit/>
          </a:bodyPr>
          <a:lstStyle/>
          <a:p>
            <a:pPr algn="l"/>
            <a:r>
              <a:rPr sz="900" b="1">
                <a:solidFill>
                  <a:srgbClr val="143753"/>
                </a:solidFill>
                <a:latin typeface="Yu Gothic"/>
              </a:rPr>
              <a:t>中標津 → 標津</a:t>
            </a:r>
          </a:p>
        </p:txBody>
      </p:sp>
      <p:sp>
        <p:nvSpPr>
          <p:cNvPr id="14" name="TextBox 13"/>
          <p:cNvSpPr txBox="1"/>
          <p:nvPr/>
        </p:nvSpPr>
        <p:spPr>
          <a:xfrm>
            <a:off x="3246120" y="1947672"/>
            <a:ext cx="3063240" cy="310896"/>
          </a:xfrm>
          <a:prstGeom prst="rect">
            <a:avLst/>
          </a:prstGeom>
          <a:noFill/>
        </p:spPr>
        <p:txBody>
          <a:bodyPr wrap="none" lIns="73152" rIns="73152" tIns="36576" bIns="36576">
            <a:spAutoFit/>
          </a:bodyPr>
          <a:lstStyle/>
          <a:p>
            <a:pPr algn="l"/>
            <a:r>
              <a:rPr sz="830" b="0">
                <a:solidFill>
                  <a:srgbClr val="222B34"/>
                </a:solidFill>
                <a:latin typeface="Yu Gothic"/>
              </a:rPr>
              <a:t>海沿い方面へ移動</a:t>
            </a:r>
          </a:p>
        </p:txBody>
      </p:sp>
      <p:sp>
        <p:nvSpPr>
          <p:cNvPr id="15" name="TextBox 14"/>
          <p:cNvSpPr txBox="1"/>
          <p:nvPr/>
        </p:nvSpPr>
        <p:spPr>
          <a:xfrm>
            <a:off x="6355080" y="1965960"/>
            <a:ext cx="411480" cy="256032"/>
          </a:xfrm>
          <a:prstGeom prst="rect">
            <a:avLst/>
          </a:prstGeom>
          <a:noFill/>
        </p:spPr>
        <p:txBody>
          <a:bodyPr wrap="none" lIns="73152" rIns="73152" tIns="36576" bIns="36576">
            <a:spAutoFit/>
          </a:bodyPr>
          <a:lstStyle/>
          <a:p>
            <a:pPr algn="r"/>
            <a:r>
              <a:rPr sz="830" b="0">
                <a:solidFill>
                  <a:srgbClr val="66707A"/>
                </a:solidFill>
                <a:latin typeface="Yu Gothic"/>
              </a:rPr>
              <a:t>約45分</a:t>
            </a:r>
          </a:p>
        </p:txBody>
      </p:sp>
      <p:sp>
        <p:nvSpPr>
          <p:cNvPr id="16" name="Rounded Rectangle 15"/>
          <p:cNvSpPr/>
          <p:nvPr/>
        </p:nvSpPr>
        <p:spPr>
          <a:xfrm>
            <a:off x="502920" y="2459736"/>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792" y="2532888"/>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10:00</a:t>
            </a:r>
          </a:p>
        </p:txBody>
      </p:sp>
      <p:sp>
        <p:nvSpPr>
          <p:cNvPr id="18" name="TextBox 17"/>
          <p:cNvSpPr txBox="1"/>
          <p:nvPr/>
        </p:nvSpPr>
        <p:spPr>
          <a:xfrm>
            <a:off x="1417320" y="2532888"/>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観光</a:t>
            </a:r>
          </a:p>
        </p:txBody>
      </p:sp>
      <p:sp>
        <p:nvSpPr>
          <p:cNvPr id="19" name="TextBox 18"/>
          <p:cNvSpPr txBox="1"/>
          <p:nvPr/>
        </p:nvSpPr>
        <p:spPr>
          <a:xfrm>
            <a:off x="2084831" y="2523744"/>
            <a:ext cx="1234440" cy="274320"/>
          </a:xfrm>
          <a:prstGeom prst="rect">
            <a:avLst/>
          </a:prstGeom>
          <a:noFill/>
        </p:spPr>
        <p:txBody>
          <a:bodyPr wrap="none" lIns="73152" rIns="73152" tIns="36576" bIns="36576">
            <a:spAutoFit/>
          </a:bodyPr>
          <a:lstStyle/>
          <a:p>
            <a:pPr algn="l"/>
            <a:r>
              <a:rPr sz="900" b="1">
                <a:solidFill>
                  <a:srgbClr val="143753"/>
                </a:solidFill>
                <a:latin typeface="Yu Gothic"/>
              </a:rPr>
              <a:t>標津周辺</a:t>
            </a:r>
          </a:p>
        </p:txBody>
      </p:sp>
      <p:sp>
        <p:nvSpPr>
          <p:cNvPr id="20" name="TextBox 19"/>
          <p:cNvSpPr txBox="1"/>
          <p:nvPr/>
        </p:nvSpPr>
        <p:spPr>
          <a:xfrm>
            <a:off x="3246120" y="2514600"/>
            <a:ext cx="3063240" cy="310896"/>
          </a:xfrm>
          <a:prstGeom prst="rect">
            <a:avLst/>
          </a:prstGeom>
          <a:noFill/>
        </p:spPr>
        <p:txBody>
          <a:bodyPr wrap="none" lIns="73152" rIns="73152" tIns="36576" bIns="36576">
            <a:spAutoFit/>
          </a:bodyPr>
          <a:lstStyle/>
          <a:p>
            <a:pPr algn="l"/>
            <a:r>
              <a:rPr sz="830" b="0">
                <a:solidFill>
                  <a:srgbClr val="222B34"/>
                </a:solidFill>
                <a:latin typeface="Yu Gothic"/>
              </a:rPr>
              <a:t>海辺散策、資料館や道の駅候補</a:t>
            </a:r>
          </a:p>
        </p:txBody>
      </p:sp>
      <p:sp>
        <p:nvSpPr>
          <p:cNvPr id="21" name="TextBox 20"/>
          <p:cNvSpPr txBox="1"/>
          <p:nvPr/>
        </p:nvSpPr>
        <p:spPr>
          <a:xfrm>
            <a:off x="6355080" y="2532888"/>
            <a:ext cx="411480" cy="256032"/>
          </a:xfrm>
          <a:prstGeom prst="rect">
            <a:avLst/>
          </a:prstGeom>
          <a:noFill/>
        </p:spPr>
        <p:txBody>
          <a:bodyPr wrap="none" lIns="73152" rIns="73152" tIns="36576" bIns="36576">
            <a:spAutoFit/>
          </a:bodyPr>
          <a:lstStyle/>
          <a:p>
            <a:pPr algn="r"/>
            <a:r>
              <a:rPr sz="830" b="0">
                <a:solidFill>
                  <a:srgbClr val="66707A"/>
                </a:solidFill>
                <a:latin typeface="Yu Gothic"/>
              </a:rPr>
              <a:t>60分</a:t>
            </a:r>
          </a:p>
        </p:txBody>
      </p:sp>
      <p:sp>
        <p:nvSpPr>
          <p:cNvPr id="22" name="Rounded Rectangle 21"/>
          <p:cNvSpPr/>
          <p:nvPr/>
        </p:nvSpPr>
        <p:spPr>
          <a:xfrm>
            <a:off x="502920" y="3026664"/>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1792" y="3099816"/>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11:15</a:t>
            </a:r>
          </a:p>
        </p:txBody>
      </p:sp>
      <p:sp>
        <p:nvSpPr>
          <p:cNvPr id="24" name="TextBox 23"/>
          <p:cNvSpPr txBox="1"/>
          <p:nvPr/>
        </p:nvSpPr>
        <p:spPr>
          <a:xfrm>
            <a:off x="1417320" y="3099816"/>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移動</a:t>
            </a:r>
          </a:p>
        </p:txBody>
      </p:sp>
      <p:sp>
        <p:nvSpPr>
          <p:cNvPr id="25" name="TextBox 24"/>
          <p:cNvSpPr txBox="1"/>
          <p:nvPr/>
        </p:nvSpPr>
        <p:spPr>
          <a:xfrm>
            <a:off x="2084831" y="3090672"/>
            <a:ext cx="1234440" cy="274320"/>
          </a:xfrm>
          <a:prstGeom prst="rect">
            <a:avLst/>
          </a:prstGeom>
          <a:noFill/>
        </p:spPr>
        <p:txBody>
          <a:bodyPr wrap="none" lIns="73152" rIns="73152" tIns="36576" bIns="36576">
            <a:spAutoFit/>
          </a:bodyPr>
          <a:lstStyle/>
          <a:p>
            <a:pPr algn="l"/>
            <a:r>
              <a:rPr sz="900" b="1">
                <a:solidFill>
                  <a:srgbClr val="143753"/>
                </a:solidFill>
                <a:latin typeface="Yu Gothic"/>
              </a:rPr>
              <a:t>標津 → 野付半島</a:t>
            </a:r>
          </a:p>
        </p:txBody>
      </p:sp>
      <p:sp>
        <p:nvSpPr>
          <p:cNvPr id="26" name="TextBox 25"/>
          <p:cNvSpPr txBox="1"/>
          <p:nvPr/>
        </p:nvSpPr>
        <p:spPr>
          <a:xfrm>
            <a:off x="3246120" y="3081528"/>
            <a:ext cx="3063240" cy="310896"/>
          </a:xfrm>
          <a:prstGeom prst="rect">
            <a:avLst/>
          </a:prstGeom>
          <a:noFill/>
        </p:spPr>
        <p:txBody>
          <a:bodyPr wrap="none" lIns="73152" rIns="73152" tIns="36576" bIns="36576">
            <a:spAutoFit/>
          </a:bodyPr>
          <a:lstStyle/>
          <a:p>
            <a:pPr algn="l"/>
            <a:r>
              <a:rPr sz="830" b="0">
                <a:solidFill>
                  <a:srgbClr val="222B34"/>
                </a:solidFill>
                <a:latin typeface="Yu Gothic"/>
              </a:rPr>
              <a:t>半島方面へ移動。景色の良い場所で休憩</a:t>
            </a:r>
          </a:p>
        </p:txBody>
      </p:sp>
      <p:sp>
        <p:nvSpPr>
          <p:cNvPr id="27" name="TextBox 26"/>
          <p:cNvSpPr txBox="1"/>
          <p:nvPr/>
        </p:nvSpPr>
        <p:spPr>
          <a:xfrm>
            <a:off x="6355080" y="3099816"/>
            <a:ext cx="411480" cy="256032"/>
          </a:xfrm>
          <a:prstGeom prst="rect">
            <a:avLst/>
          </a:prstGeom>
          <a:noFill/>
        </p:spPr>
        <p:txBody>
          <a:bodyPr wrap="none" lIns="73152" rIns="73152" tIns="36576" bIns="36576">
            <a:spAutoFit/>
          </a:bodyPr>
          <a:lstStyle/>
          <a:p>
            <a:pPr algn="r"/>
            <a:r>
              <a:rPr sz="830" b="0">
                <a:solidFill>
                  <a:srgbClr val="66707A"/>
                </a:solidFill>
                <a:latin typeface="Yu Gothic"/>
              </a:rPr>
              <a:t>約45分</a:t>
            </a:r>
          </a:p>
        </p:txBody>
      </p:sp>
      <p:sp>
        <p:nvSpPr>
          <p:cNvPr id="28" name="Rounded Rectangle 27"/>
          <p:cNvSpPr/>
          <p:nvPr/>
        </p:nvSpPr>
        <p:spPr>
          <a:xfrm>
            <a:off x="502920" y="3593592"/>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1792" y="3666744"/>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12:15</a:t>
            </a:r>
          </a:p>
        </p:txBody>
      </p:sp>
      <p:sp>
        <p:nvSpPr>
          <p:cNvPr id="30" name="TextBox 29"/>
          <p:cNvSpPr txBox="1"/>
          <p:nvPr/>
        </p:nvSpPr>
        <p:spPr>
          <a:xfrm>
            <a:off x="1417320" y="3666744"/>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昼食</a:t>
            </a:r>
          </a:p>
        </p:txBody>
      </p:sp>
      <p:sp>
        <p:nvSpPr>
          <p:cNvPr id="31" name="TextBox 30"/>
          <p:cNvSpPr txBox="1"/>
          <p:nvPr/>
        </p:nvSpPr>
        <p:spPr>
          <a:xfrm>
            <a:off x="2084831" y="3657600"/>
            <a:ext cx="1234440" cy="274320"/>
          </a:xfrm>
          <a:prstGeom prst="rect">
            <a:avLst/>
          </a:prstGeom>
          <a:noFill/>
        </p:spPr>
        <p:txBody>
          <a:bodyPr wrap="none" lIns="73152" rIns="73152" tIns="36576" bIns="36576">
            <a:spAutoFit/>
          </a:bodyPr>
          <a:lstStyle/>
          <a:p>
            <a:pPr algn="l"/>
            <a:r>
              <a:rPr sz="900" b="1">
                <a:solidFill>
                  <a:srgbClr val="143753"/>
                </a:solidFill>
                <a:latin typeface="Yu Gothic"/>
              </a:rPr>
              <a:t>野付半島 / 尾岱沼方面</a:t>
            </a:r>
          </a:p>
        </p:txBody>
      </p:sp>
      <p:sp>
        <p:nvSpPr>
          <p:cNvPr id="32" name="TextBox 31"/>
          <p:cNvSpPr txBox="1"/>
          <p:nvPr/>
        </p:nvSpPr>
        <p:spPr>
          <a:xfrm>
            <a:off x="3246120" y="3648456"/>
            <a:ext cx="3063240" cy="310896"/>
          </a:xfrm>
          <a:prstGeom prst="rect">
            <a:avLst/>
          </a:prstGeom>
          <a:noFill/>
        </p:spPr>
        <p:txBody>
          <a:bodyPr wrap="none" lIns="73152" rIns="73152" tIns="36576" bIns="36576">
            <a:spAutoFit/>
          </a:bodyPr>
          <a:lstStyle/>
          <a:p>
            <a:pPr algn="l"/>
            <a:r>
              <a:rPr sz="830" b="0">
                <a:solidFill>
                  <a:srgbClr val="222B34"/>
                </a:solidFill>
                <a:latin typeface="Yu Gothic"/>
              </a:rPr>
              <a:t>海鮮または軽食。混雑時は標津へ戻る</a:t>
            </a:r>
          </a:p>
        </p:txBody>
      </p:sp>
      <p:sp>
        <p:nvSpPr>
          <p:cNvPr id="33" name="TextBox 32"/>
          <p:cNvSpPr txBox="1"/>
          <p:nvPr/>
        </p:nvSpPr>
        <p:spPr>
          <a:xfrm>
            <a:off x="6355080" y="3666744"/>
            <a:ext cx="411480" cy="256032"/>
          </a:xfrm>
          <a:prstGeom prst="rect">
            <a:avLst/>
          </a:prstGeom>
          <a:noFill/>
        </p:spPr>
        <p:txBody>
          <a:bodyPr wrap="none" lIns="73152" rIns="73152" tIns="36576" bIns="36576">
            <a:spAutoFit/>
          </a:bodyPr>
          <a:lstStyle/>
          <a:p>
            <a:pPr algn="r"/>
            <a:r>
              <a:rPr sz="830" b="0">
                <a:solidFill>
                  <a:srgbClr val="66707A"/>
                </a:solidFill>
                <a:latin typeface="Yu Gothic"/>
              </a:rPr>
              <a:t>60分</a:t>
            </a:r>
          </a:p>
        </p:txBody>
      </p:sp>
      <p:sp>
        <p:nvSpPr>
          <p:cNvPr id="34" name="Rounded Rectangle 33"/>
          <p:cNvSpPr/>
          <p:nvPr/>
        </p:nvSpPr>
        <p:spPr>
          <a:xfrm>
            <a:off x="502920" y="4160520"/>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1792" y="4233672"/>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13:30</a:t>
            </a:r>
          </a:p>
        </p:txBody>
      </p:sp>
      <p:sp>
        <p:nvSpPr>
          <p:cNvPr id="36" name="TextBox 35"/>
          <p:cNvSpPr txBox="1"/>
          <p:nvPr/>
        </p:nvSpPr>
        <p:spPr>
          <a:xfrm>
            <a:off x="1417320" y="4233672"/>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観光</a:t>
            </a:r>
          </a:p>
        </p:txBody>
      </p:sp>
      <p:sp>
        <p:nvSpPr>
          <p:cNvPr id="37" name="TextBox 36"/>
          <p:cNvSpPr txBox="1"/>
          <p:nvPr/>
        </p:nvSpPr>
        <p:spPr>
          <a:xfrm>
            <a:off x="2084831" y="4224528"/>
            <a:ext cx="1234440" cy="274320"/>
          </a:xfrm>
          <a:prstGeom prst="rect">
            <a:avLst/>
          </a:prstGeom>
          <a:noFill/>
        </p:spPr>
        <p:txBody>
          <a:bodyPr wrap="none" lIns="73152" rIns="73152" tIns="36576" bIns="36576">
            <a:spAutoFit/>
          </a:bodyPr>
          <a:lstStyle/>
          <a:p>
            <a:pPr algn="l"/>
            <a:r>
              <a:rPr sz="900" b="1">
                <a:solidFill>
                  <a:srgbClr val="143753"/>
                </a:solidFill>
                <a:latin typeface="Yu Gothic"/>
              </a:rPr>
              <a:t>野付半島ネイチャーセンター周辺</a:t>
            </a:r>
          </a:p>
        </p:txBody>
      </p:sp>
      <p:sp>
        <p:nvSpPr>
          <p:cNvPr id="38" name="TextBox 37"/>
          <p:cNvSpPr txBox="1"/>
          <p:nvPr/>
        </p:nvSpPr>
        <p:spPr>
          <a:xfrm>
            <a:off x="3246120" y="4215384"/>
            <a:ext cx="3063240" cy="310896"/>
          </a:xfrm>
          <a:prstGeom prst="rect">
            <a:avLst/>
          </a:prstGeom>
          <a:noFill/>
        </p:spPr>
        <p:txBody>
          <a:bodyPr wrap="none" lIns="73152" rIns="73152" tIns="36576" bIns="36576">
            <a:spAutoFit/>
          </a:bodyPr>
          <a:lstStyle/>
          <a:p>
            <a:pPr algn="l"/>
            <a:r>
              <a:rPr sz="830" b="0">
                <a:solidFill>
                  <a:srgbClr val="222B34"/>
                </a:solidFill>
                <a:latin typeface="Yu Gothic"/>
              </a:rPr>
              <a:t>トドワラ、野鳥、湿原風景を短時間散策</a:t>
            </a:r>
          </a:p>
        </p:txBody>
      </p:sp>
      <p:sp>
        <p:nvSpPr>
          <p:cNvPr id="39" name="TextBox 38"/>
          <p:cNvSpPr txBox="1"/>
          <p:nvPr/>
        </p:nvSpPr>
        <p:spPr>
          <a:xfrm>
            <a:off x="6355080" y="4233672"/>
            <a:ext cx="411480" cy="256032"/>
          </a:xfrm>
          <a:prstGeom prst="rect">
            <a:avLst/>
          </a:prstGeom>
          <a:noFill/>
        </p:spPr>
        <p:txBody>
          <a:bodyPr wrap="none" lIns="73152" rIns="73152" tIns="36576" bIns="36576">
            <a:spAutoFit/>
          </a:bodyPr>
          <a:lstStyle/>
          <a:p>
            <a:pPr algn="r"/>
            <a:r>
              <a:rPr sz="830" b="0">
                <a:solidFill>
                  <a:srgbClr val="66707A"/>
                </a:solidFill>
                <a:latin typeface="Yu Gothic"/>
              </a:rPr>
              <a:t>120分</a:t>
            </a:r>
          </a:p>
        </p:txBody>
      </p:sp>
      <p:sp>
        <p:nvSpPr>
          <p:cNvPr id="40" name="Rounded Rectangle 39"/>
          <p:cNvSpPr/>
          <p:nvPr/>
        </p:nvSpPr>
        <p:spPr>
          <a:xfrm>
            <a:off x="502920" y="4727448"/>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21792" y="4800600"/>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15:45</a:t>
            </a:r>
          </a:p>
        </p:txBody>
      </p:sp>
      <p:sp>
        <p:nvSpPr>
          <p:cNvPr id="42" name="TextBox 41"/>
          <p:cNvSpPr txBox="1"/>
          <p:nvPr/>
        </p:nvSpPr>
        <p:spPr>
          <a:xfrm>
            <a:off x="1417320" y="4800600"/>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移動</a:t>
            </a:r>
          </a:p>
        </p:txBody>
      </p:sp>
      <p:sp>
        <p:nvSpPr>
          <p:cNvPr id="43" name="TextBox 42"/>
          <p:cNvSpPr txBox="1"/>
          <p:nvPr/>
        </p:nvSpPr>
        <p:spPr>
          <a:xfrm>
            <a:off x="2084831" y="4791456"/>
            <a:ext cx="1234440" cy="274320"/>
          </a:xfrm>
          <a:prstGeom prst="rect">
            <a:avLst/>
          </a:prstGeom>
          <a:noFill/>
        </p:spPr>
        <p:txBody>
          <a:bodyPr wrap="none" lIns="73152" rIns="73152" tIns="36576" bIns="36576">
            <a:spAutoFit/>
          </a:bodyPr>
          <a:lstStyle/>
          <a:p>
            <a:pPr algn="l"/>
            <a:r>
              <a:rPr sz="900" b="1">
                <a:solidFill>
                  <a:srgbClr val="143753"/>
                </a:solidFill>
                <a:latin typeface="Yu Gothic"/>
              </a:rPr>
              <a:t>野付半島 → 中標津</a:t>
            </a:r>
          </a:p>
        </p:txBody>
      </p:sp>
      <p:sp>
        <p:nvSpPr>
          <p:cNvPr id="44" name="TextBox 43"/>
          <p:cNvSpPr txBox="1"/>
          <p:nvPr/>
        </p:nvSpPr>
        <p:spPr>
          <a:xfrm>
            <a:off x="3246120" y="4782312"/>
            <a:ext cx="3063240" cy="310896"/>
          </a:xfrm>
          <a:prstGeom prst="rect">
            <a:avLst/>
          </a:prstGeom>
          <a:noFill/>
        </p:spPr>
        <p:txBody>
          <a:bodyPr wrap="none" lIns="73152" rIns="73152" tIns="36576" bIns="36576">
            <a:spAutoFit/>
          </a:bodyPr>
          <a:lstStyle/>
          <a:p>
            <a:pPr algn="l"/>
            <a:r>
              <a:rPr sz="830" b="0">
                <a:solidFill>
                  <a:srgbClr val="222B34"/>
                </a:solidFill>
                <a:latin typeface="Yu Gothic"/>
              </a:rPr>
              <a:t>バンガローへ戻る</a:t>
            </a:r>
          </a:p>
        </p:txBody>
      </p:sp>
      <p:sp>
        <p:nvSpPr>
          <p:cNvPr id="45" name="TextBox 44"/>
          <p:cNvSpPr txBox="1"/>
          <p:nvPr/>
        </p:nvSpPr>
        <p:spPr>
          <a:xfrm>
            <a:off x="6355080" y="4800600"/>
            <a:ext cx="411480" cy="256032"/>
          </a:xfrm>
          <a:prstGeom prst="rect">
            <a:avLst/>
          </a:prstGeom>
          <a:noFill/>
        </p:spPr>
        <p:txBody>
          <a:bodyPr wrap="none" lIns="73152" rIns="73152" tIns="36576" bIns="36576">
            <a:spAutoFit/>
          </a:bodyPr>
          <a:lstStyle/>
          <a:p>
            <a:pPr algn="r"/>
            <a:r>
              <a:rPr sz="830" b="0">
                <a:solidFill>
                  <a:srgbClr val="66707A"/>
                </a:solidFill>
                <a:latin typeface="Yu Gothic"/>
              </a:rPr>
              <a:t>約90分</a:t>
            </a:r>
          </a:p>
        </p:txBody>
      </p:sp>
      <p:sp>
        <p:nvSpPr>
          <p:cNvPr id="46" name="Rounded Rectangle 45"/>
          <p:cNvSpPr/>
          <p:nvPr/>
        </p:nvSpPr>
        <p:spPr>
          <a:xfrm>
            <a:off x="502920" y="5294376"/>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21792" y="5367528"/>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17:30</a:t>
            </a:r>
          </a:p>
        </p:txBody>
      </p:sp>
      <p:sp>
        <p:nvSpPr>
          <p:cNvPr id="48" name="TextBox 47"/>
          <p:cNvSpPr txBox="1"/>
          <p:nvPr/>
        </p:nvSpPr>
        <p:spPr>
          <a:xfrm>
            <a:off x="1417320" y="5367528"/>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休憩</a:t>
            </a:r>
          </a:p>
        </p:txBody>
      </p:sp>
      <p:sp>
        <p:nvSpPr>
          <p:cNvPr id="49" name="TextBox 48"/>
          <p:cNvSpPr txBox="1"/>
          <p:nvPr/>
        </p:nvSpPr>
        <p:spPr>
          <a:xfrm>
            <a:off x="2084831" y="5358384"/>
            <a:ext cx="1234440" cy="274320"/>
          </a:xfrm>
          <a:prstGeom prst="rect">
            <a:avLst/>
          </a:prstGeom>
          <a:noFill/>
        </p:spPr>
        <p:txBody>
          <a:bodyPr wrap="none" lIns="73152" rIns="73152" tIns="36576" bIns="36576">
            <a:spAutoFit/>
          </a:bodyPr>
          <a:lstStyle/>
          <a:p>
            <a:pPr algn="l"/>
            <a:r>
              <a:rPr sz="900" b="1">
                <a:solidFill>
                  <a:srgbClr val="143753"/>
                </a:solidFill>
                <a:latin typeface="Yu Gothic"/>
              </a:rPr>
              <a:t>バンガロー</a:t>
            </a:r>
          </a:p>
        </p:txBody>
      </p:sp>
      <p:sp>
        <p:nvSpPr>
          <p:cNvPr id="50" name="TextBox 49"/>
          <p:cNvSpPr txBox="1"/>
          <p:nvPr/>
        </p:nvSpPr>
        <p:spPr>
          <a:xfrm>
            <a:off x="3246120" y="5349240"/>
            <a:ext cx="3063240" cy="310896"/>
          </a:xfrm>
          <a:prstGeom prst="rect">
            <a:avLst/>
          </a:prstGeom>
          <a:noFill/>
        </p:spPr>
        <p:txBody>
          <a:bodyPr wrap="none" lIns="73152" rIns="73152" tIns="36576" bIns="36576">
            <a:spAutoFit/>
          </a:bodyPr>
          <a:lstStyle/>
          <a:p>
            <a:pPr algn="l"/>
            <a:r>
              <a:rPr sz="830" b="0">
                <a:solidFill>
                  <a:srgbClr val="222B34"/>
                </a:solidFill>
                <a:latin typeface="Yu Gothic"/>
              </a:rPr>
              <a:t>休憩、洗濯、翌日の天気確認</a:t>
            </a:r>
          </a:p>
        </p:txBody>
      </p:sp>
      <p:sp>
        <p:nvSpPr>
          <p:cNvPr id="51" name="TextBox 50"/>
          <p:cNvSpPr txBox="1"/>
          <p:nvPr/>
        </p:nvSpPr>
        <p:spPr>
          <a:xfrm>
            <a:off x="6355080" y="5367528"/>
            <a:ext cx="411480" cy="256032"/>
          </a:xfrm>
          <a:prstGeom prst="rect">
            <a:avLst/>
          </a:prstGeom>
          <a:noFill/>
        </p:spPr>
        <p:txBody>
          <a:bodyPr wrap="none" lIns="73152" rIns="73152" tIns="36576" bIns="36576">
            <a:spAutoFit/>
          </a:bodyPr>
          <a:lstStyle/>
          <a:p>
            <a:pPr algn="r"/>
            <a:r>
              <a:rPr sz="830" b="0">
                <a:solidFill>
                  <a:srgbClr val="66707A"/>
                </a:solidFill>
                <a:latin typeface="Yu Gothic"/>
              </a:rPr>
              <a:t>60分</a:t>
            </a:r>
          </a:p>
        </p:txBody>
      </p:sp>
      <p:sp>
        <p:nvSpPr>
          <p:cNvPr id="52" name="Rounded Rectangle 51"/>
          <p:cNvSpPr/>
          <p:nvPr/>
        </p:nvSpPr>
        <p:spPr>
          <a:xfrm>
            <a:off x="502920" y="5861304"/>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1792" y="5934456"/>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18:45</a:t>
            </a:r>
          </a:p>
        </p:txBody>
      </p:sp>
      <p:sp>
        <p:nvSpPr>
          <p:cNvPr id="54" name="TextBox 53"/>
          <p:cNvSpPr txBox="1"/>
          <p:nvPr/>
        </p:nvSpPr>
        <p:spPr>
          <a:xfrm>
            <a:off x="1417320" y="5934456"/>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夕食</a:t>
            </a:r>
          </a:p>
        </p:txBody>
      </p:sp>
      <p:sp>
        <p:nvSpPr>
          <p:cNvPr id="55" name="TextBox 54"/>
          <p:cNvSpPr txBox="1"/>
          <p:nvPr/>
        </p:nvSpPr>
        <p:spPr>
          <a:xfrm>
            <a:off x="2084831" y="5925312"/>
            <a:ext cx="1234440" cy="274320"/>
          </a:xfrm>
          <a:prstGeom prst="rect">
            <a:avLst/>
          </a:prstGeom>
          <a:noFill/>
        </p:spPr>
        <p:txBody>
          <a:bodyPr wrap="none" lIns="73152" rIns="73152" tIns="36576" bIns="36576">
            <a:spAutoFit/>
          </a:bodyPr>
          <a:lstStyle/>
          <a:p>
            <a:pPr algn="l"/>
            <a:r>
              <a:rPr sz="900" b="1">
                <a:solidFill>
                  <a:srgbClr val="143753"/>
                </a:solidFill>
                <a:latin typeface="Yu Gothic"/>
              </a:rPr>
              <a:t>中標津市街 / キャンプ場</a:t>
            </a:r>
          </a:p>
        </p:txBody>
      </p:sp>
      <p:sp>
        <p:nvSpPr>
          <p:cNvPr id="56" name="TextBox 55"/>
          <p:cNvSpPr txBox="1"/>
          <p:nvPr/>
        </p:nvSpPr>
        <p:spPr>
          <a:xfrm>
            <a:off x="3246120" y="5916168"/>
            <a:ext cx="3063240" cy="310896"/>
          </a:xfrm>
          <a:prstGeom prst="rect">
            <a:avLst/>
          </a:prstGeom>
          <a:noFill/>
        </p:spPr>
        <p:txBody>
          <a:bodyPr wrap="none" lIns="73152" rIns="73152" tIns="36576" bIns="36576">
            <a:spAutoFit/>
          </a:bodyPr>
          <a:lstStyle/>
          <a:p>
            <a:pPr algn="l"/>
            <a:r>
              <a:rPr sz="830" b="0">
                <a:solidFill>
                  <a:srgbClr val="222B34"/>
                </a:solidFill>
                <a:latin typeface="Yu Gothic"/>
              </a:rPr>
              <a:t>外食またはキャンプ飯</a:t>
            </a:r>
          </a:p>
        </p:txBody>
      </p:sp>
      <p:sp>
        <p:nvSpPr>
          <p:cNvPr id="57" name="TextBox 56"/>
          <p:cNvSpPr txBox="1"/>
          <p:nvPr/>
        </p:nvSpPr>
        <p:spPr>
          <a:xfrm>
            <a:off x="6355080" y="5934456"/>
            <a:ext cx="411480" cy="256032"/>
          </a:xfrm>
          <a:prstGeom prst="rect">
            <a:avLst/>
          </a:prstGeom>
          <a:noFill/>
        </p:spPr>
        <p:txBody>
          <a:bodyPr wrap="none" lIns="73152" rIns="73152" tIns="36576" bIns="36576">
            <a:spAutoFit/>
          </a:bodyPr>
          <a:lstStyle/>
          <a:p>
            <a:pPr algn="r"/>
            <a:r>
              <a:rPr sz="830" b="0">
                <a:solidFill>
                  <a:srgbClr val="66707A"/>
                </a:solidFill>
                <a:latin typeface="Yu Gothic"/>
              </a:rPr>
              <a:t>90分</a:t>
            </a:r>
          </a:p>
        </p:txBody>
      </p:sp>
      <p:pic>
        <p:nvPicPr>
          <p:cNvPr id="58" name="Picture 57" descr="2026-08-09_野付半島.png"/>
          <p:cNvPicPr>
            <a:picLocks noChangeAspect="1"/>
          </p:cNvPicPr>
          <p:nvPr/>
        </p:nvPicPr>
        <p:blipFill>
          <a:blip r:embed="rId2"/>
          <a:stretch>
            <a:fillRect/>
          </a:stretch>
        </p:blipFill>
        <p:spPr>
          <a:xfrm>
            <a:off x="7360920" y="502920"/>
            <a:ext cx="4160520" cy="2331720"/>
          </a:xfrm>
          <a:prstGeom prst="rect">
            <a:avLst/>
          </a:prstGeom>
        </p:spPr>
      </p:pic>
      <p:sp>
        <p:nvSpPr>
          <p:cNvPr id="59" name="TextBox 58"/>
          <p:cNvSpPr txBox="1"/>
          <p:nvPr/>
        </p:nvSpPr>
        <p:spPr>
          <a:xfrm>
            <a:off x="7360920" y="3063240"/>
            <a:ext cx="4343400" cy="292608"/>
          </a:xfrm>
          <a:prstGeom prst="rect">
            <a:avLst/>
          </a:prstGeom>
          <a:noFill/>
        </p:spPr>
        <p:txBody>
          <a:bodyPr wrap="none" lIns="73152" rIns="73152" tIns="36576" bIns="36576">
            <a:spAutoFit/>
          </a:bodyPr>
          <a:lstStyle/>
          <a:p>
            <a:pPr algn="l"/>
            <a:r>
              <a:rPr sz="1500" b="1">
                <a:solidFill>
                  <a:srgbClr val="143753"/>
                </a:solidFill>
                <a:latin typeface="Yu Gothic"/>
              </a:rPr>
              <a:t>レストラン候補</a:t>
            </a:r>
          </a:p>
        </p:txBody>
      </p:sp>
      <p:sp>
        <p:nvSpPr>
          <p:cNvPr id="60" name="Rounded Rectangle 59"/>
          <p:cNvSpPr/>
          <p:nvPr/>
        </p:nvSpPr>
        <p:spPr>
          <a:xfrm>
            <a:off x="7360920" y="344728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434072" y="3502152"/>
            <a:ext cx="566928" cy="228600"/>
          </a:xfrm>
          <a:prstGeom prst="rect">
            <a:avLst/>
          </a:prstGeom>
          <a:noFill/>
        </p:spPr>
        <p:txBody>
          <a:bodyPr wrap="none" lIns="73152" rIns="73152" tIns="36576" bIns="36576">
            <a:spAutoFit/>
          </a:bodyPr>
          <a:lstStyle/>
          <a:p>
            <a:pPr algn="l"/>
            <a:r>
              <a:rPr sz="850" b="1">
                <a:solidFill>
                  <a:srgbClr val="D86352"/>
                </a:solidFill>
                <a:latin typeface="Yu Gothic"/>
              </a:rPr>
              <a:t>昼食</a:t>
            </a:r>
          </a:p>
        </p:txBody>
      </p:sp>
      <p:sp>
        <p:nvSpPr>
          <p:cNvPr id="62" name="TextBox 61"/>
          <p:cNvSpPr txBox="1"/>
          <p:nvPr/>
        </p:nvSpPr>
        <p:spPr>
          <a:xfrm>
            <a:off x="8001000" y="349300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尾岱沼・標津の海鮮候補</a:t>
            </a:r>
          </a:p>
        </p:txBody>
      </p:sp>
      <p:sp>
        <p:nvSpPr>
          <p:cNvPr id="63" name="TextBox 62"/>
          <p:cNvSpPr txBox="1"/>
          <p:nvPr/>
        </p:nvSpPr>
        <p:spPr>
          <a:xfrm>
            <a:off x="9509760" y="349300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海辺の日らしい第一候補</a:t>
            </a:r>
          </a:p>
        </p:txBody>
      </p:sp>
      <p:sp>
        <p:nvSpPr>
          <p:cNvPr id="64" name="Rounded Rectangle 63"/>
          <p:cNvSpPr/>
          <p:nvPr/>
        </p:nvSpPr>
        <p:spPr>
          <a:xfrm>
            <a:off x="7360920" y="395020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434072" y="4005072"/>
            <a:ext cx="566928" cy="228600"/>
          </a:xfrm>
          <a:prstGeom prst="rect">
            <a:avLst/>
          </a:prstGeom>
          <a:noFill/>
        </p:spPr>
        <p:txBody>
          <a:bodyPr wrap="none" lIns="73152" rIns="73152" tIns="36576" bIns="36576">
            <a:spAutoFit/>
          </a:bodyPr>
          <a:lstStyle/>
          <a:p>
            <a:pPr algn="l"/>
            <a:r>
              <a:rPr sz="850" b="1">
                <a:solidFill>
                  <a:srgbClr val="D86352"/>
                </a:solidFill>
                <a:latin typeface="Yu Gothic"/>
              </a:rPr>
              <a:t>昼食</a:t>
            </a:r>
          </a:p>
        </p:txBody>
      </p:sp>
      <p:sp>
        <p:nvSpPr>
          <p:cNvPr id="66" name="TextBox 65"/>
          <p:cNvSpPr txBox="1"/>
          <p:nvPr/>
        </p:nvSpPr>
        <p:spPr>
          <a:xfrm>
            <a:off x="8001000" y="399592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道の駅・軽食</a:t>
            </a:r>
          </a:p>
        </p:txBody>
      </p:sp>
      <p:sp>
        <p:nvSpPr>
          <p:cNvPr id="67" name="TextBox 66"/>
          <p:cNvSpPr txBox="1"/>
          <p:nvPr/>
        </p:nvSpPr>
        <p:spPr>
          <a:xfrm>
            <a:off x="9509760" y="399592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混雑時のバックアップ</a:t>
            </a:r>
          </a:p>
        </p:txBody>
      </p:sp>
      <p:sp>
        <p:nvSpPr>
          <p:cNvPr id="68" name="Rounded Rectangle 67"/>
          <p:cNvSpPr/>
          <p:nvPr/>
        </p:nvSpPr>
        <p:spPr>
          <a:xfrm>
            <a:off x="7360920" y="445312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434072" y="4507992"/>
            <a:ext cx="566928" cy="228600"/>
          </a:xfrm>
          <a:prstGeom prst="rect">
            <a:avLst/>
          </a:prstGeom>
          <a:noFill/>
        </p:spPr>
        <p:txBody>
          <a:bodyPr wrap="none" lIns="73152" rIns="73152" tIns="36576" bIns="36576">
            <a:spAutoFit/>
          </a:bodyPr>
          <a:lstStyle/>
          <a:p>
            <a:pPr algn="l"/>
            <a:r>
              <a:rPr sz="850" b="1">
                <a:solidFill>
                  <a:srgbClr val="D86352"/>
                </a:solidFill>
                <a:latin typeface="Yu Gothic"/>
              </a:rPr>
              <a:t>夕食</a:t>
            </a:r>
          </a:p>
        </p:txBody>
      </p:sp>
      <p:sp>
        <p:nvSpPr>
          <p:cNvPr id="70" name="TextBox 69"/>
          <p:cNvSpPr txBox="1"/>
          <p:nvPr/>
        </p:nvSpPr>
        <p:spPr>
          <a:xfrm>
            <a:off x="8001000" y="449884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中標津市街のレストラン</a:t>
            </a:r>
          </a:p>
        </p:txBody>
      </p:sp>
      <p:sp>
        <p:nvSpPr>
          <p:cNvPr id="71" name="TextBox 70"/>
          <p:cNvSpPr txBox="1"/>
          <p:nvPr/>
        </p:nvSpPr>
        <p:spPr>
          <a:xfrm>
            <a:off x="9509760" y="449884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戻ってからゆっくり食べる候補</a:t>
            </a:r>
          </a:p>
        </p:txBody>
      </p:sp>
      <p:sp>
        <p:nvSpPr>
          <p:cNvPr id="72" name="Rounded Rectangle 71"/>
          <p:cNvSpPr/>
          <p:nvPr/>
        </p:nvSpPr>
        <p:spPr>
          <a:xfrm>
            <a:off x="7360920" y="495604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434072" y="5010912"/>
            <a:ext cx="566928" cy="228600"/>
          </a:xfrm>
          <a:prstGeom prst="rect">
            <a:avLst/>
          </a:prstGeom>
          <a:noFill/>
        </p:spPr>
        <p:txBody>
          <a:bodyPr wrap="none" lIns="73152" rIns="73152" tIns="36576" bIns="36576">
            <a:spAutoFit/>
          </a:bodyPr>
          <a:lstStyle/>
          <a:p>
            <a:pPr algn="l"/>
            <a:r>
              <a:rPr sz="850" b="1">
                <a:solidFill>
                  <a:srgbClr val="D86352"/>
                </a:solidFill>
                <a:latin typeface="Yu Gothic"/>
              </a:rPr>
              <a:t>夕食</a:t>
            </a:r>
          </a:p>
        </p:txBody>
      </p:sp>
      <p:sp>
        <p:nvSpPr>
          <p:cNvPr id="74" name="TextBox 73"/>
          <p:cNvSpPr txBox="1"/>
          <p:nvPr/>
        </p:nvSpPr>
        <p:spPr>
          <a:xfrm>
            <a:off x="8001000" y="500176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バンガローでキャンプ飯</a:t>
            </a:r>
          </a:p>
        </p:txBody>
      </p:sp>
      <p:sp>
        <p:nvSpPr>
          <p:cNvPr id="75" name="TextBox 74"/>
          <p:cNvSpPr txBox="1"/>
          <p:nvPr/>
        </p:nvSpPr>
        <p:spPr>
          <a:xfrm>
            <a:off x="9509760" y="500176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疲れている場合の安全策</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2026-08-10_釧路湿原.png"/>
          <p:cNvPicPr>
            <a:picLocks noChangeAspect="1"/>
          </p:cNvPicPr>
          <p:nvPr/>
        </p:nvPicPr>
        <p:blipFill>
          <a:blip r:embed="rId2"/>
          <a:stretch>
            <a:fillRect/>
          </a:stretch>
        </p:blipFill>
        <p:spPr>
          <a:xfrm>
            <a:off x="7059168" y="0"/>
            <a:ext cx="5129784" cy="3886200"/>
          </a:xfrm>
          <a:prstGeom prst="rect">
            <a:avLst/>
          </a:prstGeom>
        </p:spPr>
      </p:pic>
      <p:sp>
        <p:nvSpPr>
          <p:cNvPr id="3" name="Rounded Rectangle 2"/>
          <p:cNvSpPr/>
          <p:nvPr/>
        </p:nvSpPr>
        <p:spPr>
          <a:xfrm>
            <a:off x="502920" y="347472"/>
            <a:ext cx="1325880" cy="329184"/>
          </a:xfrm>
          <a:prstGeom prst="roundRect">
            <a:avLst/>
          </a:prstGeom>
          <a:solidFill>
            <a:srgbClr val="D863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Yu Gothic"/>
              </a:rPr>
              <a:t>DAY 11</a:t>
            </a:r>
          </a:p>
        </p:txBody>
      </p:sp>
      <p:sp>
        <p:nvSpPr>
          <p:cNvPr id="4" name="TextBox 3"/>
          <p:cNvSpPr txBox="1"/>
          <p:nvPr/>
        </p:nvSpPr>
        <p:spPr>
          <a:xfrm>
            <a:off x="502920" y="749808"/>
            <a:ext cx="6126480" cy="548640"/>
          </a:xfrm>
          <a:prstGeom prst="rect">
            <a:avLst/>
          </a:prstGeom>
          <a:noFill/>
        </p:spPr>
        <p:txBody>
          <a:bodyPr wrap="none" lIns="73152" rIns="73152" tIns="36576" bIns="36576">
            <a:spAutoFit/>
          </a:bodyPr>
          <a:lstStyle/>
          <a:p>
            <a:pPr algn="l"/>
            <a:r>
              <a:rPr sz="2200" b="1">
                <a:solidFill>
                  <a:srgbClr val="143753"/>
                </a:solidFill>
                <a:latin typeface="Yu Gothic"/>
              </a:rPr>
              <a:t>2026-08-10  釧路湿原・達古武を狙う予備日</a:t>
            </a:r>
          </a:p>
        </p:txBody>
      </p:sp>
      <p:sp>
        <p:nvSpPr>
          <p:cNvPr id="5" name="TextBox 4"/>
          <p:cNvSpPr txBox="1"/>
          <p:nvPr/>
        </p:nvSpPr>
        <p:spPr>
          <a:xfrm>
            <a:off x="530352" y="1234440"/>
            <a:ext cx="5989320" cy="384048"/>
          </a:xfrm>
          <a:prstGeom prst="rect">
            <a:avLst/>
          </a:prstGeom>
          <a:noFill/>
        </p:spPr>
        <p:txBody>
          <a:bodyPr wrap="none" lIns="73152" rIns="73152" tIns="36576" bIns="36576">
            <a:spAutoFit/>
          </a:bodyPr>
          <a:lstStyle/>
          <a:p>
            <a:pPr algn="l"/>
            <a:r>
              <a:rPr sz="1300" b="1">
                <a:solidFill>
                  <a:srgbClr val="2C73A0"/>
                </a:solidFill>
                <a:latin typeface="Yu Gothic"/>
              </a:rPr>
              <a:t>中標津 / 釧路湿原 / 達古武</a:t>
            </a:r>
          </a:p>
        </p:txBody>
      </p:sp>
      <p:sp>
        <p:nvSpPr>
          <p:cNvPr id="6" name="TextBox 5"/>
          <p:cNvSpPr txBox="1"/>
          <p:nvPr/>
        </p:nvSpPr>
        <p:spPr>
          <a:xfrm>
            <a:off x="530352" y="1719072"/>
            <a:ext cx="6080760" cy="896112"/>
          </a:xfrm>
          <a:prstGeom prst="rect">
            <a:avLst/>
          </a:prstGeom>
          <a:noFill/>
        </p:spPr>
        <p:txBody>
          <a:bodyPr wrap="none" lIns="73152" rIns="73152" tIns="36576" bIns="36576">
            <a:spAutoFit/>
          </a:bodyPr>
          <a:lstStyle/>
          <a:p>
            <a:pPr algn="l"/>
            <a:r>
              <a:rPr sz="1230" b="0">
                <a:solidFill>
                  <a:srgbClr val="222B34"/>
                </a:solidFill>
                <a:latin typeface="Yu Gothic"/>
              </a:rPr>
              <a:t>中標津滞在の最終日。達古武オートキャンプ場や釧路湿原方面の予約・天候が合えば、釧路側へ足を伸ばします。予約が取れない場合は中標津周辺で休養と自然観光に切り替えます。</a:t>
            </a:r>
          </a:p>
        </p:txBody>
      </p:sp>
      <p:sp>
        <p:nvSpPr>
          <p:cNvPr id="7" name="TextBox 6"/>
          <p:cNvSpPr txBox="1"/>
          <p:nvPr/>
        </p:nvSpPr>
        <p:spPr>
          <a:xfrm>
            <a:off x="530352" y="2852928"/>
            <a:ext cx="6126480" cy="292608"/>
          </a:xfrm>
          <a:prstGeom prst="rect">
            <a:avLst/>
          </a:prstGeom>
          <a:noFill/>
        </p:spPr>
        <p:txBody>
          <a:bodyPr wrap="none" lIns="73152" rIns="73152" tIns="36576" bIns="36576">
            <a:spAutoFit/>
          </a:bodyPr>
          <a:lstStyle/>
          <a:p>
            <a:pPr algn="l"/>
            <a:r>
              <a:rPr sz="1500" b="1">
                <a:solidFill>
                  <a:srgbClr val="143753"/>
                </a:solidFill>
                <a:latin typeface="Yu Gothic"/>
              </a:rPr>
              <a:t>この日の流れ</a:t>
            </a:r>
          </a:p>
        </p:txBody>
      </p:sp>
      <p:sp>
        <p:nvSpPr>
          <p:cNvPr id="8" name="Rounded Rectangle 7"/>
          <p:cNvSpPr/>
          <p:nvPr/>
        </p:nvSpPr>
        <p:spPr>
          <a:xfrm>
            <a:off x="502920" y="3246120"/>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3319272"/>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08:00</a:t>
            </a:r>
          </a:p>
        </p:txBody>
      </p:sp>
      <p:sp>
        <p:nvSpPr>
          <p:cNvPr id="10" name="TextBox 9"/>
          <p:cNvSpPr txBox="1"/>
          <p:nvPr/>
        </p:nvSpPr>
        <p:spPr>
          <a:xfrm>
            <a:off x="1417320" y="3319272"/>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朝食</a:t>
            </a:r>
          </a:p>
        </p:txBody>
      </p:sp>
      <p:sp>
        <p:nvSpPr>
          <p:cNvPr id="11" name="TextBox 10"/>
          <p:cNvSpPr txBox="1"/>
          <p:nvPr/>
        </p:nvSpPr>
        <p:spPr>
          <a:xfrm>
            <a:off x="2084831" y="3310128"/>
            <a:ext cx="1234440" cy="274320"/>
          </a:xfrm>
          <a:prstGeom prst="rect">
            <a:avLst/>
          </a:prstGeom>
          <a:noFill/>
        </p:spPr>
        <p:txBody>
          <a:bodyPr wrap="none" lIns="73152" rIns="73152" tIns="36576" bIns="36576">
            <a:spAutoFit/>
          </a:bodyPr>
          <a:lstStyle/>
          <a:p>
            <a:pPr algn="l"/>
            <a:r>
              <a:rPr sz="900" b="1">
                <a:solidFill>
                  <a:srgbClr val="143753"/>
                </a:solidFill>
                <a:latin typeface="Yu Gothic"/>
              </a:rPr>
              <a:t>バンガロー</a:t>
            </a:r>
          </a:p>
        </p:txBody>
      </p:sp>
      <p:sp>
        <p:nvSpPr>
          <p:cNvPr id="12" name="TextBox 11"/>
          <p:cNvSpPr txBox="1"/>
          <p:nvPr/>
        </p:nvSpPr>
        <p:spPr>
          <a:xfrm>
            <a:off x="3246120" y="3300984"/>
            <a:ext cx="3063240" cy="310896"/>
          </a:xfrm>
          <a:prstGeom prst="rect">
            <a:avLst/>
          </a:prstGeom>
          <a:noFill/>
        </p:spPr>
        <p:txBody>
          <a:bodyPr wrap="none" lIns="73152" rIns="73152" tIns="36576" bIns="36576">
            <a:spAutoFit/>
          </a:bodyPr>
          <a:lstStyle/>
          <a:p>
            <a:pPr algn="l"/>
            <a:r>
              <a:rPr sz="830" b="0">
                <a:solidFill>
                  <a:srgbClr val="222B34"/>
                </a:solidFill>
                <a:latin typeface="Yu Gothic"/>
              </a:rPr>
              <a:t>朝食、釧路方面の天気と予約状況を確認</a:t>
            </a:r>
          </a:p>
        </p:txBody>
      </p:sp>
      <p:sp>
        <p:nvSpPr>
          <p:cNvPr id="13" name="TextBox 12"/>
          <p:cNvSpPr txBox="1"/>
          <p:nvPr/>
        </p:nvSpPr>
        <p:spPr>
          <a:xfrm>
            <a:off x="6355080" y="3319272"/>
            <a:ext cx="411480" cy="256032"/>
          </a:xfrm>
          <a:prstGeom prst="rect">
            <a:avLst/>
          </a:prstGeom>
          <a:noFill/>
        </p:spPr>
        <p:txBody>
          <a:bodyPr wrap="none" lIns="73152" rIns="73152" tIns="36576" bIns="36576">
            <a:spAutoFit/>
          </a:bodyPr>
          <a:lstStyle/>
          <a:p>
            <a:pPr algn="r"/>
            <a:r>
              <a:rPr sz="830" b="0">
                <a:solidFill>
                  <a:srgbClr val="66707A"/>
                </a:solidFill>
                <a:latin typeface="Yu Gothic"/>
              </a:rPr>
              <a:t>60分</a:t>
            </a:r>
          </a:p>
        </p:txBody>
      </p:sp>
      <p:sp>
        <p:nvSpPr>
          <p:cNvPr id="14" name="Rounded Rectangle 13"/>
          <p:cNvSpPr/>
          <p:nvPr/>
        </p:nvSpPr>
        <p:spPr>
          <a:xfrm>
            <a:off x="502920" y="3813048"/>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 y="3886200"/>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09:15</a:t>
            </a:r>
          </a:p>
        </p:txBody>
      </p:sp>
      <p:sp>
        <p:nvSpPr>
          <p:cNvPr id="16" name="TextBox 15"/>
          <p:cNvSpPr txBox="1"/>
          <p:nvPr/>
        </p:nvSpPr>
        <p:spPr>
          <a:xfrm>
            <a:off x="1417320" y="3886200"/>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移動</a:t>
            </a:r>
          </a:p>
        </p:txBody>
      </p:sp>
      <p:sp>
        <p:nvSpPr>
          <p:cNvPr id="17" name="TextBox 16"/>
          <p:cNvSpPr txBox="1"/>
          <p:nvPr/>
        </p:nvSpPr>
        <p:spPr>
          <a:xfrm>
            <a:off x="2084831" y="3877056"/>
            <a:ext cx="1234440" cy="274320"/>
          </a:xfrm>
          <a:prstGeom prst="rect">
            <a:avLst/>
          </a:prstGeom>
          <a:noFill/>
        </p:spPr>
        <p:txBody>
          <a:bodyPr wrap="none" lIns="73152" rIns="73152" tIns="36576" bIns="36576">
            <a:spAutoFit/>
          </a:bodyPr>
          <a:lstStyle/>
          <a:p>
            <a:pPr algn="l"/>
            <a:r>
              <a:rPr sz="900" b="1">
                <a:solidFill>
                  <a:srgbClr val="143753"/>
                </a:solidFill>
                <a:latin typeface="Yu Gothic"/>
              </a:rPr>
              <a:t>中標津 → 釧路湿原方面</a:t>
            </a:r>
          </a:p>
        </p:txBody>
      </p:sp>
      <p:sp>
        <p:nvSpPr>
          <p:cNvPr id="18" name="TextBox 17"/>
          <p:cNvSpPr txBox="1"/>
          <p:nvPr/>
        </p:nvSpPr>
        <p:spPr>
          <a:xfrm>
            <a:off x="3246120" y="3867912"/>
            <a:ext cx="3063240" cy="310896"/>
          </a:xfrm>
          <a:prstGeom prst="rect">
            <a:avLst/>
          </a:prstGeom>
          <a:noFill/>
        </p:spPr>
        <p:txBody>
          <a:bodyPr wrap="none" lIns="73152" rIns="73152" tIns="36576" bIns="36576">
            <a:spAutoFit/>
          </a:bodyPr>
          <a:lstStyle/>
          <a:p>
            <a:pPr algn="l"/>
            <a:r>
              <a:rPr sz="830" b="0">
                <a:solidFill>
                  <a:srgbClr val="222B34"/>
                </a:solidFill>
                <a:latin typeface="Yu Gothic"/>
              </a:rPr>
              <a:t>釧路湿原・達古武方面へ移動</a:t>
            </a:r>
          </a:p>
        </p:txBody>
      </p:sp>
      <p:sp>
        <p:nvSpPr>
          <p:cNvPr id="19" name="TextBox 18"/>
          <p:cNvSpPr txBox="1"/>
          <p:nvPr/>
        </p:nvSpPr>
        <p:spPr>
          <a:xfrm>
            <a:off x="6355080" y="3886200"/>
            <a:ext cx="411480" cy="256032"/>
          </a:xfrm>
          <a:prstGeom prst="rect">
            <a:avLst/>
          </a:prstGeom>
          <a:noFill/>
        </p:spPr>
        <p:txBody>
          <a:bodyPr wrap="none" lIns="73152" rIns="73152" tIns="36576" bIns="36576">
            <a:spAutoFit/>
          </a:bodyPr>
          <a:lstStyle/>
          <a:p>
            <a:pPr algn="r"/>
            <a:r>
              <a:rPr sz="830" b="0">
                <a:solidFill>
                  <a:srgbClr val="66707A"/>
                </a:solidFill>
                <a:latin typeface="Yu Gothic"/>
              </a:rPr>
              <a:t>約2時間</a:t>
            </a:r>
          </a:p>
        </p:txBody>
      </p:sp>
      <p:sp>
        <p:nvSpPr>
          <p:cNvPr id="20" name="Rounded Rectangle 19"/>
          <p:cNvSpPr/>
          <p:nvPr/>
        </p:nvSpPr>
        <p:spPr>
          <a:xfrm>
            <a:off x="502920" y="4379976"/>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1792" y="4453128"/>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11:15</a:t>
            </a:r>
          </a:p>
        </p:txBody>
      </p:sp>
      <p:sp>
        <p:nvSpPr>
          <p:cNvPr id="22" name="TextBox 21"/>
          <p:cNvSpPr txBox="1"/>
          <p:nvPr/>
        </p:nvSpPr>
        <p:spPr>
          <a:xfrm>
            <a:off x="1417320" y="4453128"/>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観光</a:t>
            </a:r>
          </a:p>
        </p:txBody>
      </p:sp>
      <p:sp>
        <p:nvSpPr>
          <p:cNvPr id="23" name="TextBox 22"/>
          <p:cNvSpPr txBox="1"/>
          <p:nvPr/>
        </p:nvSpPr>
        <p:spPr>
          <a:xfrm>
            <a:off x="2084831" y="4443984"/>
            <a:ext cx="1234440" cy="274320"/>
          </a:xfrm>
          <a:prstGeom prst="rect">
            <a:avLst/>
          </a:prstGeom>
          <a:noFill/>
        </p:spPr>
        <p:txBody>
          <a:bodyPr wrap="none" lIns="73152" rIns="73152" tIns="36576" bIns="36576">
            <a:spAutoFit/>
          </a:bodyPr>
          <a:lstStyle/>
          <a:p>
            <a:pPr algn="l"/>
            <a:r>
              <a:rPr sz="900" b="1">
                <a:solidFill>
                  <a:srgbClr val="143753"/>
                </a:solidFill>
                <a:latin typeface="Yu Gothic"/>
              </a:rPr>
              <a:t>達古武湖 / 釧路湿原</a:t>
            </a:r>
          </a:p>
        </p:txBody>
      </p:sp>
      <p:sp>
        <p:nvSpPr>
          <p:cNvPr id="24" name="TextBox 23"/>
          <p:cNvSpPr txBox="1"/>
          <p:nvPr/>
        </p:nvSpPr>
        <p:spPr>
          <a:xfrm>
            <a:off x="3246120" y="4434840"/>
            <a:ext cx="3063240" cy="310896"/>
          </a:xfrm>
          <a:prstGeom prst="rect">
            <a:avLst/>
          </a:prstGeom>
          <a:noFill/>
        </p:spPr>
        <p:txBody>
          <a:bodyPr wrap="none" lIns="73152" rIns="73152" tIns="36576" bIns="36576">
            <a:spAutoFit/>
          </a:bodyPr>
          <a:lstStyle/>
          <a:p>
            <a:pPr algn="l"/>
            <a:r>
              <a:rPr sz="830" b="0">
                <a:solidFill>
                  <a:srgbClr val="222B34"/>
                </a:solidFill>
                <a:latin typeface="Yu Gothic"/>
              </a:rPr>
              <a:t>湖畔、展望、短時間散策。予約があれば下見</a:t>
            </a:r>
          </a:p>
        </p:txBody>
      </p:sp>
      <p:sp>
        <p:nvSpPr>
          <p:cNvPr id="25" name="TextBox 24"/>
          <p:cNvSpPr txBox="1"/>
          <p:nvPr/>
        </p:nvSpPr>
        <p:spPr>
          <a:xfrm>
            <a:off x="6355080" y="4453128"/>
            <a:ext cx="411480" cy="256032"/>
          </a:xfrm>
          <a:prstGeom prst="rect">
            <a:avLst/>
          </a:prstGeom>
          <a:noFill/>
        </p:spPr>
        <p:txBody>
          <a:bodyPr wrap="none" lIns="73152" rIns="73152" tIns="36576" bIns="36576">
            <a:spAutoFit/>
          </a:bodyPr>
          <a:lstStyle/>
          <a:p>
            <a:pPr algn="r"/>
            <a:r>
              <a:rPr sz="830" b="0">
                <a:solidFill>
                  <a:srgbClr val="66707A"/>
                </a:solidFill>
                <a:latin typeface="Yu Gothic"/>
              </a:rPr>
              <a:t>90分</a:t>
            </a:r>
          </a:p>
        </p:txBody>
      </p:sp>
      <p:sp>
        <p:nvSpPr>
          <p:cNvPr id="26" name="Rounded Rectangle 25"/>
          <p:cNvSpPr/>
          <p:nvPr/>
        </p:nvSpPr>
        <p:spPr>
          <a:xfrm>
            <a:off x="502920" y="4946904"/>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1792" y="5020056"/>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12:45</a:t>
            </a:r>
          </a:p>
        </p:txBody>
      </p:sp>
      <p:sp>
        <p:nvSpPr>
          <p:cNvPr id="28" name="TextBox 27"/>
          <p:cNvSpPr txBox="1"/>
          <p:nvPr/>
        </p:nvSpPr>
        <p:spPr>
          <a:xfrm>
            <a:off x="1417320" y="5020056"/>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昼食</a:t>
            </a:r>
          </a:p>
        </p:txBody>
      </p:sp>
      <p:sp>
        <p:nvSpPr>
          <p:cNvPr id="29" name="TextBox 28"/>
          <p:cNvSpPr txBox="1"/>
          <p:nvPr/>
        </p:nvSpPr>
        <p:spPr>
          <a:xfrm>
            <a:off x="2084831" y="5010912"/>
            <a:ext cx="1234440" cy="274320"/>
          </a:xfrm>
          <a:prstGeom prst="rect">
            <a:avLst/>
          </a:prstGeom>
          <a:noFill/>
        </p:spPr>
        <p:txBody>
          <a:bodyPr wrap="none" lIns="73152" rIns="73152" tIns="36576" bIns="36576">
            <a:spAutoFit/>
          </a:bodyPr>
          <a:lstStyle/>
          <a:p>
            <a:pPr algn="l"/>
            <a:r>
              <a:rPr sz="900" b="1">
                <a:solidFill>
                  <a:srgbClr val="143753"/>
                </a:solidFill>
                <a:latin typeface="Yu Gothic"/>
              </a:rPr>
              <a:t>釧路町 / 釧路市内</a:t>
            </a:r>
          </a:p>
        </p:txBody>
      </p:sp>
      <p:sp>
        <p:nvSpPr>
          <p:cNvPr id="30" name="TextBox 29"/>
          <p:cNvSpPr txBox="1"/>
          <p:nvPr/>
        </p:nvSpPr>
        <p:spPr>
          <a:xfrm>
            <a:off x="3246120" y="5001768"/>
            <a:ext cx="3063240" cy="310896"/>
          </a:xfrm>
          <a:prstGeom prst="rect">
            <a:avLst/>
          </a:prstGeom>
          <a:noFill/>
        </p:spPr>
        <p:txBody>
          <a:bodyPr wrap="none" lIns="73152" rIns="73152" tIns="36576" bIns="36576">
            <a:spAutoFit/>
          </a:bodyPr>
          <a:lstStyle/>
          <a:p>
            <a:pPr algn="l"/>
            <a:r>
              <a:rPr sz="830" b="0">
                <a:solidFill>
                  <a:srgbClr val="222B34"/>
                </a:solidFill>
                <a:latin typeface="Yu Gothic"/>
              </a:rPr>
              <a:t>海鮮、定食、または道の駅系で昼食</a:t>
            </a:r>
          </a:p>
        </p:txBody>
      </p:sp>
      <p:sp>
        <p:nvSpPr>
          <p:cNvPr id="31" name="TextBox 30"/>
          <p:cNvSpPr txBox="1"/>
          <p:nvPr/>
        </p:nvSpPr>
        <p:spPr>
          <a:xfrm>
            <a:off x="6355080" y="5020056"/>
            <a:ext cx="411480" cy="256032"/>
          </a:xfrm>
          <a:prstGeom prst="rect">
            <a:avLst/>
          </a:prstGeom>
          <a:noFill/>
        </p:spPr>
        <p:txBody>
          <a:bodyPr wrap="none" lIns="73152" rIns="73152" tIns="36576" bIns="36576">
            <a:spAutoFit/>
          </a:bodyPr>
          <a:lstStyle/>
          <a:p>
            <a:pPr algn="r"/>
            <a:r>
              <a:rPr sz="830" b="0">
                <a:solidFill>
                  <a:srgbClr val="66707A"/>
                </a:solidFill>
                <a:latin typeface="Yu Gothic"/>
              </a:rPr>
              <a:t>60分</a:t>
            </a:r>
          </a:p>
        </p:txBody>
      </p:sp>
      <p:sp>
        <p:nvSpPr>
          <p:cNvPr id="32" name="Rounded Rectangle 31"/>
          <p:cNvSpPr/>
          <p:nvPr/>
        </p:nvSpPr>
        <p:spPr>
          <a:xfrm>
            <a:off x="502920" y="5513832"/>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1792" y="5586984"/>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14:00</a:t>
            </a:r>
          </a:p>
        </p:txBody>
      </p:sp>
      <p:sp>
        <p:nvSpPr>
          <p:cNvPr id="34" name="TextBox 33"/>
          <p:cNvSpPr txBox="1"/>
          <p:nvPr/>
        </p:nvSpPr>
        <p:spPr>
          <a:xfrm>
            <a:off x="1417320" y="5586984"/>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観光</a:t>
            </a:r>
          </a:p>
        </p:txBody>
      </p:sp>
      <p:sp>
        <p:nvSpPr>
          <p:cNvPr id="35" name="TextBox 34"/>
          <p:cNvSpPr txBox="1"/>
          <p:nvPr/>
        </p:nvSpPr>
        <p:spPr>
          <a:xfrm>
            <a:off x="2084831" y="5577840"/>
            <a:ext cx="1234440" cy="274320"/>
          </a:xfrm>
          <a:prstGeom prst="rect">
            <a:avLst/>
          </a:prstGeom>
          <a:noFill/>
        </p:spPr>
        <p:txBody>
          <a:bodyPr wrap="none" lIns="73152" rIns="73152" tIns="36576" bIns="36576">
            <a:spAutoFit/>
          </a:bodyPr>
          <a:lstStyle/>
          <a:p>
            <a:pPr algn="l"/>
            <a:r>
              <a:rPr sz="900" b="1">
                <a:solidFill>
                  <a:srgbClr val="143753"/>
                </a:solidFill>
                <a:latin typeface="Yu Gothic"/>
              </a:rPr>
              <a:t>細岡展望台候補</a:t>
            </a:r>
          </a:p>
        </p:txBody>
      </p:sp>
      <p:sp>
        <p:nvSpPr>
          <p:cNvPr id="36" name="TextBox 35"/>
          <p:cNvSpPr txBox="1"/>
          <p:nvPr/>
        </p:nvSpPr>
        <p:spPr>
          <a:xfrm>
            <a:off x="3246120" y="5568696"/>
            <a:ext cx="3063240" cy="310896"/>
          </a:xfrm>
          <a:prstGeom prst="rect">
            <a:avLst/>
          </a:prstGeom>
          <a:noFill/>
        </p:spPr>
        <p:txBody>
          <a:bodyPr wrap="none" lIns="73152" rIns="73152" tIns="36576" bIns="36576">
            <a:spAutoFit/>
          </a:bodyPr>
          <a:lstStyle/>
          <a:p>
            <a:pPr algn="l"/>
            <a:r>
              <a:rPr sz="830" b="0">
                <a:solidFill>
                  <a:srgbClr val="222B34"/>
                </a:solidFill>
                <a:latin typeface="Yu Gothic"/>
              </a:rPr>
              <a:t>湿原を見渡す展望スポット。天気優先</a:t>
            </a:r>
          </a:p>
        </p:txBody>
      </p:sp>
      <p:sp>
        <p:nvSpPr>
          <p:cNvPr id="37" name="TextBox 36"/>
          <p:cNvSpPr txBox="1"/>
          <p:nvPr/>
        </p:nvSpPr>
        <p:spPr>
          <a:xfrm>
            <a:off x="6355080" y="5586984"/>
            <a:ext cx="411480" cy="256032"/>
          </a:xfrm>
          <a:prstGeom prst="rect">
            <a:avLst/>
          </a:prstGeom>
          <a:noFill/>
        </p:spPr>
        <p:txBody>
          <a:bodyPr wrap="none" lIns="73152" rIns="73152" tIns="36576" bIns="36576">
            <a:spAutoFit/>
          </a:bodyPr>
          <a:lstStyle/>
          <a:p>
            <a:pPr algn="r"/>
            <a:r>
              <a:rPr sz="830" b="0">
                <a:solidFill>
                  <a:srgbClr val="66707A"/>
                </a:solidFill>
                <a:latin typeface="Yu Gothic"/>
              </a:rPr>
              <a:t>75分</a:t>
            </a:r>
          </a:p>
        </p:txBody>
      </p:sp>
      <p:sp>
        <p:nvSpPr>
          <p:cNvPr id="38" name="TextBox 37"/>
          <p:cNvSpPr txBox="1"/>
          <p:nvPr/>
        </p:nvSpPr>
        <p:spPr>
          <a:xfrm>
            <a:off x="7150608" y="4251960"/>
            <a:ext cx="4343400" cy="292608"/>
          </a:xfrm>
          <a:prstGeom prst="rect">
            <a:avLst/>
          </a:prstGeom>
          <a:noFill/>
        </p:spPr>
        <p:txBody>
          <a:bodyPr wrap="none" lIns="73152" rIns="73152" tIns="36576" bIns="36576">
            <a:spAutoFit/>
          </a:bodyPr>
          <a:lstStyle/>
          <a:p>
            <a:pPr algn="l"/>
            <a:r>
              <a:rPr sz="1500" b="1">
                <a:solidFill>
                  <a:srgbClr val="143753"/>
                </a:solidFill>
                <a:latin typeface="Yu Gothic"/>
              </a:rPr>
              <a:t>レストラン候補</a:t>
            </a:r>
          </a:p>
        </p:txBody>
      </p:sp>
      <p:sp>
        <p:nvSpPr>
          <p:cNvPr id="39" name="Rounded Rectangle 38"/>
          <p:cNvSpPr/>
          <p:nvPr/>
        </p:nvSpPr>
        <p:spPr>
          <a:xfrm>
            <a:off x="7150608" y="463600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223760" y="4690872"/>
            <a:ext cx="566928" cy="228600"/>
          </a:xfrm>
          <a:prstGeom prst="rect">
            <a:avLst/>
          </a:prstGeom>
          <a:noFill/>
        </p:spPr>
        <p:txBody>
          <a:bodyPr wrap="none" lIns="73152" rIns="73152" tIns="36576" bIns="36576">
            <a:spAutoFit/>
          </a:bodyPr>
          <a:lstStyle/>
          <a:p>
            <a:pPr algn="l"/>
            <a:r>
              <a:rPr sz="850" b="1">
                <a:solidFill>
                  <a:srgbClr val="D86352"/>
                </a:solidFill>
                <a:latin typeface="Yu Gothic"/>
              </a:rPr>
              <a:t>昼食</a:t>
            </a:r>
          </a:p>
        </p:txBody>
      </p:sp>
      <p:sp>
        <p:nvSpPr>
          <p:cNvPr id="41" name="TextBox 40"/>
          <p:cNvSpPr txBox="1"/>
          <p:nvPr/>
        </p:nvSpPr>
        <p:spPr>
          <a:xfrm>
            <a:off x="7790688" y="468172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釧路市内の海鮮・炉端候補</a:t>
            </a:r>
          </a:p>
        </p:txBody>
      </p:sp>
      <p:sp>
        <p:nvSpPr>
          <p:cNvPr id="42" name="TextBox 41"/>
          <p:cNvSpPr txBox="1"/>
          <p:nvPr/>
        </p:nvSpPr>
        <p:spPr>
          <a:xfrm>
            <a:off x="9299448" y="468172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湿原方面へ行けた場合の候補</a:t>
            </a:r>
          </a:p>
        </p:txBody>
      </p:sp>
      <p:sp>
        <p:nvSpPr>
          <p:cNvPr id="43" name="Rounded Rectangle 42"/>
          <p:cNvSpPr/>
          <p:nvPr/>
        </p:nvSpPr>
        <p:spPr>
          <a:xfrm>
            <a:off x="7150608" y="513892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223760" y="5193792"/>
            <a:ext cx="566928" cy="228600"/>
          </a:xfrm>
          <a:prstGeom prst="rect">
            <a:avLst/>
          </a:prstGeom>
          <a:noFill/>
        </p:spPr>
        <p:txBody>
          <a:bodyPr wrap="none" lIns="73152" rIns="73152" tIns="36576" bIns="36576">
            <a:spAutoFit/>
          </a:bodyPr>
          <a:lstStyle/>
          <a:p>
            <a:pPr algn="l"/>
            <a:r>
              <a:rPr sz="850" b="1">
                <a:solidFill>
                  <a:srgbClr val="D86352"/>
                </a:solidFill>
                <a:latin typeface="Yu Gothic"/>
              </a:rPr>
              <a:t>昼食</a:t>
            </a:r>
          </a:p>
        </p:txBody>
      </p:sp>
      <p:sp>
        <p:nvSpPr>
          <p:cNvPr id="45" name="TextBox 44"/>
          <p:cNvSpPr txBox="1"/>
          <p:nvPr/>
        </p:nvSpPr>
        <p:spPr>
          <a:xfrm>
            <a:off x="7790688" y="518464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道の駅・軽食</a:t>
            </a:r>
          </a:p>
        </p:txBody>
      </p:sp>
      <p:sp>
        <p:nvSpPr>
          <p:cNvPr id="46" name="TextBox 45"/>
          <p:cNvSpPr txBox="1"/>
          <p:nvPr/>
        </p:nvSpPr>
        <p:spPr>
          <a:xfrm>
            <a:off x="9299448" y="518464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移動優先のバックアップ</a:t>
            </a:r>
          </a:p>
        </p:txBody>
      </p:sp>
      <p:sp>
        <p:nvSpPr>
          <p:cNvPr id="47" name="Rounded Rectangle 46"/>
          <p:cNvSpPr/>
          <p:nvPr/>
        </p:nvSpPr>
        <p:spPr>
          <a:xfrm>
            <a:off x="7150608" y="564184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223760" y="5696712"/>
            <a:ext cx="566928" cy="228600"/>
          </a:xfrm>
          <a:prstGeom prst="rect">
            <a:avLst/>
          </a:prstGeom>
          <a:noFill/>
        </p:spPr>
        <p:txBody>
          <a:bodyPr wrap="none" lIns="73152" rIns="73152" tIns="36576" bIns="36576">
            <a:spAutoFit/>
          </a:bodyPr>
          <a:lstStyle/>
          <a:p>
            <a:pPr algn="l"/>
            <a:r>
              <a:rPr sz="850" b="1">
                <a:solidFill>
                  <a:srgbClr val="D86352"/>
                </a:solidFill>
                <a:latin typeface="Yu Gothic"/>
              </a:rPr>
              <a:t>夕食</a:t>
            </a:r>
          </a:p>
        </p:txBody>
      </p:sp>
      <p:sp>
        <p:nvSpPr>
          <p:cNvPr id="49" name="TextBox 48"/>
          <p:cNvSpPr txBox="1"/>
          <p:nvPr/>
        </p:nvSpPr>
        <p:spPr>
          <a:xfrm>
            <a:off x="7790688" y="568756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中標津市街の定食店</a:t>
            </a:r>
          </a:p>
        </p:txBody>
      </p:sp>
      <p:sp>
        <p:nvSpPr>
          <p:cNvPr id="50" name="TextBox 49"/>
          <p:cNvSpPr txBox="1"/>
          <p:nvPr/>
        </p:nvSpPr>
        <p:spPr>
          <a:xfrm>
            <a:off x="9299448" y="568756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翌日の移動に備えて早めに</a:t>
            </a:r>
          </a:p>
        </p:txBody>
      </p:sp>
      <p:sp>
        <p:nvSpPr>
          <p:cNvPr id="51" name="Rounded Rectangle 50"/>
          <p:cNvSpPr/>
          <p:nvPr/>
        </p:nvSpPr>
        <p:spPr>
          <a:xfrm>
            <a:off x="7150608" y="614476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223760" y="6199632"/>
            <a:ext cx="566928" cy="228600"/>
          </a:xfrm>
          <a:prstGeom prst="rect">
            <a:avLst/>
          </a:prstGeom>
          <a:noFill/>
        </p:spPr>
        <p:txBody>
          <a:bodyPr wrap="none" lIns="73152" rIns="73152" tIns="36576" bIns="36576">
            <a:spAutoFit/>
          </a:bodyPr>
          <a:lstStyle/>
          <a:p>
            <a:pPr algn="l"/>
            <a:r>
              <a:rPr sz="850" b="1">
                <a:solidFill>
                  <a:srgbClr val="D86352"/>
                </a:solidFill>
                <a:latin typeface="Yu Gothic"/>
              </a:rPr>
              <a:t>予備</a:t>
            </a:r>
          </a:p>
        </p:txBody>
      </p:sp>
      <p:sp>
        <p:nvSpPr>
          <p:cNvPr id="53" name="TextBox 52"/>
          <p:cNvSpPr txBox="1"/>
          <p:nvPr/>
        </p:nvSpPr>
        <p:spPr>
          <a:xfrm>
            <a:off x="7790688" y="619048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バンガローで簡単調理</a:t>
            </a:r>
          </a:p>
        </p:txBody>
      </p:sp>
      <p:sp>
        <p:nvSpPr>
          <p:cNvPr id="54" name="TextBox 53"/>
          <p:cNvSpPr txBox="1"/>
          <p:nvPr/>
        </p:nvSpPr>
        <p:spPr>
          <a:xfrm>
            <a:off x="9299448" y="619048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疲れた場合の安全策</a:t>
            </a:r>
          </a:p>
        </p:txBody>
      </p:sp>
      <p:sp>
        <p:nvSpPr>
          <p:cNvPr id="55" name="TextBox 54"/>
          <p:cNvSpPr txBox="1"/>
          <p:nvPr/>
        </p:nvSpPr>
        <p:spPr>
          <a:xfrm>
            <a:off x="7150608" y="6199632"/>
            <a:ext cx="4206240" cy="228600"/>
          </a:xfrm>
          <a:prstGeom prst="rect">
            <a:avLst/>
          </a:prstGeom>
          <a:noFill/>
        </p:spPr>
        <p:txBody>
          <a:bodyPr wrap="none" lIns="73152" rIns="73152" tIns="36576" bIns="36576">
            <a:spAutoFit/>
          </a:bodyPr>
          <a:lstStyle/>
          <a:p>
            <a:pPr algn="l"/>
            <a:r>
              <a:rPr sz="780" b="0">
                <a:solidFill>
                  <a:srgbClr val="66707A"/>
                </a:solidFill>
                <a:latin typeface="Yu Gothic"/>
              </a:rPr>
              <a:t>MEMO  達古武はWEB予約制、利用日の1か月前から。8/10狙いは7/10に再トライ。 / 釧路方面に行く場合も、翌日の帯広移動を考えて早めに戻る。</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CFCFA"/>
        </a:solidFill>
        <a:effectLst/>
      </p:bgPr>
    </p:bg>
    <p:spTree>
      <p:nvGrpSpPr>
        <p:cNvPr id="1" name=""/>
        <p:cNvGrpSpPr/>
        <p:nvPr/>
      </p:nvGrpSpPr>
      <p:grpSpPr/>
      <p:sp>
        <p:nvSpPr>
          <p:cNvPr id="2" name="Rounded Rectangle 1"/>
          <p:cNvSpPr/>
          <p:nvPr/>
        </p:nvSpPr>
        <p:spPr>
          <a:xfrm>
            <a:off x="502920" y="320040"/>
            <a:ext cx="1325880" cy="329184"/>
          </a:xfrm>
          <a:prstGeom prst="roundRect">
            <a:avLst/>
          </a:prstGeom>
          <a:solidFill>
            <a:srgbClr val="D863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Yu Gothic"/>
              </a:rPr>
              <a:t>DAY 11</a:t>
            </a:r>
          </a:p>
        </p:txBody>
      </p:sp>
      <p:sp>
        <p:nvSpPr>
          <p:cNvPr id="3" name="TextBox 2"/>
          <p:cNvSpPr txBox="1"/>
          <p:nvPr/>
        </p:nvSpPr>
        <p:spPr>
          <a:xfrm>
            <a:off x="502920" y="713232"/>
            <a:ext cx="6217920" cy="384048"/>
          </a:xfrm>
          <a:prstGeom prst="rect">
            <a:avLst/>
          </a:prstGeom>
          <a:noFill/>
        </p:spPr>
        <p:txBody>
          <a:bodyPr wrap="none" lIns="73152" rIns="73152" tIns="36576" bIns="36576">
            <a:spAutoFit/>
          </a:bodyPr>
          <a:lstStyle/>
          <a:p>
            <a:pPr algn="l"/>
            <a:r>
              <a:rPr sz="2200" b="1">
                <a:solidFill>
                  <a:srgbClr val="143753"/>
                </a:solidFill>
                <a:latin typeface="Yu Gothic"/>
              </a:rPr>
              <a:t>時刻ベース詳細スケジュール</a:t>
            </a:r>
          </a:p>
        </p:txBody>
      </p:sp>
      <p:sp>
        <p:nvSpPr>
          <p:cNvPr id="4" name="Rounded Rectangle 3"/>
          <p:cNvSpPr/>
          <p:nvPr/>
        </p:nvSpPr>
        <p:spPr>
          <a:xfrm>
            <a:off x="502920" y="1325880"/>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1399032"/>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08:00</a:t>
            </a:r>
          </a:p>
        </p:txBody>
      </p:sp>
      <p:sp>
        <p:nvSpPr>
          <p:cNvPr id="6" name="TextBox 5"/>
          <p:cNvSpPr txBox="1"/>
          <p:nvPr/>
        </p:nvSpPr>
        <p:spPr>
          <a:xfrm>
            <a:off x="1417320" y="1399032"/>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朝食</a:t>
            </a:r>
          </a:p>
        </p:txBody>
      </p:sp>
      <p:sp>
        <p:nvSpPr>
          <p:cNvPr id="7" name="TextBox 6"/>
          <p:cNvSpPr txBox="1"/>
          <p:nvPr/>
        </p:nvSpPr>
        <p:spPr>
          <a:xfrm>
            <a:off x="2084831" y="1389888"/>
            <a:ext cx="1234440" cy="274320"/>
          </a:xfrm>
          <a:prstGeom prst="rect">
            <a:avLst/>
          </a:prstGeom>
          <a:noFill/>
        </p:spPr>
        <p:txBody>
          <a:bodyPr wrap="none" lIns="73152" rIns="73152" tIns="36576" bIns="36576">
            <a:spAutoFit/>
          </a:bodyPr>
          <a:lstStyle/>
          <a:p>
            <a:pPr algn="l"/>
            <a:r>
              <a:rPr sz="900" b="1">
                <a:solidFill>
                  <a:srgbClr val="143753"/>
                </a:solidFill>
                <a:latin typeface="Yu Gothic"/>
              </a:rPr>
              <a:t>バンガロー</a:t>
            </a:r>
          </a:p>
        </p:txBody>
      </p:sp>
      <p:sp>
        <p:nvSpPr>
          <p:cNvPr id="8" name="TextBox 7"/>
          <p:cNvSpPr txBox="1"/>
          <p:nvPr/>
        </p:nvSpPr>
        <p:spPr>
          <a:xfrm>
            <a:off x="3246120" y="1380744"/>
            <a:ext cx="3063240" cy="310896"/>
          </a:xfrm>
          <a:prstGeom prst="rect">
            <a:avLst/>
          </a:prstGeom>
          <a:noFill/>
        </p:spPr>
        <p:txBody>
          <a:bodyPr wrap="none" lIns="73152" rIns="73152" tIns="36576" bIns="36576">
            <a:spAutoFit/>
          </a:bodyPr>
          <a:lstStyle/>
          <a:p>
            <a:pPr algn="l"/>
            <a:r>
              <a:rPr sz="830" b="0">
                <a:solidFill>
                  <a:srgbClr val="222B34"/>
                </a:solidFill>
                <a:latin typeface="Yu Gothic"/>
              </a:rPr>
              <a:t>朝食、釧路方面の天気と予約状況を確認</a:t>
            </a:r>
          </a:p>
        </p:txBody>
      </p:sp>
      <p:sp>
        <p:nvSpPr>
          <p:cNvPr id="9" name="TextBox 8"/>
          <p:cNvSpPr txBox="1"/>
          <p:nvPr/>
        </p:nvSpPr>
        <p:spPr>
          <a:xfrm>
            <a:off x="6355080" y="1399032"/>
            <a:ext cx="411480" cy="256032"/>
          </a:xfrm>
          <a:prstGeom prst="rect">
            <a:avLst/>
          </a:prstGeom>
          <a:noFill/>
        </p:spPr>
        <p:txBody>
          <a:bodyPr wrap="none" lIns="73152" rIns="73152" tIns="36576" bIns="36576">
            <a:spAutoFit/>
          </a:bodyPr>
          <a:lstStyle/>
          <a:p>
            <a:pPr algn="r"/>
            <a:r>
              <a:rPr sz="830" b="0">
                <a:solidFill>
                  <a:srgbClr val="66707A"/>
                </a:solidFill>
                <a:latin typeface="Yu Gothic"/>
              </a:rPr>
              <a:t>60分</a:t>
            </a:r>
          </a:p>
        </p:txBody>
      </p:sp>
      <p:sp>
        <p:nvSpPr>
          <p:cNvPr id="10" name="Rounded Rectangle 9"/>
          <p:cNvSpPr/>
          <p:nvPr/>
        </p:nvSpPr>
        <p:spPr>
          <a:xfrm>
            <a:off x="502920" y="1892808"/>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965960"/>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09:15</a:t>
            </a:r>
          </a:p>
        </p:txBody>
      </p:sp>
      <p:sp>
        <p:nvSpPr>
          <p:cNvPr id="12" name="TextBox 11"/>
          <p:cNvSpPr txBox="1"/>
          <p:nvPr/>
        </p:nvSpPr>
        <p:spPr>
          <a:xfrm>
            <a:off x="1417320" y="1965960"/>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移動</a:t>
            </a:r>
          </a:p>
        </p:txBody>
      </p:sp>
      <p:sp>
        <p:nvSpPr>
          <p:cNvPr id="13" name="TextBox 12"/>
          <p:cNvSpPr txBox="1"/>
          <p:nvPr/>
        </p:nvSpPr>
        <p:spPr>
          <a:xfrm>
            <a:off x="2084831" y="1956816"/>
            <a:ext cx="1234440" cy="274320"/>
          </a:xfrm>
          <a:prstGeom prst="rect">
            <a:avLst/>
          </a:prstGeom>
          <a:noFill/>
        </p:spPr>
        <p:txBody>
          <a:bodyPr wrap="none" lIns="73152" rIns="73152" tIns="36576" bIns="36576">
            <a:spAutoFit/>
          </a:bodyPr>
          <a:lstStyle/>
          <a:p>
            <a:pPr algn="l"/>
            <a:r>
              <a:rPr sz="900" b="1">
                <a:solidFill>
                  <a:srgbClr val="143753"/>
                </a:solidFill>
                <a:latin typeface="Yu Gothic"/>
              </a:rPr>
              <a:t>中標津 → 釧路湿原方面</a:t>
            </a:r>
          </a:p>
        </p:txBody>
      </p:sp>
      <p:sp>
        <p:nvSpPr>
          <p:cNvPr id="14" name="TextBox 13"/>
          <p:cNvSpPr txBox="1"/>
          <p:nvPr/>
        </p:nvSpPr>
        <p:spPr>
          <a:xfrm>
            <a:off x="3246120" y="1947672"/>
            <a:ext cx="3063240" cy="310896"/>
          </a:xfrm>
          <a:prstGeom prst="rect">
            <a:avLst/>
          </a:prstGeom>
          <a:noFill/>
        </p:spPr>
        <p:txBody>
          <a:bodyPr wrap="none" lIns="73152" rIns="73152" tIns="36576" bIns="36576">
            <a:spAutoFit/>
          </a:bodyPr>
          <a:lstStyle/>
          <a:p>
            <a:pPr algn="l"/>
            <a:r>
              <a:rPr sz="830" b="0">
                <a:solidFill>
                  <a:srgbClr val="222B34"/>
                </a:solidFill>
                <a:latin typeface="Yu Gothic"/>
              </a:rPr>
              <a:t>釧路湿原・達古武方面へ移動</a:t>
            </a:r>
          </a:p>
        </p:txBody>
      </p:sp>
      <p:sp>
        <p:nvSpPr>
          <p:cNvPr id="15" name="TextBox 14"/>
          <p:cNvSpPr txBox="1"/>
          <p:nvPr/>
        </p:nvSpPr>
        <p:spPr>
          <a:xfrm>
            <a:off x="6355080" y="1965960"/>
            <a:ext cx="411480" cy="256032"/>
          </a:xfrm>
          <a:prstGeom prst="rect">
            <a:avLst/>
          </a:prstGeom>
          <a:noFill/>
        </p:spPr>
        <p:txBody>
          <a:bodyPr wrap="none" lIns="73152" rIns="73152" tIns="36576" bIns="36576">
            <a:spAutoFit/>
          </a:bodyPr>
          <a:lstStyle/>
          <a:p>
            <a:pPr algn="r"/>
            <a:r>
              <a:rPr sz="830" b="0">
                <a:solidFill>
                  <a:srgbClr val="66707A"/>
                </a:solidFill>
                <a:latin typeface="Yu Gothic"/>
              </a:rPr>
              <a:t>約2時間</a:t>
            </a:r>
          </a:p>
        </p:txBody>
      </p:sp>
      <p:sp>
        <p:nvSpPr>
          <p:cNvPr id="16" name="Rounded Rectangle 15"/>
          <p:cNvSpPr/>
          <p:nvPr/>
        </p:nvSpPr>
        <p:spPr>
          <a:xfrm>
            <a:off x="502920" y="2459736"/>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792" y="2532888"/>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11:15</a:t>
            </a:r>
          </a:p>
        </p:txBody>
      </p:sp>
      <p:sp>
        <p:nvSpPr>
          <p:cNvPr id="18" name="TextBox 17"/>
          <p:cNvSpPr txBox="1"/>
          <p:nvPr/>
        </p:nvSpPr>
        <p:spPr>
          <a:xfrm>
            <a:off x="1417320" y="2532888"/>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観光</a:t>
            </a:r>
          </a:p>
        </p:txBody>
      </p:sp>
      <p:sp>
        <p:nvSpPr>
          <p:cNvPr id="19" name="TextBox 18"/>
          <p:cNvSpPr txBox="1"/>
          <p:nvPr/>
        </p:nvSpPr>
        <p:spPr>
          <a:xfrm>
            <a:off x="2084831" y="2523744"/>
            <a:ext cx="1234440" cy="274320"/>
          </a:xfrm>
          <a:prstGeom prst="rect">
            <a:avLst/>
          </a:prstGeom>
          <a:noFill/>
        </p:spPr>
        <p:txBody>
          <a:bodyPr wrap="none" lIns="73152" rIns="73152" tIns="36576" bIns="36576">
            <a:spAutoFit/>
          </a:bodyPr>
          <a:lstStyle/>
          <a:p>
            <a:pPr algn="l"/>
            <a:r>
              <a:rPr sz="900" b="1">
                <a:solidFill>
                  <a:srgbClr val="143753"/>
                </a:solidFill>
                <a:latin typeface="Yu Gothic"/>
              </a:rPr>
              <a:t>達古武湖 / 釧路湿原</a:t>
            </a:r>
          </a:p>
        </p:txBody>
      </p:sp>
      <p:sp>
        <p:nvSpPr>
          <p:cNvPr id="20" name="TextBox 19"/>
          <p:cNvSpPr txBox="1"/>
          <p:nvPr/>
        </p:nvSpPr>
        <p:spPr>
          <a:xfrm>
            <a:off x="3246120" y="2514600"/>
            <a:ext cx="3063240" cy="310896"/>
          </a:xfrm>
          <a:prstGeom prst="rect">
            <a:avLst/>
          </a:prstGeom>
          <a:noFill/>
        </p:spPr>
        <p:txBody>
          <a:bodyPr wrap="none" lIns="73152" rIns="73152" tIns="36576" bIns="36576">
            <a:spAutoFit/>
          </a:bodyPr>
          <a:lstStyle/>
          <a:p>
            <a:pPr algn="l"/>
            <a:r>
              <a:rPr sz="830" b="0">
                <a:solidFill>
                  <a:srgbClr val="222B34"/>
                </a:solidFill>
                <a:latin typeface="Yu Gothic"/>
              </a:rPr>
              <a:t>湖畔、展望、短時間散策。予約があれば下見</a:t>
            </a:r>
          </a:p>
        </p:txBody>
      </p:sp>
      <p:sp>
        <p:nvSpPr>
          <p:cNvPr id="21" name="TextBox 20"/>
          <p:cNvSpPr txBox="1"/>
          <p:nvPr/>
        </p:nvSpPr>
        <p:spPr>
          <a:xfrm>
            <a:off x="6355080" y="2532888"/>
            <a:ext cx="411480" cy="256032"/>
          </a:xfrm>
          <a:prstGeom prst="rect">
            <a:avLst/>
          </a:prstGeom>
          <a:noFill/>
        </p:spPr>
        <p:txBody>
          <a:bodyPr wrap="none" lIns="73152" rIns="73152" tIns="36576" bIns="36576">
            <a:spAutoFit/>
          </a:bodyPr>
          <a:lstStyle/>
          <a:p>
            <a:pPr algn="r"/>
            <a:r>
              <a:rPr sz="830" b="0">
                <a:solidFill>
                  <a:srgbClr val="66707A"/>
                </a:solidFill>
                <a:latin typeface="Yu Gothic"/>
              </a:rPr>
              <a:t>90分</a:t>
            </a:r>
          </a:p>
        </p:txBody>
      </p:sp>
      <p:sp>
        <p:nvSpPr>
          <p:cNvPr id="22" name="Rounded Rectangle 21"/>
          <p:cNvSpPr/>
          <p:nvPr/>
        </p:nvSpPr>
        <p:spPr>
          <a:xfrm>
            <a:off x="502920" y="3026664"/>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1792" y="3099816"/>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12:45</a:t>
            </a:r>
          </a:p>
        </p:txBody>
      </p:sp>
      <p:sp>
        <p:nvSpPr>
          <p:cNvPr id="24" name="TextBox 23"/>
          <p:cNvSpPr txBox="1"/>
          <p:nvPr/>
        </p:nvSpPr>
        <p:spPr>
          <a:xfrm>
            <a:off x="1417320" y="3099816"/>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昼食</a:t>
            </a:r>
          </a:p>
        </p:txBody>
      </p:sp>
      <p:sp>
        <p:nvSpPr>
          <p:cNvPr id="25" name="TextBox 24"/>
          <p:cNvSpPr txBox="1"/>
          <p:nvPr/>
        </p:nvSpPr>
        <p:spPr>
          <a:xfrm>
            <a:off x="2084831" y="3090672"/>
            <a:ext cx="1234440" cy="274320"/>
          </a:xfrm>
          <a:prstGeom prst="rect">
            <a:avLst/>
          </a:prstGeom>
          <a:noFill/>
        </p:spPr>
        <p:txBody>
          <a:bodyPr wrap="none" lIns="73152" rIns="73152" tIns="36576" bIns="36576">
            <a:spAutoFit/>
          </a:bodyPr>
          <a:lstStyle/>
          <a:p>
            <a:pPr algn="l"/>
            <a:r>
              <a:rPr sz="900" b="1">
                <a:solidFill>
                  <a:srgbClr val="143753"/>
                </a:solidFill>
                <a:latin typeface="Yu Gothic"/>
              </a:rPr>
              <a:t>釧路町 / 釧路市内</a:t>
            </a:r>
          </a:p>
        </p:txBody>
      </p:sp>
      <p:sp>
        <p:nvSpPr>
          <p:cNvPr id="26" name="TextBox 25"/>
          <p:cNvSpPr txBox="1"/>
          <p:nvPr/>
        </p:nvSpPr>
        <p:spPr>
          <a:xfrm>
            <a:off x="3246120" y="3081528"/>
            <a:ext cx="3063240" cy="310896"/>
          </a:xfrm>
          <a:prstGeom prst="rect">
            <a:avLst/>
          </a:prstGeom>
          <a:noFill/>
        </p:spPr>
        <p:txBody>
          <a:bodyPr wrap="none" lIns="73152" rIns="73152" tIns="36576" bIns="36576">
            <a:spAutoFit/>
          </a:bodyPr>
          <a:lstStyle/>
          <a:p>
            <a:pPr algn="l"/>
            <a:r>
              <a:rPr sz="830" b="0">
                <a:solidFill>
                  <a:srgbClr val="222B34"/>
                </a:solidFill>
                <a:latin typeface="Yu Gothic"/>
              </a:rPr>
              <a:t>海鮮、定食、または道の駅系で昼食</a:t>
            </a:r>
          </a:p>
        </p:txBody>
      </p:sp>
      <p:sp>
        <p:nvSpPr>
          <p:cNvPr id="27" name="TextBox 26"/>
          <p:cNvSpPr txBox="1"/>
          <p:nvPr/>
        </p:nvSpPr>
        <p:spPr>
          <a:xfrm>
            <a:off x="6355080" y="3099816"/>
            <a:ext cx="411480" cy="256032"/>
          </a:xfrm>
          <a:prstGeom prst="rect">
            <a:avLst/>
          </a:prstGeom>
          <a:noFill/>
        </p:spPr>
        <p:txBody>
          <a:bodyPr wrap="none" lIns="73152" rIns="73152" tIns="36576" bIns="36576">
            <a:spAutoFit/>
          </a:bodyPr>
          <a:lstStyle/>
          <a:p>
            <a:pPr algn="r"/>
            <a:r>
              <a:rPr sz="830" b="0">
                <a:solidFill>
                  <a:srgbClr val="66707A"/>
                </a:solidFill>
                <a:latin typeface="Yu Gothic"/>
              </a:rPr>
              <a:t>60分</a:t>
            </a:r>
          </a:p>
        </p:txBody>
      </p:sp>
      <p:sp>
        <p:nvSpPr>
          <p:cNvPr id="28" name="Rounded Rectangle 27"/>
          <p:cNvSpPr/>
          <p:nvPr/>
        </p:nvSpPr>
        <p:spPr>
          <a:xfrm>
            <a:off x="502920" y="3593592"/>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1792" y="3666744"/>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14:00</a:t>
            </a:r>
          </a:p>
        </p:txBody>
      </p:sp>
      <p:sp>
        <p:nvSpPr>
          <p:cNvPr id="30" name="TextBox 29"/>
          <p:cNvSpPr txBox="1"/>
          <p:nvPr/>
        </p:nvSpPr>
        <p:spPr>
          <a:xfrm>
            <a:off x="1417320" y="3666744"/>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観光</a:t>
            </a:r>
          </a:p>
        </p:txBody>
      </p:sp>
      <p:sp>
        <p:nvSpPr>
          <p:cNvPr id="31" name="TextBox 30"/>
          <p:cNvSpPr txBox="1"/>
          <p:nvPr/>
        </p:nvSpPr>
        <p:spPr>
          <a:xfrm>
            <a:off x="2084831" y="3657600"/>
            <a:ext cx="1234440" cy="274320"/>
          </a:xfrm>
          <a:prstGeom prst="rect">
            <a:avLst/>
          </a:prstGeom>
          <a:noFill/>
        </p:spPr>
        <p:txBody>
          <a:bodyPr wrap="none" lIns="73152" rIns="73152" tIns="36576" bIns="36576">
            <a:spAutoFit/>
          </a:bodyPr>
          <a:lstStyle/>
          <a:p>
            <a:pPr algn="l"/>
            <a:r>
              <a:rPr sz="900" b="1">
                <a:solidFill>
                  <a:srgbClr val="143753"/>
                </a:solidFill>
                <a:latin typeface="Yu Gothic"/>
              </a:rPr>
              <a:t>細岡展望台候補</a:t>
            </a:r>
          </a:p>
        </p:txBody>
      </p:sp>
      <p:sp>
        <p:nvSpPr>
          <p:cNvPr id="32" name="TextBox 31"/>
          <p:cNvSpPr txBox="1"/>
          <p:nvPr/>
        </p:nvSpPr>
        <p:spPr>
          <a:xfrm>
            <a:off x="3246120" y="3648456"/>
            <a:ext cx="3063240" cy="310896"/>
          </a:xfrm>
          <a:prstGeom prst="rect">
            <a:avLst/>
          </a:prstGeom>
          <a:noFill/>
        </p:spPr>
        <p:txBody>
          <a:bodyPr wrap="none" lIns="73152" rIns="73152" tIns="36576" bIns="36576">
            <a:spAutoFit/>
          </a:bodyPr>
          <a:lstStyle/>
          <a:p>
            <a:pPr algn="l"/>
            <a:r>
              <a:rPr sz="830" b="0">
                <a:solidFill>
                  <a:srgbClr val="222B34"/>
                </a:solidFill>
                <a:latin typeface="Yu Gothic"/>
              </a:rPr>
              <a:t>湿原を見渡す展望スポット。天気優先</a:t>
            </a:r>
          </a:p>
        </p:txBody>
      </p:sp>
      <p:sp>
        <p:nvSpPr>
          <p:cNvPr id="33" name="TextBox 32"/>
          <p:cNvSpPr txBox="1"/>
          <p:nvPr/>
        </p:nvSpPr>
        <p:spPr>
          <a:xfrm>
            <a:off x="6355080" y="3666744"/>
            <a:ext cx="411480" cy="256032"/>
          </a:xfrm>
          <a:prstGeom prst="rect">
            <a:avLst/>
          </a:prstGeom>
          <a:noFill/>
        </p:spPr>
        <p:txBody>
          <a:bodyPr wrap="none" lIns="73152" rIns="73152" tIns="36576" bIns="36576">
            <a:spAutoFit/>
          </a:bodyPr>
          <a:lstStyle/>
          <a:p>
            <a:pPr algn="r"/>
            <a:r>
              <a:rPr sz="830" b="0">
                <a:solidFill>
                  <a:srgbClr val="66707A"/>
                </a:solidFill>
                <a:latin typeface="Yu Gothic"/>
              </a:rPr>
              <a:t>75分</a:t>
            </a:r>
          </a:p>
        </p:txBody>
      </p:sp>
      <p:sp>
        <p:nvSpPr>
          <p:cNvPr id="34" name="Rounded Rectangle 33"/>
          <p:cNvSpPr/>
          <p:nvPr/>
        </p:nvSpPr>
        <p:spPr>
          <a:xfrm>
            <a:off x="502920" y="4160520"/>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1792" y="4233672"/>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15:30</a:t>
            </a:r>
          </a:p>
        </p:txBody>
      </p:sp>
      <p:sp>
        <p:nvSpPr>
          <p:cNvPr id="36" name="TextBox 35"/>
          <p:cNvSpPr txBox="1"/>
          <p:nvPr/>
        </p:nvSpPr>
        <p:spPr>
          <a:xfrm>
            <a:off x="1417320" y="4233672"/>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移動</a:t>
            </a:r>
          </a:p>
        </p:txBody>
      </p:sp>
      <p:sp>
        <p:nvSpPr>
          <p:cNvPr id="37" name="TextBox 36"/>
          <p:cNvSpPr txBox="1"/>
          <p:nvPr/>
        </p:nvSpPr>
        <p:spPr>
          <a:xfrm>
            <a:off x="2084831" y="4224528"/>
            <a:ext cx="1234440" cy="274320"/>
          </a:xfrm>
          <a:prstGeom prst="rect">
            <a:avLst/>
          </a:prstGeom>
          <a:noFill/>
        </p:spPr>
        <p:txBody>
          <a:bodyPr wrap="none" lIns="73152" rIns="73152" tIns="36576" bIns="36576">
            <a:spAutoFit/>
          </a:bodyPr>
          <a:lstStyle/>
          <a:p>
            <a:pPr algn="l"/>
            <a:r>
              <a:rPr sz="900" b="1">
                <a:solidFill>
                  <a:srgbClr val="143753"/>
                </a:solidFill>
                <a:latin typeface="Yu Gothic"/>
              </a:rPr>
              <a:t>釧路湿原 → 中標津</a:t>
            </a:r>
          </a:p>
        </p:txBody>
      </p:sp>
      <p:sp>
        <p:nvSpPr>
          <p:cNvPr id="38" name="TextBox 37"/>
          <p:cNvSpPr txBox="1"/>
          <p:nvPr/>
        </p:nvSpPr>
        <p:spPr>
          <a:xfrm>
            <a:off x="3246120" y="4215384"/>
            <a:ext cx="3063240" cy="310896"/>
          </a:xfrm>
          <a:prstGeom prst="rect">
            <a:avLst/>
          </a:prstGeom>
          <a:noFill/>
        </p:spPr>
        <p:txBody>
          <a:bodyPr wrap="none" lIns="73152" rIns="73152" tIns="36576" bIns="36576">
            <a:spAutoFit/>
          </a:bodyPr>
          <a:lstStyle/>
          <a:p>
            <a:pPr algn="l"/>
            <a:r>
              <a:rPr sz="830" b="0">
                <a:solidFill>
                  <a:srgbClr val="222B34"/>
                </a:solidFill>
                <a:latin typeface="Yu Gothic"/>
              </a:rPr>
              <a:t>翌日の帯広移動に備えて戻る</a:t>
            </a:r>
          </a:p>
        </p:txBody>
      </p:sp>
      <p:sp>
        <p:nvSpPr>
          <p:cNvPr id="39" name="TextBox 38"/>
          <p:cNvSpPr txBox="1"/>
          <p:nvPr/>
        </p:nvSpPr>
        <p:spPr>
          <a:xfrm>
            <a:off x="6355080" y="4233672"/>
            <a:ext cx="411480" cy="256032"/>
          </a:xfrm>
          <a:prstGeom prst="rect">
            <a:avLst/>
          </a:prstGeom>
          <a:noFill/>
        </p:spPr>
        <p:txBody>
          <a:bodyPr wrap="none" lIns="73152" rIns="73152" tIns="36576" bIns="36576">
            <a:spAutoFit/>
          </a:bodyPr>
          <a:lstStyle/>
          <a:p>
            <a:pPr algn="r"/>
            <a:r>
              <a:rPr sz="830" b="0">
                <a:solidFill>
                  <a:srgbClr val="66707A"/>
                </a:solidFill>
                <a:latin typeface="Yu Gothic"/>
              </a:rPr>
              <a:t>約2時間</a:t>
            </a:r>
          </a:p>
        </p:txBody>
      </p:sp>
      <p:sp>
        <p:nvSpPr>
          <p:cNvPr id="40" name="Rounded Rectangle 39"/>
          <p:cNvSpPr/>
          <p:nvPr/>
        </p:nvSpPr>
        <p:spPr>
          <a:xfrm>
            <a:off x="502920" y="4727448"/>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21792" y="4800600"/>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17:30</a:t>
            </a:r>
          </a:p>
        </p:txBody>
      </p:sp>
      <p:sp>
        <p:nvSpPr>
          <p:cNvPr id="42" name="TextBox 41"/>
          <p:cNvSpPr txBox="1"/>
          <p:nvPr/>
        </p:nvSpPr>
        <p:spPr>
          <a:xfrm>
            <a:off x="1417320" y="4800600"/>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休憩</a:t>
            </a:r>
          </a:p>
        </p:txBody>
      </p:sp>
      <p:sp>
        <p:nvSpPr>
          <p:cNvPr id="43" name="TextBox 42"/>
          <p:cNvSpPr txBox="1"/>
          <p:nvPr/>
        </p:nvSpPr>
        <p:spPr>
          <a:xfrm>
            <a:off x="2084831" y="4791456"/>
            <a:ext cx="1234440" cy="274320"/>
          </a:xfrm>
          <a:prstGeom prst="rect">
            <a:avLst/>
          </a:prstGeom>
          <a:noFill/>
        </p:spPr>
        <p:txBody>
          <a:bodyPr wrap="none" lIns="73152" rIns="73152" tIns="36576" bIns="36576">
            <a:spAutoFit/>
          </a:bodyPr>
          <a:lstStyle/>
          <a:p>
            <a:pPr algn="l"/>
            <a:r>
              <a:rPr sz="900" b="1">
                <a:solidFill>
                  <a:srgbClr val="143753"/>
                </a:solidFill>
                <a:latin typeface="Yu Gothic"/>
              </a:rPr>
              <a:t>バンガロー</a:t>
            </a:r>
          </a:p>
        </p:txBody>
      </p:sp>
      <p:sp>
        <p:nvSpPr>
          <p:cNvPr id="44" name="TextBox 43"/>
          <p:cNvSpPr txBox="1"/>
          <p:nvPr/>
        </p:nvSpPr>
        <p:spPr>
          <a:xfrm>
            <a:off x="3246120" y="4782312"/>
            <a:ext cx="3063240" cy="310896"/>
          </a:xfrm>
          <a:prstGeom prst="rect">
            <a:avLst/>
          </a:prstGeom>
          <a:noFill/>
        </p:spPr>
        <p:txBody>
          <a:bodyPr wrap="none" lIns="73152" rIns="73152" tIns="36576" bIns="36576">
            <a:spAutoFit/>
          </a:bodyPr>
          <a:lstStyle/>
          <a:p>
            <a:pPr algn="l"/>
            <a:r>
              <a:rPr sz="830" b="0">
                <a:solidFill>
                  <a:srgbClr val="222B34"/>
                </a:solidFill>
                <a:latin typeface="Yu Gothic"/>
              </a:rPr>
              <a:t>荷物整理、車内整理、洗濯</a:t>
            </a:r>
          </a:p>
        </p:txBody>
      </p:sp>
      <p:sp>
        <p:nvSpPr>
          <p:cNvPr id="45" name="TextBox 44"/>
          <p:cNvSpPr txBox="1"/>
          <p:nvPr/>
        </p:nvSpPr>
        <p:spPr>
          <a:xfrm>
            <a:off x="6355080" y="4800600"/>
            <a:ext cx="411480" cy="256032"/>
          </a:xfrm>
          <a:prstGeom prst="rect">
            <a:avLst/>
          </a:prstGeom>
          <a:noFill/>
        </p:spPr>
        <p:txBody>
          <a:bodyPr wrap="none" lIns="73152" rIns="73152" tIns="36576" bIns="36576">
            <a:spAutoFit/>
          </a:bodyPr>
          <a:lstStyle/>
          <a:p>
            <a:pPr algn="r"/>
            <a:r>
              <a:rPr sz="830" b="0">
                <a:solidFill>
                  <a:srgbClr val="66707A"/>
                </a:solidFill>
                <a:latin typeface="Yu Gothic"/>
              </a:rPr>
              <a:t>60分</a:t>
            </a:r>
          </a:p>
        </p:txBody>
      </p:sp>
      <p:sp>
        <p:nvSpPr>
          <p:cNvPr id="46" name="Rounded Rectangle 45"/>
          <p:cNvSpPr/>
          <p:nvPr/>
        </p:nvSpPr>
        <p:spPr>
          <a:xfrm>
            <a:off x="502920" y="5294376"/>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21792" y="5367528"/>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18:45</a:t>
            </a:r>
          </a:p>
        </p:txBody>
      </p:sp>
      <p:sp>
        <p:nvSpPr>
          <p:cNvPr id="48" name="TextBox 47"/>
          <p:cNvSpPr txBox="1"/>
          <p:nvPr/>
        </p:nvSpPr>
        <p:spPr>
          <a:xfrm>
            <a:off x="1417320" y="5367528"/>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夕食</a:t>
            </a:r>
          </a:p>
        </p:txBody>
      </p:sp>
      <p:sp>
        <p:nvSpPr>
          <p:cNvPr id="49" name="TextBox 48"/>
          <p:cNvSpPr txBox="1"/>
          <p:nvPr/>
        </p:nvSpPr>
        <p:spPr>
          <a:xfrm>
            <a:off x="2084831" y="5358384"/>
            <a:ext cx="1234440" cy="274320"/>
          </a:xfrm>
          <a:prstGeom prst="rect">
            <a:avLst/>
          </a:prstGeom>
          <a:noFill/>
        </p:spPr>
        <p:txBody>
          <a:bodyPr wrap="none" lIns="73152" rIns="73152" tIns="36576" bIns="36576">
            <a:spAutoFit/>
          </a:bodyPr>
          <a:lstStyle/>
          <a:p>
            <a:pPr algn="l"/>
            <a:r>
              <a:rPr sz="900" b="1">
                <a:solidFill>
                  <a:srgbClr val="143753"/>
                </a:solidFill>
                <a:latin typeface="Yu Gothic"/>
              </a:rPr>
              <a:t>中標津市街</a:t>
            </a:r>
          </a:p>
        </p:txBody>
      </p:sp>
      <p:sp>
        <p:nvSpPr>
          <p:cNvPr id="50" name="TextBox 49"/>
          <p:cNvSpPr txBox="1"/>
          <p:nvPr/>
        </p:nvSpPr>
        <p:spPr>
          <a:xfrm>
            <a:off x="3246120" y="5349240"/>
            <a:ext cx="3063240" cy="310896"/>
          </a:xfrm>
          <a:prstGeom prst="rect">
            <a:avLst/>
          </a:prstGeom>
          <a:noFill/>
        </p:spPr>
        <p:txBody>
          <a:bodyPr wrap="none" lIns="73152" rIns="73152" tIns="36576" bIns="36576">
            <a:spAutoFit/>
          </a:bodyPr>
          <a:lstStyle/>
          <a:p>
            <a:pPr algn="l"/>
            <a:r>
              <a:rPr sz="830" b="0">
                <a:solidFill>
                  <a:srgbClr val="222B34"/>
                </a:solidFill>
                <a:latin typeface="Yu Gothic"/>
              </a:rPr>
              <a:t>中標津最後の夕食。早めに済ませる</a:t>
            </a:r>
          </a:p>
        </p:txBody>
      </p:sp>
      <p:sp>
        <p:nvSpPr>
          <p:cNvPr id="51" name="TextBox 50"/>
          <p:cNvSpPr txBox="1"/>
          <p:nvPr/>
        </p:nvSpPr>
        <p:spPr>
          <a:xfrm>
            <a:off x="6355080" y="5367528"/>
            <a:ext cx="411480" cy="256032"/>
          </a:xfrm>
          <a:prstGeom prst="rect">
            <a:avLst/>
          </a:prstGeom>
          <a:noFill/>
        </p:spPr>
        <p:txBody>
          <a:bodyPr wrap="none" lIns="73152" rIns="73152" tIns="36576" bIns="36576">
            <a:spAutoFit/>
          </a:bodyPr>
          <a:lstStyle/>
          <a:p>
            <a:pPr algn="r"/>
            <a:r>
              <a:rPr sz="830" b="0">
                <a:solidFill>
                  <a:srgbClr val="66707A"/>
                </a:solidFill>
                <a:latin typeface="Yu Gothic"/>
              </a:rPr>
              <a:t>90分</a:t>
            </a:r>
          </a:p>
        </p:txBody>
      </p:sp>
      <p:pic>
        <p:nvPicPr>
          <p:cNvPr id="52" name="Picture 51" descr="2026-08-10_釧路湿原.png"/>
          <p:cNvPicPr>
            <a:picLocks noChangeAspect="1"/>
          </p:cNvPicPr>
          <p:nvPr/>
        </p:nvPicPr>
        <p:blipFill>
          <a:blip r:embed="rId2"/>
          <a:stretch>
            <a:fillRect/>
          </a:stretch>
        </p:blipFill>
        <p:spPr>
          <a:xfrm>
            <a:off x="7360920" y="502920"/>
            <a:ext cx="4160520" cy="2331720"/>
          </a:xfrm>
          <a:prstGeom prst="rect">
            <a:avLst/>
          </a:prstGeom>
        </p:spPr>
      </p:pic>
      <p:sp>
        <p:nvSpPr>
          <p:cNvPr id="53" name="TextBox 52"/>
          <p:cNvSpPr txBox="1"/>
          <p:nvPr/>
        </p:nvSpPr>
        <p:spPr>
          <a:xfrm>
            <a:off x="7360920" y="3063240"/>
            <a:ext cx="4343400" cy="292608"/>
          </a:xfrm>
          <a:prstGeom prst="rect">
            <a:avLst/>
          </a:prstGeom>
          <a:noFill/>
        </p:spPr>
        <p:txBody>
          <a:bodyPr wrap="none" lIns="73152" rIns="73152" tIns="36576" bIns="36576">
            <a:spAutoFit/>
          </a:bodyPr>
          <a:lstStyle/>
          <a:p>
            <a:pPr algn="l"/>
            <a:r>
              <a:rPr sz="1500" b="1">
                <a:solidFill>
                  <a:srgbClr val="143753"/>
                </a:solidFill>
                <a:latin typeface="Yu Gothic"/>
              </a:rPr>
              <a:t>レストラン候補</a:t>
            </a:r>
          </a:p>
        </p:txBody>
      </p:sp>
      <p:sp>
        <p:nvSpPr>
          <p:cNvPr id="54" name="Rounded Rectangle 53"/>
          <p:cNvSpPr/>
          <p:nvPr/>
        </p:nvSpPr>
        <p:spPr>
          <a:xfrm>
            <a:off x="7360920" y="344728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434072" y="3502152"/>
            <a:ext cx="566928" cy="228600"/>
          </a:xfrm>
          <a:prstGeom prst="rect">
            <a:avLst/>
          </a:prstGeom>
          <a:noFill/>
        </p:spPr>
        <p:txBody>
          <a:bodyPr wrap="none" lIns="73152" rIns="73152" tIns="36576" bIns="36576">
            <a:spAutoFit/>
          </a:bodyPr>
          <a:lstStyle/>
          <a:p>
            <a:pPr algn="l"/>
            <a:r>
              <a:rPr sz="850" b="1">
                <a:solidFill>
                  <a:srgbClr val="D86352"/>
                </a:solidFill>
                <a:latin typeface="Yu Gothic"/>
              </a:rPr>
              <a:t>昼食</a:t>
            </a:r>
          </a:p>
        </p:txBody>
      </p:sp>
      <p:sp>
        <p:nvSpPr>
          <p:cNvPr id="56" name="TextBox 55"/>
          <p:cNvSpPr txBox="1"/>
          <p:nvPr/>
        </p:nvSpPr>
        <p:spPr>
          <a:xfrm>
            <a:off x="8001000" y="349300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釧路市内の海鮮・炉端候補</a:t>
            </a:r>
          </a:p>
        </p:txBody>
      </p:sp>
      <p:sp>
        <p:nvSpPr>
          <p:cNvPr id="57" name="TextBox 56"/>
          <p:cNvSpPr txBox="1"/>
          <p:nvPr/>
        </p:nvSpPr>
        <p:spPr>
          <a:xfrm>
            <a:off x="9509760" y="349300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湿原方面へ行けた場合の候補</a:t>
            </a:r>
          </a:p>
        </p:txBody>
      </p:sp>
      <p:sp>
        <p:nvSpPr>
          <p:cNvPr id="58" name="Rounded Rectangle 57"/>
          <p:cNvSpPr/>
          <p:nvPr/>
        </p:nvSpPr>
        <p:spPr>
          <a:xfrm>
            <a:off x="7360920" y="395020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434072" y="4005072"/>
            <a:ext cx="566928" cy="228600"/>
          </a:xfrm>
          <a:prstGeom prst="rect">
            <a:avLst/>
          </a:prstGeom>
          <a:noFill/>
        </p:spPr>
        <p:txBody>
          <a:bodyPr wrap="none" lIns="73152" rIns="73152" tIns="36576" bIns="36576">
            <a:spAutoFit/>
          </a:bodyPr>
          <a:lstStyle/>
          <a:p>
            <a:pPr algn="l"/>
            <a:r>
              <a:rPr sz="850" b="1">
                <a:solidFill>
                  <a:srgbClr val="D86352"/>
                </a:solidFill>
                <a:latin typeface="Yu Gothic"/>
              </a:rPr>
              <a:t>昼食</a:t>
            </a:r>
          </a:p>
        </p:txBody>
      </p:sp>
      <p:sp>
        <p:nvSpPr>
          <p:cNvPr id="60" name="TextBox 59"/>
          <p:cNvSpPr txBox="1"/>
          <p:nvPr/>
        </p:nvSpPr>
        <p:spPr>
          <a:xfrm>
            <a:off x="8001000" y="399592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道の駅・軽食</a:t>
            </a:r>
          </a:p>
        </p:txBody>
      </p:sp>
      <p:sp>
        <p:nvSpPr>
          <p:cNvPr id="61" name="TextBox 60"/>
          <p:cNvSpPr txBox="1"/>
          <p:nvPr/>
        </p:nvSpPr>
        <p:spPr>
          <a:xfrm>
            <a:off x="9509760" y="399592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移動優先のバックアップ</a:t>
            </a:r>
          </a:p>
        </p:txBody>
      </p:sp>
      <p:sp>
        <p:nvSpPr>
          <p:cNvPr id="62" name="Rounded Rectangle 61"/>
          <p:cNvSpPr/>
          <p:nvPr/>
        </p:nvSpPr>
        <p:spPr>
          <a:xfrm>
            <a:off x="7360920" y="445312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434072" y="4507992"/>
            <a:ext cx="566928" cy="228600"/>
          </a:xfrm>
          <a:prstGeom prst="rect">
            <a:avLst/>
          </a:prstGeom>
          <a:noFill/>
        </p:spPr>
        <p:txBody>
          <a:bodyPr wrap="none" lIns="73152" rIns="73152" tIns="36576" bIns="36576">
            <a:spAutoFit/>
          </a:bodyPr>
          <a:lstStyle/>
          <a:p>
            <a:pPr algn="l"/>
            <a:r>
              <a:rPr sz="850" b="1">
                <a:solidFill>
                  <a:srgbClr val="D86352"/>
                </a:solidFill>
                <a:latin typeface="Yu Gothic"/>
              </a:rPr>
              <a:t>夕食</a:t>
            </a:r>
          </a:p>
        </p:txBody>
      </p:sp>
      <p:sp>
        <p:nvSpPr>
          <p:cNvPr id="64" name="TextBox 63"/>
          <p:cNvSpPr txBox="1"/>
          <p:nvPr/>
        </p:nvSpPr>
        <p:spPr>
          <a:xfrm>
            <a:off x="8001000" y="449884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中標津市街の定食店</a:t>
            </a:r>
          </a:p>
        </p:txBody>
      </p:sp>
      <p:sp>
        <p:nvSpPr>
          <p:cNvPr id="65" name="TextBox 64"/>
          <p:cNvSpPr txBox="1"/>
          <p:nvPr/>
        </p:nvSpPr>
        <p:spPr>
          <a:xfrm>
            <a:off x="9509760" y="449884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翌日の移動に備えて早めに</a:t>
            </a:r>
          </a:p>
        </p:txBody>
      </p:sp>
      <p:sp>
        <p:nvSpPr>
          <p:cNvPr id="66" name="Rounded Rectangle 65"/>
          <p:cNvSpPr/>
          <p:nvPr/>
        </p:nvSpPr>
        <p:spPr>
          <a:xfrm>
            <a:off x="7360920" y="495604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434072" y="5010912"/>
            <a:ext cx="566928" cy="228600"/>
          </a:xfrm>
          <a:prstGeom prst="rect">
            <a:avLst/>
          </a:prstGeom>
          <a:noFill/>
        </p:spPr>
        <p:txBody>
          <a:bodyPr wrap="none" lIns="73152" rIns="73152" tIns="36576" bIns="36576">
            <a:spAutoFit/>
          </a:bodyPr>
          <a:lstStyle/>
          <a:p>
            <a:pPr algn="l"/>
            <a:r>
              <a:rPr sz="850" b="1">
                <a:solidFill>
                  <a:srgbClr val="D86352"/>
                </a:solidFill>
                <a:latin typeface="Yu Gothic"/>
              </a:rPr>
              <a:t>予備</a:t>
            </a:r>
          </a:p>
        </p:txBody>
      </p:sp>
      <p:sp>
        <p:nvSpPr>
          <p:cNvPr id="68" name="TextBox 67"/>
          <p:cNvSpPr txBox="1"/>
          <p:nvPr/>
        </p:nvSpPr>
        <p:spPr>
          <a:xfrm>
            <a:off x="8001000" y="500176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バンガローで簡単調理</a:t>
            </a:r>
          </a:p>
        </p:txBody>
      </p:sp>
      <p:sp>
        <p:nvSpPr>
          <p:cNvPr id="69" name="TextBox 68"/>
          <p:cNvSpPr txBox="1"/>
          <p:nvPr/>
        </p:nvSpPr>
        <p:spPr>
          <a:xfrm>
            <a:off x="9509760" y="500176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疲れた場合の安全策</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2026-08-11_十勝平野.png"/>
          <p:cNvPicPr>
            <a:picLocks noChangeAspect="1"/>
          </p:cNvPicPr>
          <p:nvPr/>
        </p:nvPicPr>
        <p:blipFill>
          <a:blip r:embed="rId2"/>
          <a:stretch>
            <a:fillRect/>
          </a:stretch>
        </p:blipFill>
        <p:spPr>
          <a:xfrm>
            <a:off x="7059168" y="0"/>
            <a:ext cx="5129784" cy="3886200"/>
          </a:xfrm>
          <a:prstGeom prst="rect">
            <a:avLst/>
          </a:prstGeom>
        </p:spPr>
      </p:pic>
      <p:sp>
        <p:nvSpPr>
          <p:cNvPr id="3" name="Rounded Rectangle 2"/>
          <p:cNvSpPr/>
          <p:nvPr/>
        </p:nvSpPr>
        <p:spPr>
          <a:xfrm>
            <a:off x="502920" y="347472"/>
            <a:ext cx="1325880" cy="329184"/>
          </a:xfrm>
          <a:prstGeom prst="roundRect">
            <a:avLst/>
          </a:prstGeom>
          <a:solidFill>
            <a:srgbClr val="D863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Yu Gothic"/>
              </a:rPr>
              <a:t>DAY 12</a:t>
            </a:r>
          </a:p>
        </p:txBody>
      </p:sp>
      <p:sp>
        <p:nvSpPr>
          <p:cNvPr id="4" name="TextBox 3"/>
          <p:cNvSpPr txBox="1"/>
          <p:nvPr/>
        </p:nvSpPr>
        <p:spPr>
          <a:xfrm>
            <a:off x="502920" y="749808"/>
            <a:ext cx="6126480" cy="548640"/>
          </a:xfrm>
          <a:prstGeom prst="rect">
            <a:avLst/>
          </a:prstGeom>
          <a:noFill/>
        </p:spPr>
        <p:txBody>
          <a:bodyPr wrap="none" lIns="73152" rIns="73152" tIns="36576" bIns="36576">
            <a:spAutoFit/>
          </a:bodyPr>
          <a:lstStyle/>
          <a:p>
            <a:pPr algn="l"/>
            <a:r>
              <a:rPr sz="2200" b="1">
                <a:solidFill>
                  <a:srgbClr val="143753"/>
                </a:solidFill>
                <a:latin typeface="Yu Gothic"/>
              </a:rPr>
              <a:t>2026-08-11  中標津から帯広へ、移動負荷を下げる日</a:t>
            </a:r>
          </a:p>
        </p:txBody>
      </p:sp>
      <p:sp>
        <p:nvSpPr>
          <p:cNvPr id="5" name="TextBox 4"/>
          <p:cNvSpPr txBox="1"/>
          <p:nvPr/>
        </p:nvSpPr>
        <p:spPr>
          <a:xfrm>
            <a:off x="530352" y="1234440"/>
            <a:ext cx="5989320" cy="384048"/>
          </a:xfrm>
          <a:prstGeom prst="rect">
            <a:avLst/>
          </a:prstGeom>
          <a:noFill/>
        </p:spPr>
        <p:txBody>
          <a:bodyPr wrap="none" lIns="73152" rIns="73152" tIns="36576" bIns="36576">
            <a:spAutoFit/>
          </a:bodyPr>
          <a:lstStyle/>
          <a:p>
            <a:pPr algn="l"/>
            <a:r>
              <a:rPr sz="1300" b="1">
                <a:solidFill>
                  <a:srgbClr val="2C73A0"/>
                </a:solidFill>
                <a:latin typeface="Yu Gothic"/>
              </a:rPr>
              <a:t>中標津 / 弟子屈 / 足寄 / 帯広</a:t>
            </a:r>
          </a:p>
        </p:txBody>
      </p:sp>
      <p:sp>
        <p:nvSpPr>
          <p:cNvPr id="6" name="TextBox 5"/>
          <p:cNvSpPr txBox="1"/>
          <p:nvPr/>
        </p:nvSpPr>
        <p:spPr>
          <a:xfrm>
            <a:off x="530352" y="1719072"/>
            <a:ext cx="6080760" cy="896112"/>
          </a:xfrm>
          <a:prstGeom prst="rect">
            <a:avLst/>
          </a:prstGeom>
          <a:noFill/>
        </p:spPr>
        <p:txBody>
          <a:bodyPr wrap="none" lIns="73152" rIns="73152" tIns="36576" bIns="36576">
            <a:spAutoFit/>
          </a:bodyPr>
          <a:lstStyle/>
          <a:p>
            <a:pPr algn="l"/>
            <a:r>
              <a:rPr sz="1230" b="0">
                <a:solidFill>
                  <a:srgbClr val="222B34"/>
                </a:solidFill>
                <a:latin typeface="Yu Gothic"/>
              </a:rPr>
              <a:t>当初の苫小牧直行ではなく、移動負荷を考慮して帯広に滞在する日。道東から十勝へ移動し、途中は休憩を多めに取ります。夜は帯広で豚丼など十勝グルメを楽しみます。</a:t>
            </a:r>
          </a:p>
        </p:txBody>
      </p:sp>
      <p:sp>
        <p:nvSpPr>
          <p:cNvPr id="7" name="TextBox 6"/>
          <p:cNvSpPr txBox="1"/>
          <p:nvPr/>
        </p:nvSpPr>
        <p:spPr>
          <a:xfrm>
            <a:off x="530352" y="2852928"/>
            <a:ext cx="6126480" cy="292608"/>
          </a:xfrm>
          <a:prstGeom prst="rect">
            <a:avLst/>
          </a:prstGeom>
          <a:noFill/>
        </p:spPr>
        <p:txBody>
          <a:bodyPr wrap="none" lIns="73152" rIns="73152" tIns="36576" bIns="36576">
            <a:spAutoFit/>
          </a:bodyPr>
          <a:lstStyle/>
          <a:p>
            <a:pPr algn="l"/>
            <a:r>
              <a:rPr sz="1500" b="1">
                <a:solidFill>
                  <a:srgbClr val="143753"/>
                </a:solidFill>
                <a:latin typeface="Yu Gothic"/>
              </a:rPr>
              <a:t>この日の流れ</a:t>
            </a:r>
          </a:p>
        </p:txBody>
      </p:sp>
      <p:sp>
        <p:nvSpPr>
          <p:cNvPr id="8" name="Rounded Rectangle 7"/>
          <p:cNvSpPr/>
          <p:nvPr/>
        </p:nvSpPr>
        <p:spPr>
          <a:xfrm>
            <a:off x="502920" y="3246120"/>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3319272"/>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07:30</a:t>
            </a:r>
          </a:p>
        </p:txBody>
      </p:sp>
      <p:sp>
        <p:nvSpPr>
          <p:cNvPr id="10" name="TextBox 9"/>
          <p:cNvSpPr txBox="1"/>
          <p:nvPr/>
        </p:nvSpPr>
        <p:spPr>
          <a:xfrm>
            <a:off x="1417320" y="3319272"/>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朝食</a:t>
            </a:r>
          </a:p>
        </p:txBody>
      </p:sp>
      <p:sp>
        <p:nvSpPr>
          <p:cNvPr id="11" name="TextBox 10"/>
          <p:cNvSpPr txBox="1"/>
          <p:nvPr/>
        </p:nvSpPr>
        <p:spPr>
          <a:xfrm>
            <a:off x="2084831" y="3310128"/>
            <a:ext cx="1234440" cy="274320"/>
          </a:xfrm>
          <a:prstGeom prst="rect">
            <a:avLst/>
          </a:prstGeom>
          <a:noFill/>
        </p:spPr>
        <p:txBody>
          <a:bodyPr wrap="none" lIns="73152" rIns="73152" tIns="36576" bIns="36576">
            <a:spAutoFit/>
          </a:bodyPr>
          <a:lstStyle/>
          <a:p>
            <a:pPr algn="l"/>
            <a:r>
              <a:rPr sz="900" b="1">
                <a:solidFill>
                  <a:srgbClr val="143753"/>
                </a:solidFill>
                <a:latin typeface="Yu Gothic"/>
              </a:rPr>
              <a:t>バンガロー</a:t>
            </a:r>
          </a:p>
        </p:txBody>
      </p:sp>
      <p:sp>
        <p:nvSpPr>
          <p:cNvPr id="12" name="TextBox 11"/>
          <p:cNvSpPr txBox="1"/>
          <p:nvPr/>
        </p:nvSpPr>
        <p:spPr>
          <a:xfrm>
            <a:off x="3246120" y="3300984"/>
            <a:ext cx="3063240" cy="310896"/>
          </a:xfrm>
          <a:prstGeom prst="rect">
            <a:avLst/>
          </a:prstGeom>
          <a:noFill/>
        </p:spPr>
        <p:txBody>
          <a:bodyPr wrap="none" lIns="73152" rIns="73152" tIns="36576" bIns="36576">
            <a:spAutoFit/>
          </a:bodyPr>
          <a:lstStyle/>
          <a:p>
            <a:pPr algn="l"/>
            <a:r>
              <a:rPr sz="830" b="0">
                <a:solidFill>
                  <a:srgbClr val="222B34"/>
                </a:solidFill>
                <a:latin typeface="Yu Gothic"/>
              </a:rPr>
              <a:t>朝食、チェックアウト、忘れ物確認</a:t>
            </a:r>
          </a:p>
        </p:txBody>
      </p:sp>
      <p:sp>
        <p:nvSpPr>
          <p:cNvPr id="13" name="TextBox 12"/>
          <p:cNvSpPr txBox="1"/>
          <p:nvPr/>
        </p:nvSpPr>
        <p:spPr>
          <a:xfrm>
            <a:off x="6355080" y="3319272"/>
            <a:ext cx="411480" cy="256032"/>
          </a:xfrm>
          <a:prstGeom prst="rect">
            <a:avLst/>
          </a:prstGeom>
          <a:noFill/>
        </p:spPr>
        <p:txBody>
          <a:bodyPr wrap="none" lIns="73152" rIns="73152" tIns="36576" bIns="36576">
            <a:spAutoFit/>
          </a:bodyPr>
          <a:lstStyle/>
          <a:p>
            <a:pPr algn="r"/>
            <a:r>
              <a:rPr sz="830" b="0">
                <a:solidFill>
                  <a:srgbClr val="66707A"/>
                </a:solidFill>
                <a:latin typeface="Yu Gothic"/>
              </a:rPr>
              <a:t>75分</a:t>
            </a:r>
          </a:p>
        </p:txBody>
      </p:sp>
      <p:sp>
        <p:nvSpPr>
          <p:cNvPr id="14" name="Rounded Rectangle 13"/>
          <p:cNvSpPr/>
          <p:nvPr/>
        </p:nvSpPr>
        <p:spPr>
          <a:xfrm>
            <a:off x="502920" y="3813048"/>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 y="3886200"/>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09:00</a:t>
            </a:r>
          </a:p>
        </p:txBody>
      </p:sp>
      <p:sp>
        <p:nvSpPr>
          <p:cNvPr id="16" name="TextBox 15"/>
          <p:cNvSpPr txBox="1"/>
          <p:nvPr/>
        </p:nvSpPr>
        <p:spPr>
          <a:xfrm>
            <a:off x="1417320" y="3886200"/>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移動</a:t>
            </a:r>
          </a:p>
        </p:txBody>
      </p:sp>
      <p:sp>
        <p:nvSpPr>
          <p:cNvPr id="17" name="TextBox 16"/>
          <p:cNvSpPr txBox="1"/>
          <p:nvPr/>
        </p:nvSpPr>
        <p:spPr>
          <a:xfrm>
            <a:off x="2084831" y="3877056"/>
            <a:ext cx="1234440" cy="274320"/>
          </a:xfrm>
          <a:prstGeom prst="rect">
            <a:avLst/>
          </a:prstGeom>
          <a:noFill/>
        </p:spPr>
        <p:txBody>
          <a:bodyPr wrap="none" lIns="73152" rIns="73152" tIns="36576" bIns="36576">
            <a:spAutoFit/>
          </a:bodyPr>
          <a:lstStyle/>
          <a:p>
            <a:pPr algn="l"/>
            <a:r>
              <a:rPr sz="900" b="1">
                <a:solidFill>
                  <a:srgbClr val="143753"/>
                </a:solidFill>
                <a:latin typeface="Yu Gothic"/>
              </a:rPr>
              <a:t>中標津 → 弟子屈方面</a:t>
            </a:r>
          </a:p>
        </p:txBody>
      </p:sp>
      <p:sp>
        <p:nvSpPr>
          <p:cNvPr id="18" name="TextBox 17"/>
          <p:cNvSpPr txBox="1"/>
          <p:nvPr/>
        </p:nvSpPr>
        <p:spPr>
          <a:xfrm>
            <a:off x="3246120" y="3867912"/>
            <a:ext cx="3063240" cy="310896"/>
          </a:xfrm>
          <a:prstGeom prst="rect">
            <a:avLst/>
          </a:prstGeom>
          <a:noFill/>
        </p:spPr>
        <p:txBody>
          <a:bodyPr wrap="none" lIns="73152" rIns="73152" tIns="36576" bIns="36576">
            <a:spAutoFit/>
          </a:bodyPr>
          <a:lstStyle/>
          <a:p>
            <a:pPr algn="l"/>
            <a:r>
              <a:rPr sz="830" b="0">
                <a:solidFill>
                  <a:srgbClr val="222B34"/>
                </a:solidFill>
                <a:latin typeface="Yu Gothic"/>
              </a:rPr>
              <a:t>摩周・阿寒方面を抜けて十勝へ</a:t>
            </a:r>
          </a:p>
        </p:txBody>
      </p:sp>
      <p:sp>
        <p:nvSpPr>
          <p:cNvPr id="19" name="TextBox 18"/>
          <p:cNvSpPr txBox="1"/>
          <p:nvPr/>
        </p:nvSpPr>
        <p:spPr>
          <a:xfrm>
            <a:off x="6355080" y="3886200"/>
            <a:ext cx="411480" cy="256032"/>
          </a:xfrm>
          <a:prstGeom prst="rect">
            <a:avLst/>
          </a:prstGeom>
          <a:noFill/>
        </p:spPr>
        <p:txBody>
          <a:bodyPr wrap="none" lIns="73152" rIns="73152" tIns="36576" bIns="36576">
            <a:spAutoFit/>
          </a:bodyPr>
          <a:lstStyle/>
          <a:p>
            <a:pPr algn="r"/>
            <a:r>
              <a:rPr sz="830" b="0">
                <a:solidFill>
                  <a:srgbClr val="66707A"/>
                </a:solidFill>
                <a:latin typeface="Yu Gothic"/>
              </a:rPr>
              <a:t>約90分</a:t>
            </a:r>
          </a:p>
        </p:txBody>
      </p:sp>
      <p:sp>
        <p:nvSpPr>
          <p:cNvPr id="20" name="Rounded Rectangle 19"/>
          <p:cNvSpPr/>
          <p:nvPr/>
        </p:nvSpPr>
        <p:spPr>
          <a:xfrm>
            <a:off x="502920" y="4379976"/>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1792" y="4453128"/>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10:30</a:t>
            </a:r>
          </a:p>
        </p:txBody>
      </p:sp>
      <p:sp>
        <p:nvSpPr>
          <p:cNvPr id="22" name="TextBox 21"/>
          <p:cNvSpPr txBox="1"/>
          <p:nvPr/>
        </p:nvSpPr>
        <p:spPr>
          <a:xfrm>
            <a:off x="1417320" y="4453128"/>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休憩</a:t>
            </a:r>
          </a:p>
        </p:txBody>
      </p:sp>
      <p:sp>
        <p:nvSpPr>
          <p:cNvPr id="23" name="TextBox 22"/>
          <p:cNvSpPr txBox="1"/>
          <p:nvPr/>
        </p:nvSpPr>
        <p:spPr>
          <a:xfrm>
            <a:off x="2084831" y="4443984"/>
            <a:ext cx="1234440" cy="274320"/>
          </a:xfrm>
          <a:prstGeom prst="rect">
            <a:avLst/>
          </a:prstGeom>
          <a:noFill/>
        </p:spPr>
        <p:txBody>
          <a:bodyPr wrap="none" lIns="73152" rIns="73152" tIns="36576" bIns="36576">
            <a:spAutoFit/>
          </a:bodyPr>
          <a:lstStyle/>
          <a:p>
            <a:pPr algn="l"/>
            <a:r>
              <a:rPr sz="900" b="1">
                <a:solidFill>
                  <a:srgbClr val="143753"/>
                </a:solidFill>
                <a:latin typeface="Yu Gothic"/>
              </a:rPr>
              <a:t>弟子屈 / 道の駅候補</a:t>
            </a:r>
          </a:p>
        </p:txBody>
      </p:sp>
      <p:sp>
        <p:nvSpPr>
          <p:cNvPr id="24" name="TextBox 23"/>
          <p:cNvSpPr txBox="1"/>
          <p:nvPr/>
        </p:nvSpPr>
        <p:spPr>
          <a:xfrm>
            <a:off x="3246120" y="4434840"/>
            <a:ext cx="3063240" cy="310896"/>
          </a:xfrm>
          <a:prstGeom prst="rect">
            <a:avLst/>
          </a:prstGeom>
          <a:noFill/>
        </p:spPr>
        <p:txBody>
          <a:bodyPr wrap="none" lIns="73152" rIns="73152" tIns="36576" bIns="36576">
            <a:spAutoFit/>
          </a:bodyPr>
          <a:lstStyle/>
          <a:p>
            <a:pPr algn="l"/>
            <a:r>
              <a:rPr sz="830" b="0">
                <a:solidFill>
                  <a:srgbClr val="222B34"/>
                </a:solidFill>
                <a:latin typeface="Yu Gothic"/>
              </a:rPr>
              <a:t>トイレ、飲み物、天気確認</a:t>
            </a:r>
          </a:p>
        </p:txBody>
      </p:sp>
      <p:sp>
        <p:nvSpPr>
          <p:cNvPr id="25" name="TextBox 24"/>
          <p:cNvSpPr txBox="1"/>
          <p:nvPr/>
        </p:nvSpPr>
        <p:spPr>
          <a:xfrm>
            <a:off x="6355080" y="4453128"/>
            <a:ext cx="411480" cy="256032"/>
          </a:xfrm>
          <a:prstGeom prst="rect">
            <a:avLst/>
          </a:prstGeom>
          <a:noFill/>
        </p:spPr>
        <p:txBody>
          <a:bodyPr wrap="none" lIns="73152" rIns="73152" tIns="36576" bIns="36576">
            <a:spAutoFit/>
          </a:bodyPr>
          <a:lstStyle/>
          <a:p>
            <a:pPr algn="r"/>
            <a:r>
              <a:rPr sz="830" b="0">
                <a:solidFill>
                  <a:srgbClr val="66707A"/>
                </a:solidFill>
                <a:latin typeface="Yu Gothic"/>
              </a:rPr>
              <a:t>30分</a:t>
            </a:r>
          </a:p>
        </p:txBody>
      </p:sp>
      <p:sp>
        <p:nvSpPr>
          <p:cNvPr id="26" name="Rounded Rectangle 25"/>
          <p:cNvSpPr/>
          <p:nvPr/>
        </p:nvSpPr>
        <p:spPr>
          <a:xfrm>
            <a:off x="502920" y="4946904"/>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1792" y="5020056"/>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11:00</a:t>
            </a:r>
          </a:p>
        </p:txBody>
      </p:sp>
      <p:sp>
        <p:nvSpPr>
          <p:cNvPr id="28" name="TextBox 27"/>
          <p:cNvSpPr txBox="1"/>
          <p:nvPr/>
        </p:nvSpPr>
        <p:spPr>
          <a:xfrm>
            <a:off x="1417320" y="5020056"/>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移動</a:t>
            </a:r>
          </a:p>
        </p:txBody>
      </p:sp>
      <p:sp>
        <p:nvSpPr>
          <p:cNvPr id="29" name="TextBox 28"/>
          <p:cNvSpPr txBox="1"/>
          <p:nvPr/>
        </p:nvSpPr>
        <p:spPr>
          <a:xfrm>
            <a:off x="2084831" y="5010912"/>
            <a:ext cx="1234440" cy="274320"/>
          </a:xfrm>
          <a:prstGeom prst="rect">
            <a:avLst/>
          </a:prstGeom>
          <a:noFill/>
        </p:spPr>
        <p:txBody>
          <a:bodyPr wrap="none" lIns="73152" rIns="73152" tIns="36576" bIns="36576">
            <a:spAutoFit/>
          </a:bodyPr>
          <a:lstStyle/>
          <a:p>
            <a:pPr algn="l"/>
            <a:r>
              <a:rPr sz="900" b="1">
                <a:solidFill>
                  <a:srgbClr val="143753"/>
                </a:solidFill>
                <a:latin typeface="Yu Gothic"/>
              </a:rPr>
              <a:t>弟子屈 → 足寄</a:t>
            </a:r>
          </a:p>
        </p:txBody>
      </p:sp>
      <p:sp>
        <p:nvSpPr>
          <p:cNvPr id="30" name="TextBox 29"/>
          <p:cNvSpPr txBox="1"/>
          <p:nvPr/>
        </p:nvSpPr>
        <p:spPr>
          <a:xfrm>
            <a:off x="3246120" y="5001768"/>
            <a:ext cx="3063240" cy="310896"/>
          </a:xfrm>
          <a:prstGeom prst="rect">
            <a:avLst/>
          </a:prstGeom>
          <a:noFill/>
        </p:spPr>
        <p:txBody>
          <a:bodyPr wrap="none" lIns="73152" rIns="73152" tIns="36576" bIns="36576">
            <a:spAutoFit/>
          </a:bodyPr>
          <a:lstStyle/>
          <a:p>
            <a:pPr algn="l"/>
            <a:r>
              <a:rPr sz="830" b="0">
                <a:solidFill>
                  <a:srgbClr val="222B34"/>
                </a:solidFill>
                <a:latin typeface="Yu Gothic"/>
              </a:rPr>
              <a:t>休憩を挟みながら移動</a:t>
            </a:r>
          </a:p>
        </p:txBody>
      </p:sp>
      <p:sp>
        <p:nvSpPr>
          <p:cNvPr id="31" name="TextBox 30"/>
          <p:cNvSpPr txBox="1"/>
          <p:nvPr/>
        </p:nvSpPr>
        <p:spPr>
          <a:xfrm>
            <a:off x="6355080" y="5020056"/>
            <a:ext cx="411480" cy="256032"/>
          </a:xfrm>
          <a:prstGeom prst="rect">
            <a:avLst/>
          </a:prstGeom>
          <a:noFill/>
        </p:spPr>
        <p:txBody>
          <a:bodyPr wrap="none" lIns="73152" rIns="73152" tIns="36576" bIns="36576">
            <a:spAutoFit/>
          </a:bodyPr>
          <a:lstStyle/>
          <a:p>
            <a:pPr algn="r"/>
            <a:r>
              <a:rPr sz="830" b="0">
                <a:solidFill>
                  <a:srgbClr val="66707A"/>
                </a:solidFill>
                <a:latin typeface="Yu Gothic"/>
              </a:rPr>
              <a:t>約90分</a:t>
            </a:r>
          </a:p>
        </p:txBody>
      </p:sp>
      <p:sp>
        <p:nvSpPr>
          <p:cNvPr id="32" name="Rounded Rectangle 31"/>
          <p:cNvSpPr/>
          <p:nvPr/>
        </p:nvSpPr>
        <p:spPr>
          <a:xfrm>
            <a:off x="502920" y="5513832"/>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1792" y="5586984"/>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12:30</a:t>
            </a:r>
          </a:p>
        </p:txBody>
      </p:sp>
      <p:sp>
        <p:nvSpPr>
          <p:cNvPr id="34" name="TextBox 33"/>
          <p:cNvSpPr txBox="1"/>
          <p:nvPr/>
        </p:nvSpPr>
        <p:spPr>
          <a:xfrm>
            <a:off x="1417320" y="5586984"/>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昼食</a:t>
            </a:r>
          </a:p>
        </p:txBody>
      </p:sp>
      <p:sp>
        <p:nvSpPr>
          <p:cNvPr id="35" name="TextBox 34"/>
          <p:cNvSpPr txBox="1"/>
          <p:nvPr/>
        </p:nvSpPr>
        <p:spPr>
          <a:xfrm>
            <a:off x="2084831" y="5577840"/>
            <a:ext cx="1234440" cy="274320"/>
          </a:xfrm>
          <a:prstGeom prst="rect">
            <a:avLst/>
          </a:prstGeom>
          <a:noFill/>
        </p:spPr>
        <p:txBody>
          <a:bodyPr wrap="none" lIns="73152" rIns="73152" tIns="36576" bIns="36576">
            <a:spAutoFit/>
          </a:bodyPr>
          <a:lstStyle/>
          <a:p>
            <a:pPr algn="l"/>
            <a:r>
              <a:rPr sz="900" b="1">
                <a:solidFill>
                  <a:srgbClr val="143753"/>
                </a:solidFill>
                <a:latin typeface="Yu Gothic"/>
              </a:rPr>
              <a:t>足寄 / 道の駅</a:t>
            </a:r>
          </a:p>
        </p:txBody>
      </p:sp>
      <p:sp>
        <p:nvSpPr>
          <p:cNvPr id="36" name="TextBox 35"/>
          <p:cNvSpPr txBox="1"/>
          <p:nvPr/>
        </p:nvSpPr>
        <p:spPr>
          <a:xfrm>
            <a:off x="3246120" y="5568696"/>
            <a:ext cx="3063240" cy="310896"/>
          </a:xfrm>
          <a:prstGeom prst="rect">
            <a:avLst/>
          </a:prstGeom>
          <a:noFill/>
        </p:spPr>
        <p:txBody>
          <a:bodyPr wrap="none" lIns="73152" rIns="73152" tIns="36576" bIns="36576">
            <a:spAutoFit/>
          </a:bodyPr>
          <a:lstStyle/>
          <a:p>
            <a:pPr algn="l"/>
            <a:r>
              <a:rPr sz="830" b="0">
                <a:solidFill>
                  <a:srgbClr val="222B34"/>
                </a:solidFill>
                <a:latin typeface="Yu Gothic"/>
              </a:rPr>
              <a:t>軽めの昼食、給油、休憩</a:t>
            </a:r>
          </a:p>
        </p:txBody>
      </p:sp>
      <p:sp>
        <p:nvSpPr>
          <p:cNvPr id="37" name="TextBox 36"/>
          <p:cNvSpPr txBox="1"/>
          <p:nvPr/>
        </p:nvSpPr>
        <p:spPr>
          <a:xfrm>
            <a:off x="6355080" y="5586984"/>
            <a:ext cx="411480" cy="256032"/>
          </a:xfrm>
          <a:prstGeom prst="rect">
            <a:avLst/>
          </a:prstGeom>
          <a:noFill/>
        </p:spPr>
        <p:txBody>
          <a:bodyPr wrap="none" lIns="73152" rIns="73152" tIns="36576" bIns="36576">
            <a:spAutoFit/>
          </a:bodyPr>
          <a:lstStyle/>
          <a:p>
            <a:pPr algn="r"/>
            <a:r>
              <a:rPr sz="830" b="0">
                <a:solidFill>
                  <a:srgbClr val="66707A"/>
                </a:solidFill>
                <a:latin typeface="Yu Gothic"/>
              </a:rPr>
              <a:t>60分</a:t>
            </a:r>
          </a:p>
        </p:txBody>
      </p:sp>
      <p:sp>
        <p:nvSpPr>
          <p:cNvPr id="38" name="TextBox 37"/>
          <p:cNvSpPr txBox="1"/>
          <p:nvPr/>
        </p:nvSpPr>
        <p:spPr>
          <a:xfrm>
            <a:off x="7150608" y="4251960"/>
            <a:ext cx="4343400" cy="292608"/>
          </a:xfrm>
          <a:prstGeom prst="rect">
            <a:avLst/>
          </a:prstGeom>
          <a:noFill/>
        </p:spPr>
        <p:txBody>
          <a:bodyPr wrap="none" lIns="73152" rIns="73152" tIns="36576" bIns="36576">
            <a:spAutoFit/>
          </a:bodyPr>
          <a:lstStyle/>
          <a:p>
            <a:pPr algn="l"/>
            <a:r>
              <a:rPr sz="1500" b="1">
                <a:solidFill>
                  <a:srgbClr val="143753"/>
                </a:solidFill>
                <a:latin typeface="Yu Gothic"/>
              </a:rPr>
              <a:t>レストラン候補</a:t>
            </a:r>
          </a:p>
        </p:txBody>
      </p:sp>
      <p:sp>
        <p:nvSpPr>
          <p:cNvPr id="39" name="Rounded Rectangle 38"/>
          <p:cNvSpPr/>
          <p:nvPr/>
        </p:nvSpPr>
        <p:spPr>
          <a:xfrm>
            <a:off x="7150608" y="463600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223760" y="4690872"/>
            <a:ext cx="566928" cy="228600"/>
          </a:xfrm>
          <a:prstGeom prst="rect">
            <a:avLst/>
          </a:prstGeom>
          <a:noFill/>
        </p:spPr>
        <p:txBody>
          <a:bodyPr wrap="none" lIns="73152" rIns="73152" tIns="36576" bIns="36576">
            <a:spAutoFit/>
          </a:bodyPr>
          <a:lstStyle/>
          <a:p>
            <a:pPr algn="l"/>
            <a:r>
              <a:rPr sz="850" b="1">
                <a:solidFill>
                  <a:srgbClr val="D86352"/>
                </a:solidFill>
                <a:latin typeface="Yu Gothic"/>
              </a:rPr>
              <a:t>昼食</a:t>
            </a:r>
          </a:p>
        </p:txBody>
      </p:sp>
      <p:sp>
        <p:nvSpPr>
          <p:cNvPr id="41" name="TextBox 40"/>
          <p:cNvSpPr txBox="1"/>
          <p:nvPr/>
        </p:nvSpPr>
        <p:spPr>
          <a:xfrm>
            <a:off x="7790688" y="468172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道の駅あしょろ銀河ホール21周辺</a:t>
            </a:r>
          </a:p>
        </p:txBody>
      </p:sp>
      <p:sp>
        <p:nvSpPr>
          <p:cNvPr id="42" name="TextBox 41"/>
          <p:cNvSpPr txBox="1"/>
          <p:nvPr/>
        </p:nvSpPr>
        <p:spPr>
          <a:xfrm>
            <a:off x="9299448" y="468172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移動途中で休みやすい</a:t>
            </a:r>
          </a:p>
        </p:txBody>
      </p:sp>
      <p:sp>
        <p:nvSpPr>
          <p:cNvPr id="43" name="Rounded Rectangle 42"/>
          <p:cNvSpPr/>
          <p:nvPr/>
        </p:nvSpPr>
        <p:spPr>
          <a:xfrm>
            <a:off x="7150608" y="513892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223760" y="5193792"/>
            <a:ext cx="566928" cy="228600"/>
          </a:xfrm>
          <a:prstGeom prst="rect">
            <a:avLst/>
          </a:prstGeom>
          <a:noFill/>
        </p:spPr>
        <p:txBody>
          <a:bodyPr wrap="none" lIns="73152" rIns="73152" tIns="36576" bIns="36576">
            <a:spAutoFit/>
          </a:bodyPr>
          <a:lstStyle/>
          <a:p>
            <a:pPr algn="l"/>
            <a:r>
              <a:rPr sz="850" b="1">
                <a:solidFill>
                  <a:srgbClr val="D86352"/>
                </a:solidFill>
                <a:latin typeface="Yu Gothic"/>
              </a:rPr>
              <a:t>夕食</a:t>
            </a:r>
          </a:p>
        </p:txBody>
      </p:sp>
      <p:sp>
        <p:nvSpPr>
          <p:cNvPr id="45" name="TextBox 44"/>
          <p:cNvSpPr txBox="1"/>
          <p:nvPr/>
        </p:nvSpPr>
        <p:spPr>
          <a:xfrm>
            <a:off x="7790688" y="518464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帯広豚丼候補</a:t>
            </a:r>
          </a:p>
        </p:txBody>
      </p:sp>
      <p:sp>
        <p:nvSpPr>
          <p:cNvPr id="46" name="TextBox 45"/>
          <p:cNvSpPr txBox="1"/>
          <p:nvPr/>
        </p:nvSpPr>
        <p:spPr>
          <a:xfrm>
            <a:off x="9299448" y="518464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この日の本命。混雑時は時間をずらす</a:t>
            </a:r>
          </a:p>
        </p:txBody>
      </p:sp>
      <p:sp>
        <p:nvSpPr>
          <p:cNvPr id="47" name="Rounded Rectangle 46"/>
          <p:cNvSpPr/>
          <p:nvPr/>
        </p:nvSpPr>
        <p:spPr>
          <a:xfrm>
            <a:off x="7150608" y="564184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223760" y="5696712"/>
            <a:ext cx="566928" cy="228600"/>
          </a:xfrm>
          <a:prstGeom prst="rect">
            <a:avLst/>
          </a:prstGeom>
          <a:noFill/>
        </p:spPr>
        <p:txBody>
          <a:bodyPr wrap="none" lIns="73152" rIns="73152" tIns="36576" bIns="36576">
            <a:spAutoFit/>
          </a:bodyPr>
          <a:lstStyle/>
          <a:p>
            <a:pPr algn="l"/>
            <a:r>
              <a:rPr sz="850" b="1">
                <a:solidFill>
                  <a:srgbClr val="D86352"/>
                </a:solidFill>
                <a:latin typeface="Yu Gothic"/>
              </a:rPr>
              <a:t>甘味</a:t>
            </a:r>
          </a:p>
        </p:txBody>
      </p:sp>
      <p:sp>
        <p:nvSpPr>
          <p:cNvPr id="49" name="TextBox 48"/>
          <p:cNvSpPr txBox="1"/>
          <p:nvPr/>
        </p:nvSpPr>
        <p:spPr>
          <a:xfrm>
            <a:off x="7790688" y="568756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六花亭 帯広本店候補</a:t>
            </a:r>
          </a:p>
        </p:txBody>
      </p:sp>
      <p:sp>
        <p:nvSpPr>
          <p:cNvPr id="50" name="TextBox 49"/>
          <p:cNvSpPr txBox="1"/>
          <p:nvPr/>
        </p:nvSpPr>
        <p:spPr>
          <a:xfrm>
            <a:off x="9299448" y="568756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お土産と休憩候補</a:t>
            </a:r>
          </a:p>
        </p:txBody>
      </p:sp>
      <p:sp>
        <p:nvSpPr>
          <p:cNvPr id="51" name="Rounded Rectangle 50"/>
          <p:cNvSpPr/>
          <p:nvPr/>
        </p:nvSpPr>
        <p:spPr>
          <a:xfrm>
            <a:off x="7150608" y="614476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223760" y="6199632"/>
            <a:ext cx="566928" cy="228600"/>
          </a:xfrm>
          <a:prstGeom prst="rect">
            <a:avLst/>
          </a:prstGeom>
          <a:noFill/>
        </p:spPr>
        <p:txBody>
          <a:bodyPr wrap="none" lIns="73152" rIns="73152" tIns="36576" bIns="36576">
            <a:spAutoFit/>
          </a:bodyPr>
          <a:lstStyle/>
          <a:p>
            <a:pPr algn="l"/>
            <a:r>
              <a:rPr sz="850" b="1">
                <a:solidFill>
                  <a:srgbClr val="D86352"/>
                </a:solidFill>
                <a:latin typeface="Yu Gothic"/>
              </a:rPr>
              <a:t>予備</a:t>
            </a:r>
          </a:p>
        </p:txBody>
      </p:sp>
      <p:sp>
        <p:nvSpPr>
          <p:cNvPr id="53" name="TextBox 52"/>
          <p:cNvSpPr txBox="1"/>
          <p:nvPr/>
        </p:nvSpPr>
        <p:spPr>
          <a:xfrm>
            <a:off x="7790688" y="619048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ホテル周辺のテイクアウト</a:t>
            </a:r>
          </a:p>
        </p:txBody>
      </p:sp>
      <p:sp>
        <p:nvSpPr>
          <p:cNvPr id="54" name="TextBox 53"/>
          <p:cNvSpPr txBox="1"/>
          <p:nvPr/>
        </p:nvSpPr>
        <p:spPr>
          <a:xfrm>
            <a:off x="9299448" y="619048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疲れている場合の安全策</a:t>
            </a:r>
          </a:p>
        </p:txBody>
      </p:sp>
      <p:sp>
        <p:nvSpPr>
          <p:cNvPr id="55" name="TextBox 54"/>
          <p:cNvSpPr txBox="1"/>
          <p:nvPr/>
        </p:nvSpPr>
        <p:spPr>
          <a:xfrm>
            <a:off x="7150608" y="6199632"/>
            <a:ext cx="4206240" cy="228600"/>
          </a:xfrm>
          <a:prstGeom prst="rect">
            <a:avLst/>
          </a:prstGeom>
          <a:noFill/>
        </p:spPr>
        <p:txBody>
          <a:bodyPr wrap="none" lIns="73152" rIns="73152" tIns="36576" bIns="36576">
            <a:spAutoFit/>
          </a:bodyPr>
          <a:lstStyle/>
          <a:p>
            <a:pPr algn="l"/>
            <a:r>
              <a:rPr sz="780" b="0">
                <a:solidFill>
                  <a:srgbClr val="66707A"/>
                </a:solidFill>
                <a:latin typeface="Yu Gothic"/>
              </a:rPr>
              <a:t>MEMO  8/11は帯広泊に変更し、苫小牧まで一気に走らない。 / 宿泊先は帯広駅周辺または駐車しやすいホテルを優先。</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CFCFA"/>
        </a:solidFill>
        <a:effectLst/>
      </p:bgPr>
    </p:bg>
    <p:spTree>
      <p:nvGrpSpPr>
        <p:cNvPr id="1" name=""/>
        <p:cNvGrpSpPr/>
        <p:nvPr/>
      </p:nvGrpSpPr>
      <p:grpSpPr/>
      <p:sp>
        <p:nvSpPr>
          <p:cNvPr id="2" name="Rounded Rectangle 1"/>
          <p:cNvSpPr/>
          <p:nvPr/>
        </p:nvSpPr>
        <p:spPr>
          <a:xfrm>
            <a:off x="502920" y="320040"/>
            <a:ext cx="1325880" cy="329184"/>
          </a:xfrm>
          <a:prstGeom prst="roundRect">
            <a:avLst/>
          </a:prstGeom>
          <a:solidFill>
            <a:srgbClr val="D863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Yu Gothic"/>
              </a:rPr>
              <a:t>DAY 12</a:t>
            </a:r>
          </a:p>
        </p:txBody>
      </p:sp>
      <p:sp>
        <p:nvSpPr>
          <p:cNvPr id="3" name="TextBox 2"/>
          <p:cNvSpPr txBox="1"/>
          <p:nvPr/>
        </p:nvSpPr>
        <p:spPr>
          <a:xfrm>
            <a:off x="502920" y="713232"/>
            <a:ext cx="6217920" cy="384048"/>
          </a:xfrm>
          <a:prstGeom prst="rect">
            <a:avLst/>
          </a:prstGeom>
          <a:noFill/>
        </p:spPr>
        <p:txBody>
          <a:bodyPr wrap="none" lIns="73152" rIns="73152" tIns="36576" bIns="36576">
            <a:spAutoFit/>
          </a:bodyPr>
          <a:lstStyle/>
          <a:p>
            <a:pPr algn="l"/>
            <a:r>
              <a:rPr sz="2200" b="1">
                <a:solidFill>
                  <a:srgbClr val="143753"/>
                </a:solidFill>
                <a:latin typeface="Yu Gothic"/>
              </a:rPr>
              <a:t>時刻ベース詳細スケジュール</a:t>
            </a:r>
          </a:p>
        </p:txBody>
      </p:sp>
      <p:sp>
        <p:nvSpPr>
          <p:cNvPr id="4" name="Rounded Rectangle 3"/>
          <p:cNvSpPr/>
          <p:nvPr/>
        </p:nvSpPr>
        <p:spPr>
          <a:xfrm>
            <a:off x="502920" y="1325880"/>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1399032"/>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07:30</a:t>
            </a:r>
          </a:p>
        </p:txBody>
      </p:sp>
      <p:sp>
        <p:nvSpPr>
          <p:cNvPr id="6" name="TextBox 5"/>
          <p:cNvSpPr txBox="1"/>
          <p:nvPr/>
        </p:nvSpPr>
        <p:spPr>
          <a:xfrm>
            <a:off x="1417320" y="1399032"/>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朝食</a:t>
            </a:r>
          </a:p>
        </p:txBody>
      </p:sp>
      <p:sp>
        <p:nvSpPr>
          <p:cNvPr id="7" name="TextBox 6"/>
          <p:cNvSpPr txBox="1"/>
          <p:nvPr/>
        </p:nvSpPr>
        <p:spPr>
          <a:xfrm>
            <a:off x="2084831" y="1389888"/>
            <a:ext cx="1234440" cy="274320"/>
          </a:xfrm>
          <a:prstGeom prst="rect">
            <a:avLst/>
          </a:prstGeom>
          <a:noFill/>
        </p:spPr>
        <p:txBody>
          <a:bodyPr wrap="none" lIns="73152" rIns="73152" tIns="36576" bIns="36576">
            <a:spAutoFit/>
          </a:bodyPr>
          <a:lstStyle/>
          <a:p>
            <a:pPr algn="l"/>
            <a:r>
              <a:rPr sz="900" b="1">
                <a:solidFill>
                  <a:srgbClr val="143753"/>
                </a:solidFill>
                <a:latin typeface="Yu Gothic"/>
              </a:rPr>
              <a:t>バンガロー</a:t>
            </a:r>
          </a:p>
        </p:txBody>
      </p:sp>
      <p:sp>
        <p:nvSpPr>
          <p:cNvPr id="8" name="TextBox 7"/>
          <p:cNvSpPr txBox="1"/>
          <p:nvPr/>
        </p:nvSpPr>
        <p:spPr>
          <a:xfrm>
            <a:off x="3246120" y="1380744"/>
            <a:ext cx="3063240" cy="310896"/>
          </a:xfrm>
          <a:prstGeom prst="rect">
            <a:avLst/>
          </a:prstGeom>
          <a:noFill/>
        </p:spPr>
        <p:txBody>
          <a:bodyPr wrap="none" lIns="73152" rIns="73152" tIns="36576" bIns="36576">
            <a:spAutoFit/>
          </a:bodyPr>
          <a:lstStyle/>
          <a:p>
            <a:pPr algn="l"/>
            <a:r>
              <a:rPr sz="830" b="0">
                <a:solidFill>
                  <a:srgbClr val="222B34"/>
                </a:solidFill>
                <a:latin typeface="Yu Gothic"/>
              </a:rPr>
              <a:t>朝食、チェックアウト、忘れ物確認</a:t>
            </a:r>
          </a:p>
        </p:txBody>
      </p:sp>
      <p:sp>
        <p:nvSpPr>
          <p:cNvPr id="9" name="TextBox 8"/>
          <p:cNvSpPr txBox="1"/>
          <p:nvPr/>
        </p:nvSpPr>
        <p:spPr>
          <a:xfrm>
            <a:off x="6355080" y="1399032"/>
            <a:ext cx="411480" cy="256032"/>
          </a:xfrm>
          <a:prstGeom prst="rect">
            <a:avLst/>
          </a:prstGeom>
          <a:noFill/>
        </p:spPr>
        <p:txBody>
          <a:bodyPr wrap="none" lIns="73152" rIns="73152" tIns="36576" bIns="36576">
            <a:spAutoFit/>
          </a:bodyPr>
          <a:lstStyle/>
          <a:p>
            <a:pPr algn="r"/>
            <a:r>
              <a:rPr sz="830" b="0">
                <a:solidFill>
                  <a:srgbClr val="66707A"/>
                </a:solidFill>
                <a:latin typeface="Yu Gothic"/>
              </a:rPr>
              <a:t>75分</a:t>
            </a:r>
          </a:p>
        </p:txBody>
      </p:sp>
      <p:sp>
        <p:nvSpPr>
          <p:cNvPr id="10" name="Rounded Rectangle 9"/>
          <p:cNvSpPr/>
          <p:nvPr/>
        </p:nvSpPr>
        <p:spPr>
          <a:xfrm>
            <a:off x="502920" y="1892808"/>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965960"/>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09:00</a:t>
            </a:r>
          </a:p>
        </p:txBody>
      </p:sp>
      <p:sp>
        <p:nvSpPr>
          <p:cNvPr id="12" name="TextBox 11"/>
          <p:cNvSpPr txBox="1"/>
          <p:nvPr/>
        </p:nvSpPr>
        <p:spPr>
          <a:xfrm>
            <a:off x="1417320" y="1965960"/>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移動</a:t>
            </a:r>
          </a:p>
        </p:txBody>
      </p:sp>
      <p:sp>
        <p:nvSpPr>
          <p:cNvPr id="13" name="TextBox 12"/>
          <p:cNvSpPr txBox="1"/>
          <p:nvPr/>
        </p:nvSpPr>
        <p:spPr>
          <a:xfrm>
            <a:off x="2084831" y="1956816"/>
            <a:ext cx="1234440" cy="274320"/>
          </a:xfrm>
          <a:prstGeom prst="rect">
            <a:avLst/>
          </a:prstGeom>
          <a:noFill/>
        </p:spPr>
        <p:txBody>
          <a:bodyPr wrap="none" lIns="73152" rIns="73152" tIns="36576" bIns="36576">
            <a:spAutoFit/>
          </a:bodyPr>
          <a:lstStyle/>
          <a:p>
            <a:pPr algn="l"/>
            <a:r>
              <a:rPr sz="900" b="1">
                <a:solidFill>
                  <a:srgbClr val="143753"/>
                </a:solidFill>
                <a:latin typeface="Yu Gothic"/>
              </a:rPr>
              <a:t>中標津 → 弟子屈方面</a:t>
            </a:r>
          </a:p>
        </p:txBody>
      </p:sp>
      <p:sp>
        <p:nvSpPr>
          <p:cNvPr id="14" name="TextBox 13"/>
          <p:cNvSpPr txBox="1"/>
          <p:nvPr/>
        </p:nvSpPr>
        <p:spPr>
          <a:xfrm>
            <a:off x="3246120" y="1947672"/>
            <a:ext cx="3063240" cy="310896"/>
          </a:xfrm>
          <a:prstGeom prst="rect">
            <a:avLst/>
          </a:prstGeom>
          <a:noFill/>
        </p:spPr>
        <p:txBody>
          <a:bodyPr wrap="none" lIns="73152" rIns="73152" tIns="36576" bIns="36576">
            <a:spAutoFit/>
          </a:bodyPr>
          <a:lstStyle/>
          <a:p>
            <a:pPr algn="l"/>
            <a:r>
              <a:rPr sz="830" b="0">
                <a:solidFill>
                  <a:srgbClr val="222B34"/>
                </a:solidFill>
                <a:latin typeface="Yu Gothic"/>
              </a:rPr>
              <a:t>摩周・阿寒方面を抜けて十勝へ</a:t>
            </a:r>
          </a:p>
        </p:txBody>
      </p:sp>
      <p:sp>
        <p:nvSpPr>
          <p:cNvPr id="15" name="TextBox 14"/>
          <p:cNvSpPr txBox="1"/>
          <p:nvPr/>
        </p:nvSpPr>
        <p:spPr>
          <a:xfrm>
            <a:off x="6355080" y="1965960"/>
            <a:ext cx="411480" cy="256032"/>
          </a:xfrm>
          <a:prstGeom prst="rect">
            <a:avLst/>
          </a:prstGeom>
          <a:noFill/>
        </p:spPr>
        <p:txBody>
          <a:bodyPr wrap="none" lIns="73152" rIns="73152" tIns="36576" bIns="36576">
            <a:spAutoFit/>
          </a:bodyPr>
          <a:lstStyle/>
          <a:p>
            <a:pPr algn="r"/>
            <a:r>
              <a:rPr sz="830" b="0">
                <a:solidFill>
                  <a:srgbClr val="66707A"/>
                </a:solidFill>
                <a:latin typeface="Yu Gothic"/>
              </a:rPr>
              <a:t>約90分</a:t>
            </a:r>
          </a:p>
        </p:txBody>
      </p:sp>
      <p:sp>
        <p:nvSpPr>
          <p:cNvPr id="16" name="Rounded Rectangle 15"/>
          <p:cNvSpPr/>
          <p:nvPr/>
        </p:nvSpPr>
        <p:spPr>
          <a:xfrm>
            <a:off x="502920" y="2459736"/>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792" y="2532888"/>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10:30</a:t>
            </a:r>
          </a:p>
        </p:txBody>
      </p:sp>
      <p:sp>
        <p:nvSpPr>
          <p:cNvPr id="18" name="TextBox 17"/>
          <p:cNvSpPr txBox="1"/>
          <p:nvPr/>
        </p:nvSpPr>
        <p:spPr>
          <a:xfrm>
            <a:off x="1417320" y="2532888"/>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休憩</a:t>
            </a:r>
          </a:p>
        </p:txBody>
      </p:sp>
      <p:sp>
        <p:nvSpPr>
          <p:cNvPr id="19" name="TextBox 18"/>
          <p:cNvSpPr txBox="1"/>
          <p:nvPr/>
        </p:nvSpPr>
        <p:spPr>
          <a:xfrm>
            <a:off x="2084831" y="2523744"/>
            <a:ext cx="1234440" cy="274320"/>
          </a:xfrm>
          <a:prstGeom prst="rect">
            <a:avLst/>
          </a:prstGeom>
          <a:noFill/>
        </p:spPr>
        <p:txBody>
          <a:bodyPr wrap="none" lIns="73152" rIns="73152" tIns="36576" bIns="36576">
            <a:spAutoFit/>
          </a:bodyPr>
          <a:lstStyle/>
          <a:p>
            <a:pPr algn="l"/>
            <a:r>
              <a:rPr sz="900" b="1">
                <a:solidFill>
                  <a:srgbClr val="143753"/>
                </a:solidFill>
                <a:latin typeface="Yu Gothic"/>
              </a:rPr>
              <a:t>弟子屈 / 道の駅候補</a:t>
            </a:r>
          </a:p>
        </p:txBody>
      </p:sp>
      <p:sp>
        <p:nvSpPr>
          <p:cNvPr id="20" name="TextBox 19"/>
          <p:cNvSpPr txBox="1"/>
          <p:nvPr/>
        </p:nvSpPr>
        <p:spPr>
          <a:xfrm>
            <a:off x="3246120" y="2514600"/>
            <a:ext cx="3063240" cy="310896"/>
          </a:xfrm>
          <a:prstGeom prst="rect">
            <a:avLst/>
          </a:prstGeom>
          <a:noFill/>
        </p:spPr>
        <p:txBody>
          <a:bodyPr wrap="none" lIns="73152" rIns="73152" tIns="36576" bIns="36576">
            <a:spAutoFit/>
          </a:bodyPr>
          <a:lstStyle/>
          <a:p>
            <a:pPr algn="l"/>
            <a:r>
              <a:rPr sz="830" b="0">
                <a:solidFill>
                  <a:srgbClr val="222B34"/>
                </a:solidFill>
                <a:latin typeface="Yu Gothic"/>
              </a:rPr>
              <a:t>トイレ、飲み物、天気確認</a:t>
            </a:r>
          </a:p>
        </p:txBody>
      </p:sp>
      <p:sp>
        <p:nvSpPr>
          <p:cNvPr id="21" name="TextBox 20"/>
          <p:cNvSpPr txBox="1"/>
          <p:nvPr/>
        </p:nvSpPr>
        <p:spPr>
          <a:xfrm>
            <a:off x="6355080" y="2532888"/>
            <a:ext cx="411480" cy="256032"/>
          </a:xfrm>
          <a:prstGeom prst="rect">
            <a:avLst/>
          </a:prstGeom>
          <a:noFill/>
        </p:spPr>
        <p:txBody>
          <a:bodyPr wrap="none" lIns="73152" rIns="73152" tIns="36576" bIns="36576">
            <a:spAutoFit/>
          </a:bodyPr>
          <a:lstStyle/>
          <a:p>
            <a:pPr algn="r"/>
            <a:r>
              <a:rPr sz="830" b="0">
                <a:solidFill>
                  <a:srgbClr val="66707A"/>
                </a:solidFill>
                <a:latin typeface="Yu Gothic"/>
              </a:rPr>
              <a:t>30分</a:t>
            </a:r>
          </a:p>
        </p:txBody>
      </p:sp>
      <p:sp>
        <p:nvSpPr>
          <p:cNvPr id="22" name="Rounded Rectangle 21"/>
          <p:cNvSpPr/>
          <p:nvPr/>
        </p:nvSpPr>
        <p:spPr>
          <a:xfrm>
            <a:off x="502920" y="3026664"/>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1792" y="3099816"/>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11:00</a:t>
            </a:r>
          </a:p>
        </p:txBody>
      </p:sp>
      <p:sp>
        <p:nvSpPr>
          <p:cNvPr id="24" name="TextBox 23"/>
          <p:cNvSpPr txBox="1"/>
          <p:nvPr/>
        </p:nvSpPr>
        <p:spPr>
          <a:xfrm>
            <a:off x="1417320" y="3099816"/>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移動</a:t>
            </a:r>
          </a:p>
        </p:txBody>
      </p:sp>
      <p:sp>
        <p:nvSpPr>
          <p:cNvPr id="25" name="TextBox 24"/>
          <p:cNvSpPr txBox="1"/>
          <p:nvPr/>
        </p:nvSpPr>
        <p:spPr>
          <a:xfrm>
            <a:off x="2084831" y="3090672"/>
            <a:ext cx="1234440" cy="274320"/>
          </a:xfrm>
          <a:prstGeom prst="rect">
            <a:avLst/>
          </a:prstGeom>
          <a:noFill/>
        </p:spPr>
        <p:txBody>
          <a:bodyPr wrap="none" lIns="73152" rIns="73152" tIns="36576" bIns="36576">
            <a:spAutoFit/>
          </a:bodyPr>
          <a:lstStyle/>
          <a:p>
            <a:pPr algn="l"/>
            <a:r>
              <a:rPr sz="900" b="1">
                <a:solidFill>
                  <a:srgbClr val="143753"/>
                </a:solidFill>
                <a:latin typeface="Yu Gothic"/>
              </a:rPr>
              <a:t>弟子屈 → 足寄</a:t>
            </a:r>
          </a:p>
        </p:txBody>
      </p:sp>
      <p:sp>
        <p:nvSpPr>
          <p:cNvPr id="26" name="TextBox 25"/>
          <p:cNvSpPr txBox="1"/>
          <p:nvPr/>
        </p:nvSpPr>
        <p:spPr>
          <a:xfrm>
            <a:off x="3246120" y="3081528"/>
            <a:ext cx="3063240" cy="310896"/>
          </a:xfrm>
          <a:prstGeom prst="rect">
            <a:avLst/>
          </a:prstGeom>
          <a:noFill/>
        </p:spPr>
        <p:txBody>
          <a:bodyPr wrap="none" lIns="73152" rIns="73152" tIns="36576" bIns="36576">
            <a:spAutoFit/>
          </a:bodyPr>
          <a:lstStyle/>
          <a:p>
            <a:pPr algn="l"/>
            <a:r>
              <a:rPr sz="830" b="0">
                <a:solidFill>
                  <a:srgbClr val="222B34"/>
                </a:solidFill>
                <a:latin typeface="Yu Gothic"/>
              </a:rPr>
              <a:t>休憩を挟みながら移動</a:t>
            </a:r>
          </a:p>
        </p:txBody>
      </p:sp>
      <p:sp>
        <p:nvSpPr>
          <p:cNvPr id="27" name="TextBox 26"/>
          <p:cNvSpPr txBox="1"/>
          <p:nvPr/>
        </p:nvSpPr>
        <p:spPr>
          <a:xfrm>
            <a:off x="6355080" y="3099816"/>
            <a:ext cx="411480" cy="256032"/>
          </a:xfrm>
          <a:prstGeom prst="rect">
            <a:avLst/>
          </a:prstGeom>
          <a:noFill/>
        </p:spPr>
        <p:txBody>
          <a:bodyPr wrap="none" lIns="73152" rIns="73152" tIns="36576" bIns="36576">
            <a:spAutoFit/>
          </a:bodyPr>
          <a:lstStyle/>
          <a:p>
            <a:pPr algn="r"/>
            <a:r>
              <a:rPr sz="830" b="0">
                <a:solidFill>
                  <a:srgbClr val="66707A"/>
                </a:solidFill>
                <a:latin typeface="Yu Gothic"/>
              </a:rPr>
              <a:t>約90分</a:t>
            </a:r>
          </a:p>
        </p:txBody>
      </p:sp>
      <p:sp>
        <p:nvSpPr>
          <p:cNvPr id="28" name="Rounded Rectangle 27"/>
          <p:cNvSpPr/>
          <p:nvPr/>
        </p:nvSpPr>
        <p:spPr>
          <a:xfrm>
            <a:off x="502920" y="3593592"/>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1792" y="3666744"/>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12:30</a:t>
            </a:r>
          </a:p>
        </p:txBody>
      </p:sp>
      <p:sp>
        <p:nvSpPr>
          <p:cNvPr id="30" name="TextBox 29"/>
          <p:cNvSpPr txBox="1"/>
          <p:nvPr/>
        </p:nvSpPr>
        <p:spPr>
          <a:xfrm>
            <a:off x="1417320" y="3666744"/>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昼食</a:t>
            </a:r>
          </a:p>
        </p:txBody>
      </p:sp>
      <p:sp>
        <p:nvSpPr>
          <p:cNvPr id="31" name="TextBox 30"/>
          <p:cNvSpPr txBox="1"/>
          <p:nvPr/>
        </p:nvSpPr>
        <p:spPr>
          <a:xfrm>
            <a:off x="2084831" y="3657600"/>
            <a:ext cx="1234440" cy="274320"/>
          </a:xfrm>
          <a:prstGeom prst="rect">
            <a:avLst/>
          </a:prstGeom>
          <a:noFill/>
        </p:spPr>
        <p:txBody>
          <a:bodyPr wrap="none" lIns="73152" rIns="73152" tIns="36576" bIns="36576">
            <a:spAutoFit/>
          </a:bodyPr>
          <a:lstStyle/>
          <a:p>
            <a:pPr algn="l"/>
            <a:r>
              <a:rPr sz="900" b="1">
                <a:solidFill>
                  <a:srgbClr val="143753"/>
                </a:solidFill>
                <a:latin typeface="Yu Gothic"/>
              </a:rPr>
              <a:t>足寄 / 道の駅</a:t>
            </a:r>
          </a:p>
        </p:txBody>
      </p:sp>
      <p:sp>
        <p:nvSpPr>
          <p:cNvPr id="32" name="TextBox 31"/>
          <p:cNvSpPr txBox="1"/>
          <p:nvPr/>
        </p:nvSpPr>
        <p:spPr>
          <a:xfrm>
            <a:off x="3246120" y="3648456"/>
            <a:ext cx="3063240" cy="310896"/>
          </a:xfrm>
          <a:prstGeom prst="rect">
            <a:avLst/>
          </a:prstGeom>
          <a:noFill/>
        </p:spPr>
        <p:txBody>
          <a:bodyPr wrap="none" lIns="73152" rIns="73152" tIns="36576" bIns="36576">
            <a:spAutoFit/>
          </a:bodyPr>
          <a:lstStyle/>
          <a:p>
            <a:pPr algn="l"/>
            <a:r>
              <a:rPr sz="830" b="0">
                <a:solidFill>
                  <a:srgbClr val="222B34"/>
                </a:solidFill>
                <a:latin typeface="Yu Gothic"/>
              </a:rPr>
              <a:t>軽めの昼食、給油、休憩</a:t>
            </a:r>
          </a:p>
        </p:txBody>
      </p:sp>
      <p:sp>
        <p:nvSpPr>
          <p:cNvPr id="33" name="TextBox 32"/>
          <p:cNvSpPr txBox="1"/>
          <p:nvPr/>
        </p:nvSpPr>
        <p:spPr>
          <a:xfrm>
            <a:off x="6355080" y="3666744"/>
            <a:ext cx="411480" cy="256032"/>
          </a:xfrm>
          <a:prstGeom prst="rect">
            <a:avLst/>
          </a:prstGeom>
          <a:noFill/>
        </p:spPr>
        <p:txBody>
          <a:bodyPr wrap="none" lIns="73152" rIns="73152" tIns="36576" bIns="36576">
            <a:spAutoFit/>
          </a:bodyPr>
          <a:lstStyle/>
          <a:p>
            <a:pPr algn="r"/>
            <a:r>
              <a:rPr sz="830" b="0">
                <a:solidFill>
                  <a:srgbClr val="66707A"/>
                </a:solidFill>
                <a:latin typeface="Yu Gothic"/>
              </a:rPr>
              <a:t>60分</a:t>
            </a:r>
          </a:p>
        </p:txBody>
      </p:sp>
      <p:sp>
        <p:nvSpPr>
          <p:cNvPr id="34" name="Rounded Rectangle 33"/>
          <p:cNvSpPr/>
          <p:nvPr/>
        </p:nvSpPr>
        <p:spPr>
          <a:xfrm>
            <a:off x="502920" y="4160520"/>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1792" y="4233672"/>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13:30</a:t>
            </a:r>
          </a:p>
        </p:txBody>
      </p:sp>
      <p:sp>
        <p:nvSpPr>
          <p:cNvPr id="36" name="TextBox 35"/>
          <p:cNvSpPr txBox="1"/>
          <p:nvPr/>
        </p:nvSpPr>
        <p:spPr>
          <a:xfrm>
            <a:off x="1417320" y="4233672"/>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移動</a:t>
            </a:r>
          </a:p>
        </p:txBody>
      </p:sp>
      <p:sp>
        <p:nvSpPr>
          <p:cNvPr id="37" name="TextBox 36"/>
          <p:cNvSpPr txBox="1"/>
          <p:nvPr/>
        </p:nvSpPr>
        <p:spPr>
          <a:xfrm>
            <a:off x="2084831" y="4224528"/>
            <a:ext cx="1234440" cy="274320"/>
          </a:xfrm>
          <a:prstGeom prst="rect">
            <a:avLst/>
          </a:prstGeom>
          <a:noFill/>
        </p:spPr>
        <p:txBody>
          <a:bodyPr wrap="none" lIns="73152" rIns="73152" tIns="36576" bIns="36576">
            <a:spAutoFit/>
          </a:bodyPr>
          <a:lstStyle/>
          <a:p>
            <a:pPr algn="l"/>
            <a:r>
              <a:rPr sz="900" b="1">
                <a:solidFill>
                  <a:srgbClr val="143753"/>
                </a:solidFill>
                <a:latin typeface="Yu Gothic"/>
              </a:rPr>
              <a:t>足寄 → 帯広</a:t>
            </a:r>
          </a:p>
        </p:txBody>
      </p:sp>
      <p:sp>
        <p:nvSpPr>
          <p:cNvPr id="38" name="TextBox 37"/>
          <p:cNvSpPr txBox="1"/>
          <p:nvPr/>
        </p:nvSpPr>
        <p:spPr>
          <a:xfrm>
            <a:off x="3246120" y="4215384"/>
            <a:ext cx="3063240" cy="310896"/>
          </a:xfrm>
          <a:prstGeom prst="rect">
            <a:avLst/>
          </a:prstGeom>
          <a:noFill/>
        </p:spPr>
        <p:txBody>
          <a:bodyPr wrap="none" lIns="73152" rIns="73152" tIns="36576" bIns="36576">
            <a:spAutoFit/>
          </a:bodyPr>
          <a:lstStyle/>
          <a:p>
            <a:pPr algn="l"/>
            <a:r>
              <a:rPr sz="830" b="0">
                <a:solidFill>
                  <a:srgbClr val="222B34"/>
                </a:solidFill>
                <a:latin typeface="Yu Gothic"/>
              </a:rPr>
              <a:t>十勝平野へ移動</a:t>
            </a:r>
          </a:p>
        </p:txBody>
      </p:sp>
      <p:sp>
        <p:nvSpPr>
          <p:cNvPr id="39" name="TextBox 38"/>
          <p:cNvSpPr txBox="1"/>
          <p:nvPr/>
        </p:nvSpPr>
        <p:spPr>
          <a:xfrm>
            <a:off x="6355080" y="4233672"/>
            <a:ext cx="411480" cy="256032"/>
          </a:xfrm>
          <a:prstGeom prst="rect">
            <a:avLst/>
          </a:prstGeom>
          <a:noFill/>
        </p:spPr>
        <p:txBody>
          <a:bodyPr wrap="none" lIns="73152" rIns="73152" tIns="36576" bIns="36576">
            <a:spAutoFit/>
          </a:bodyPr>
          <a:lstStyle/>
          <a:p>
            <a:pPr algn="r"/>
            <a:r>
              <a:rPr sz="830" b="0">
                <a:solidFill>
                  <a:srgbClr val="66707A"/>
                </a:solidFill>
                <a:latin typeface="Yu Gothic"/>
              </a:rPr>
              <a:t>約90分</a:t>
            </a:r>
          </a:p>
        </p:txBody>
      </p:sp>
      <p:sp>
        <p:nvSpPr>
          <p:cNvPr id="40" name="Rounded Rectangle 39"/>
          <p:cNvSpPr/>
          <p:nvPr/>
        </p:nvSpPr>
        <p:spPr>
          <a:xfrm>
            <a:off x="502920" y="4727448"/>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21792" y="4800600"/>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15:00</a:t>
            </a:r>
          </a:p>
        </p:txBody>
      </p:sp>
      <p:sp>
        <p:nvSpPr>
          <p:cNvPr id="42" name="TextBox 41"/>
          <p:cNvSpPr txBox="1"/>
          <p:nvPr/>
        </p:nvSpPr>
        <p:spPr>
          <a:xfrm>
            <a:off x="1417320" y="4800600"/>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休憩</a:t>
            </a:r>
          </a:p>
        </p:txBody>
      </p:sp>
      <p:sp>
        <p:nvSpPr>
          <p:cNvPr id="43" name="TextBox 42"/>
          <p:cNvSpPr txBox="1"/>
          <p:nvPr/>
        </p:nvSpPr>
        <p:spPr>
          <a:xfrm>
            <a:off x="2084831" y="4791456"/>
            <a:ext cx="1234440" cy="274320"/>
          </a:xfrm>
          <a:prstGeom prst="rect">
            <a:avLst/>
          </a:prstGeom>
          <a:noFill/>
        </p:spPr>
        <p:txBody>
          <a:bodyPr wrap="none" lIns="73152" rIns="73152" tIns="36576" bIns="36576">
            <a:spAutoFit/>
          </a:bodyPr>
          <a:lstStyle/>
          <a:p>
            <a:pPr algn="l"/>
            <a:r>
              <a:rPr sz="900" b="1">
                <a:solidFill>
                  <a:srgbClr val="143753"/>
                </a:solidFill>
                <a:latin typeface="Yu Gothic"/>
              </a:rPr>
              <a:t>帯広市内</a:t>
            </a:r>
          </a:p>
        </p:txBody>
      </p:sp>
      <p:sp>
        <p:nvSpPr>
          <p:cNvPr id="44" name="TextBox 43"/>
          <p:cNvSpPr txBox="1"/>
          <p:nvPr/>
        </p:nvSpPr>
        <p:spPr>
          <a:xfrm>
            <a:off x="3246120" y="4782312"/>
            <a:ext cx="3063240" cy="310896"/>
          </a:xfrm>
          <a:prstGeom prst="rect">
            <a:avLst/>
          </a:prstGeom>
          <a:noFill/>
        </p:spPr>
        <p:txBody>
          <a:bodyPr wrap="none" lIns="73152" rIns="73152" tIns="36576" bIns="36576">
            <a:spAutoFit/>
          </a:bodyPr>
          <a:lstStyle/>
          <a:p>
            <a:pPr algn="l"/>
            <a:r>
              <a:rPr sz="830" b="0">
                <a:solidFill>
                  <a:srgbClr val="222B34"/>
                </a:solidFill>
                <a:latin typeface="Yu Gothic"/>
              </a:rPr>
              <a:t>ホテルチェックイン前後に休憩</a:t>
            </a:r>
          </a:p>
        </p:txBody>
      </p:sp>
      <p:sp>
        <p:nvSpPr>
          <p:cNvPr id="45" name="TextBox 44"/>
          <p:cNvSpPr txBox="1"/>
          <p:nvPr/>
        </p:nvSpPr>
        <p:spPr>
          <a:xfrm>
            <a:off x="6355080" y="4800600"/>
            <a:ext cx="411480" cy="256032"/>
          </a:xfrm>
          <a:prstGeom prst="rect">
            <a:avLst/>
          </a:prstGeom>
          <a:noFill/>
        </p:spPr>
        <p:txBody>
          <a:bodyPr wrap="none" lIns="73152" rIns="73152" tIns="36576" bIns="36576">
            <a:spAutoFit/>
          </a:bodyPr>
          <a:lstStyle/>
          <a:p>
            <a:pPr algn="r"/>
            <a:r>
              <a:rPr sz="830" b="0">
                <a:solidFill>
                  <a:srgbClr val="66707A"/>
                </a:solidFill>
                <a:latin typeface="Yu Gothic"/>
              </a:rPr>
              <a:t>60分</a:t>
            </a:r>
          </a:p>
        </p:txBody>
      </p:sp>
      <p:sp>
        <p:nvSpPr>
          <p:cNvPr id="46" name="Rounded Rectangle 45"/>
          <p:cNvSpPr/>
          <p:nvPr/>
        </p:nvSpPr>
        <p:spPr>
          <a:xfrm>
            <a:off x="502920" y="5294376"/>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21792" y="5367528"/>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16:30</a:t>
            </a:r>
          </a:p>
        </p:txBody>
      </p:sp>
      <p:sp>
        <p:nvSpPr>
          <p:cNvPr id="48" name="TextBox 47"/>
          <p:cNvSpPr txBox="1"/>
          <p:nvPr/>
        </p:nvSpPr>
        <p:spPr>
          <a:xfrm>
            <a:off x="1417320" y="5367528"/>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観光</a:t>
            </a:r>
          </a:p>
        </p:txBody>
      </p:sp>
      <p:sp>
        <p:nvSpPr>
          <p:cNvPr id="49" name="TextBox 48"/>
          <p:cNvSpPr txBox="1"/>
          <p:nvPr/>
        </p:nvSpPr>
        <p:spPr>
          <a:xfrm>
            <a:off x="2084831" y="5358384"/>
            <a:ext cx="1234440" cy="274320"/>
          </a:xfrm>
          <a:prstGeom prst="rect">
            <a:avLst/>
          </a:prstGeom>
          <a:noFill/>
        </p:spPr>
        <p:txBody>
          <a:bodyPr wrap="none" lIns="73152" rIns="73152" tIns="36576" bIns="36576">
            <a:spAutoFit/>
          </a:bodyPr>
          <a:lstStyle/>
          <a:p>
            <a:pPr algn="l"/>
            <a:r>
              <a:rPr sz="900" b="1">
                <a:solidFill>
                  <a:srgbClr val="143753"/>
                </a:solidFill>
                <a:latin typeface="Yu Gothic"/>
              </a:rPr>
              <a:t>帯広市内</a:t>
            </a:r>
          </a:p>
        </p:txBody>
      </p:sp>
      <p:sp>
        <p:nvSpPr>
          <p:cNvPr id="50" name="TextBox 49"/>
          <p:cNvSpPr txBox="1"/>
          <p:nvPr/>
        </p:nvSpPr>
        <p:spPr>
          <a:xfrm>
            <a:off x="3246120" y="5349240"/>
            <a:ext cx="3063240" cy="310896"/>
          </a:xfrm>
          <a:prstGeom prst="rect">
            <a:avLst/>
          </a:prstGeom>
          <a:noFill/>
        </p:spPr>
        <p:txBody>
          <a:bodyPr wrap="none" lIns="73152" rIns="73152" tIns="36576" bIns="36576">
            <a:spAutoFit/>
          </a:bodyPr>
          <a:lstStyle/>
          <a:p>
            <a:pPr algn="l"/>
            <a:r>
              <a:rPr sz="830" b="0">
                <a:solidFill>
                  <a:srgbClr val="222B34"/>
                </a:solidFill>
                <a:latin typeface="Yu Gothic"/>
              </a:rPr>
              <a:t>六花亭、ばんえい競馬周辺、真鍋庭園など体力で選択</a:t>
            </a:r>
          </a:p>
        </p:txBody>
      </p:sp>
      <p:sp>
        <p:nvSpPr>
          <p:cNvPr id="51" name="TextBox 50"/>
          <p:cNvSpPr txBox="1"/>
          <p:nvPr/>
        </p:nvSpPr>
        <p:spPr>
          <a:xfrm>
            <a:off x="6355080" y="5367528"/>
            <a:ext cx="411480" cy="256032"/>
          </a:xfrm>
          <a:prstGeom prst="rect">
            <a:avLst/>
          </a:prstGeom>
          <a:noFill/>
        </p:spPr>
        <p:txBody>
          <a:bodyPr wrap="none" lIns="73152" rIns="73152" tIns="36576" bIns="36576">
            <a:spAutoFit/>
          </a:bodyPr>
          <a:lstStyle/>
          <a:p>
            <a:pPr algn="r"/>
            <a:r>
              <a:rPr sz="830" b="0">
                <a:solidFill>
                  <a:srgbClr val="66707A"/>
                </a:solidFill>
                <a:latin typeface="Yu Gothic"/>
              </a:rPr>
              <a:t>90分</a:t>
            </a:r>
          </a:p>
        </p:txBody>
      </p:sp>
      <p:sp>
        <p:nvSpPr>
          <p:cNvPr id="52" name="Rounded Rectangle 51"/>
          <p:cNvSpPr/>
          <p:nvPr/>
        </p:nvSpPr>
        <p:spPr>
          <a:xfrm>
            <a:off x="502920" y="5861304"/>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1792" y="5934456"/>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18:30</a:t>
            </a:r>
          </a:p>
        </p:txBody>
      </p:sp>
      <p:sp>
        <p:nvSpPr>
          <p:cNvPr id="54" name="TextBox 53"/>
          <p:cNvSpPr txBox="1"/>
          <p:nvPr/>
        </p:nvSpPr>
        <p:spPr>
          <a:xfrm>
            <a:off x="1417320" y="5934456"/>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夕食</a:t>
            </a:r>
          </a:p>
        </p:txBody>
      </p:sp>
      <p:sp>
        <p:nvSpPr>
          <p:cNvPr id="55" name="TextBox 54"/>
          <p:cNvSpPr txBox="1"/>
          <p:nvPr/>
        </p:nvSpPr>
        <p:spPr>
          <a:xfrm>
            <a:off x="2084831" y="5925312"/>
            <a:ext cx="1234440" cy="274320"/>
          </a:xfrm>
          <a:prstGeom prst="rect">
            <a:avLst/>
          </a:prstGeom>
          <a:noFill/>
        </p:spPr>
        <p:txBody>
          <a:bodyPr wrap="none" lIns="73152" rIns="73152" tIns="36576" bIns="36576">
            <a:spAutoFit/>
          </a:bodyPr>
          <a:lstStyle/>
          <a:p>
            <a:pPr algn="l"/>
            <a:r>
              <a:rPr sz="900" b="1">
                <a:solidFill>
                  <a:srgbClr val="143753"/>
                </a:solidFill>
                <a:latin typeface="Yu Gothic"/>
              </a:rPr>
              <a:t>帯広市内</a:t>
            </a:r>
          </a:p>
        </p:txBody>
      </p:sp>
      <p:sp>
        <p:nvSpPr>
          <p:cNvPr id="56" name="TextBox 55"/>
          <p:cNvSpPr txBox="1"/>
          <p:nvPr/>
        </p:nvSpPr>
        <p:spPr>
          <a:xfrm>
            <a:off x="3246120" y="5916168"/>
            <a:ext cx="3063240" cy="310896"/>
          </a:xfrm>
          <a:prstGeom prst="rect">
            <a:avLst/>
          </a:prstGeom>
          <a:noFill/>
        </p:spPr>
        <p:txBody>
          <a:bodyPr wrap="none" lIns="73152" rIns="73152" tIns="36576" bIns="36576">
            <a:spAutoFit/>
          </a:bodyPr>
          <a:lstStyle/>
          <a:p>
            <a:pPr algn="l"/>
            <a:r>
              <a:rPr sz="830" b="0">
                <a:solidFill>
                  <a:srgbClr val="222B34"/>
                </a:solidFill>
                <a:latin typeface="Yu Gothic"/>
              </a:rPr>
              <a:t>豚丼または十勝グルメ</a:t>
            </a:r>
          </a:p>
        </p:txBody>
      </p:sp>
      <p:sp>
        <p:nvSpPr>
          <p:cNvPr id="57" name="TextBox 56"/>
          <p:cNvSpPr txBox="1"/>
          <p:nvPr/>
        </p:nvSpPr>
        <p:spPr>
          <a:xfrm>
            <a:off x="6355080" y="5934456"/>
            <a:ext cx="411480" cy="256032"/>
          </a:xfrm>
          <a:prstGeom prst="rect">
            <a:avLst/>
          </a:prstGeom>
          <a:noFill/>
        </p:spPr>
        <p:txBody>
          <a:bodyPr wrap="none" lIns="73152" rIns="73152" tIns="36576" bIns="36576">
            <a:spAutoFit/>
          </a:bodyPr>
          <a:lstStyle/>
          <a:p>
            <a:pPr algn="r"/>
            <a:r>
              <a:rPr sz="830" b="0">
                <a:solidFill>
                  <a:srgbClr val="66707A"/>
                </a:solidFill>
                <a:latin typeface="Yu Gothic"/>
              </a:rPr>
              <a:t>90分</a:t>
            </a:r>
          </a:p>
        </p:txBody>
      </p:sp>
      <p:sp>
        <p:nvSpPr>
          <p:cNvPr id="58" name="Rounded Rectangle 57"/>
          <p:cNvSpPr/>
          <p:nvPr/>
        </p:nvSpPr>
        <p:spPr>
          <a:xfrm>
            <a:off x="502920" y="6428232"/>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21792" y="6501384"/>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20:30</a:t>
            </a:r>
          </a:p>
        </p:txBody>
      </p:sp>
      <p:sp>
        <p:nvSpPr>
          <p:cNvPr id="60" name="TextBox 59"/>
          <p:cNvSpPr txBox="1"/>
          <p:nvPr/>
        </p:nvSpPr>
        <p:spPr>
          <a:xfrm>
            <a:off x="1417320" y="6501384"/>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休憩</a:t>
            </a:r>
          </a:p>
        </p:txBody>
      </p:sp>
      <p:sp>
        <p:nvSpPr>
          <p:cNvPr id="61" name="TextBox 60"/>
          <p:cNvSpPr txBox="1"/>
          <p:nvPr/>
        </p:nvSpPr>
        <p:spPr>
          <a:xfrm>
            <a:off x="2084831" y="6492240"/>
            <a:ext cx="1234440" cy="274320"/>
          </a:xfrm>
          <a:prstGeom prst="rect">
            <a:avLst/>
          </a:prstGeom>
          <a:noFill/>
        </p:spPr>
        <p:txBody>
          <a:bodyPr wrap="none" lIns="73152" rIns="73152" tIns="36576" bIns="36576">
            <a:spAutoFit/>
          </a:bodyPr>
          <a:lstStyle/>
          <a:p>
            <a:pPr algn="l"/>
            <a:r>
              <a:rPr sz="900" b="1">
                <a:solidFill>
                  <a:srgbClr val="143753"/>
                </a:solidFill>
                <a:latin typeface="Yu Gothic"/>
              </a:rPr>
              <a:t>帯広宿泊先</a:t>
            </a:r>
          </a:p>
        </p:txBody>
      </p:sp>
      <p:sp>
        <p:nvSpPr>
          <p:cNvPr id="62" name="TextBox 61"/>
          <p:cNvSpPr txBox="1"/>
          <p:nvPr/>
        </p:nvSpPr>
        <p:spPr>
          <a:xfrm>
            <a:off x="3246120" y="6483096"/>
            <a:ext cx="3063240" cy="310896"/>
          </a:xfrm>
          <a:prstGeom prst="rect">
            <a:avLst/>
          </a:prstGeom>
          <a:noFill/>
        </p:spPr>
        <p:txBody>
          <a:bodyPr wrap="none" lIns="73152" rIns="73152" tIns="36576" bIns="36576">
            <a:spAutoFit/>
          </a:bodyPr>
          <a:lstStyle/>
          <a:p>
            <a:pPr algn="l"/>
            <a:r>
              <a:rPr sz="830" b="0">
                <a:solidFill>
                  <a:srgbClr val="222B34"/>
                </a:solidFill>
                <a:latin typeface="Yu Gothic"/>
              </a:rPr>
              <a:t>翌日の苫小牧移動に備えて休む</a:t>
            </a:r>
          </a:p>
        </p:txBody>
      </p:sp>
      <p:sp>
        <p:nvSpPr>
          <p:cNvPr id="63" name="TextBox 62"/>
          <p:cNvSpPr txBox="1"/>
          <p:nvPr/>
        </p:nvSpPr>
        <p:spPr>
          <a:xfrm>
            <a:off x="6355080" y="6501384"/>
            <a:ext cx="411480" cy="256032"/>
          </a:xfrm>
          <a:prstGeom prst="rect">
            <a:avLst/>
          </a:prstGeom>
          <a:noFill/>
        </p:spPr>
        <p:txBody>
          <a:bodyPr wrap="none" lIns="73152" rIns="73152" tIns="36576" bIns="36576">
            <a:spAutoFit/>
          </a:bodyPr>
          <a:lstStyle/>
          <a:p>
            <a:pPr algn="r"/>
            <a:r>
              <a:rPr sz="830" b="0">
                <a:solidFill>
                  <a:srgbClr val="66707A"/>
                </a:solidFill>
                <a:latin typeface="Yu Gothic"/>
              </a:rPr>
              <a:t>-</a:t>
            </a:r>
          </a:p>
        </p:txBody>
      </p:sp>
      <p:pic>
        <p:nvPicPr>
          <p:cNvPr id="64" name="Picture 63" descr="2026-08-11_十勝平野.png"/>
          <p:cNvPicPr>
            <a:picLocks noChangeAspect="1"/>
          </p:cNvPicPr>
          <p:nvPr/>
        </p:nvPicPr>
        <p:blipFill>
          <a:blip r:embed="rId2"/>
          <a:stretch>
            <a:fillRect/>
          </a:stretch>
        </p:blipFill>
        <p:spPr>
          <a:xfrm>
            <a:off x="7360920" y="502920"/>
            <a:ext cx="4160520" cy="2331720"/>
          </a:xfrm>
          <a:prstGeom prst="rect">
            <a:avLst/>
          </a:prstGeom>
        </p:spPr>
      </p:pic>
      <p:sp>
        <p:nvSpPr>
          <p:cNvPr id="65" name="TextBox 64"/>
          <p:cNvSpPr txBox="1"/>
          <p:nvPr/>
        </p:nvSpPr>
        <p:spPr>
          <a:xfrm>
            <a:off x="7360920" y="3063240"/>
            <a:ext cx="4343400" cy="292608"/>
          </a:xfrm>
          <a:prstGeom prst="rect">
            <a:avLst/>
          </a:prstGeom>
          <a:noFill/>
        </p:spPr>
        <p:txBody>
          <a:bodyPr wrap="none" lIns="73152" rIns="73152" tIns="36576" bIns="36576">
            <a:spAutoFit/>
          </a:bodyPr>
          <a:lstStyle/>
          <a:p>
            <a:pPr algn="l"/>
            <a:r>
              <a:rPr sz="1500" b="1">
                <a:solidFill>
                  <a:srgbClr val="143753"/>
                </a:solidFill>
                <a:latin typeface="Yu Gothic"/>
              </a:rPr>
              <a:t>レストラン候補</a:t>
            </a:r>
          </a:p>
        </p:txBody>
      </p:sp>
      <p:sp>
        <p:nvSpPr>
          <p:cNvPr id="66" name="Rounded Rectangle 65"/>
          <p:cNvSpPr/>
          <p:nvPr/>
        </p:nvSpPr>
        <p:spPr>
          <a:xfrm>
            <a:off x="7360920" y="344728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434072" y="3502152"/>
            <a:ext cx="566928" cy="228600"/>
          </a:xfrm>
          <a:prstGeom prst="rect">
            <a:avLst/>
          </a:prstGeom>
          <a:noFill/>
        </p:spPr>
        <p:txBody>
          <a:bodyPr wrap="none" lIns="73152" rIns="73152" tIns="36576" bIns="36576">
            <a:spAutoFit/>
          </a:bodyPr>
          <a:lstStyle/>
          <a:p>
            <a:pPr algn="l"/>
            <a:r>
              <a:rPr sz="850" b="1">
                <a:solidFill>
                  <a:srgbClr val="D86352"/>
                </a:solidFill>
                <a:latin typeface="Yu Gothic"/>
              </a:rPr>
              <a:t>昼食</a:t>
            </a:r>
          </a:p>
        </p:txBody>
      </p:sp>
      <p:sp>
        <p:nvSpPr>
          <p:cNvPr id="68" name="TextBox 67"/>
          <p:cNvSpPr txBox="1"/>
          <p:nvPr/>
        </p:nvSpPr>
        <p:spPr>
          <a:xfrm>
            <a:off x="8001000" y="349300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道の駅あしょろ銀河ホール21周辺</a:t>
            </a:r>
          </a:p>
        </p:txBody>
      </p:sp>
      <p:sp>
        <p:nvSpPr>
          <p:cNvPr id="69" name="TextBox 68"/>
          <p:cNvSpPr txBox="1"/>
          <p:nvPr/>
        </p:nvSpPr>
        <p:spPr>
          <a:xfrm>
            <a:off x="9509760" y="349300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移動途中で休みやすい</a:t>
            </a:r>
          </a:p>
        </p:txBody>
      </p:sp>
      <p:sp>
        <p:nvSpPr>
          <p:cNvPr id="70" name="Rounded Rectangle 69"/>
          <p:cNvSpPr/>
          <p:nvPr/>
        </p:nvSpPr>
        <p:spPr>
          <a:xfrm>
            <a:off x="7360920" y="395020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434072" y="4005072"/>
            <a:ext cx="566928" cy="228600"/>
          </a:xfrm>
          <a:prstGeom prst="rect">
            <a:avLst/>
          </a:prstGeom>
          <a:noFill/>
        </p:spPr>
        <p:txBody>
          <a:bodyPr wrap="none" lIns="73152" rIns="73152" tIns="36576" bIns="36576">
            <a:spAutoFit/>
          </a:bodyPr>
          <a:lstStyle/>
          <a:p>
            <a:pPr algn="l"/>
            <a:r>
              <a:rPr sz="850" b="1">
                <a:solidFill>
                  <a:srgbClr val="D86352"/>
                </a:solidFill>
                <a:latin typeface="Yu Gothic"/>
              </a:rPr>
              <a:t>夕食</a:t>
            </a:r>
          </a:p>
        </p:txBody>
      </p:sp>
      <p:sp>
        <p:nvSpPr>
          <p:cNvPr id="72" name="TextBox 71"/>
          <p:cNvSpPr txBox="1"/>
          <p:nvPr/>
        </p:nvSpPr>
        <p:spPr>
          <a:xfrm>
            <a:off x="8001000" y="399592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帯広豚丼候補</a:t>
            </a:r>
          </a:p>
        </p:txBody>
      </p:sp>
      <p:sp>
        <p:nvSpPr>
          <p:cNvPr id="73" name="TextBox 72"/>
          <p:cNvSpPr txBox="1"/>
          <p:nvPr/>
        </p:nvSpPr>
        <p:spPr>
          <a:xfrm>
            <a:off x="9509760" y="399592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この日の本命。混雑時は時間をずらす</a:t>
            </a:r>
          </a:p>
        </p:txBody>
      </p:sp>
      <p:sp>
        <p:nvSpPr>
          <p:cNvPr id="74" name="Rounded Rectangle 73"/>
          <p:cNvSpPr/>
          <p:nvPr/>
        </p:nvSpPr>
        <p:spPr>
          <a:xfrm>
            <a:off x="7360920" y="445312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7434072" y="4507992"/>
            <a:ext cx="566928" cy="228600"/>
          </a:xfrm>
          <a:prstGeom prst="rect">
            <a:avLst/>
          </a:prstGeom>
          <a:noFill/>
        </p:spPr>
        <p:txBody>
          <a:bodyPr wrap="none" lIns="73152" rIns="73152" tIns="36576" bIns="36576">
            <a:spAutoFit/>
          </a:bodyPr>
          <a:lstStyle/>
          <a:p>
            <a:pPr algn="l"/>
            <a:r>
              <a:rPr sz="850" b="1">
                <a:solidFill>
                  <a:srgbClr val="D86352"/>
                </a:solidFill>
                <a:latin typeface="Yu Gothic"/>
              </a:rPr>
              <a:t>甘味</a:t>
            </a:r>
          </a:p>
        </p:txBody>
      </p:sp>
      <p:sp>
        <p:nvSpPr>
          <p:cNvPr id="76" name="TextBox 75"/>
          <p:cNvSpPr txBox="1"/>
          <p:nvPr/>
        </p:nvSpPr>
        <p:spPr>
          <a:xfrm>
            <a:off x="8001000" y="449884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六花亭 帯広本店候補</a:t>
            </a:r>
          </a:p>
        </p:txBody>
      </p:sp>
      <p:sp>
        <p:nvSpPr>
          <p:cNvPr id="77" name="TextBox 76"/>
          <p:cNvSpPr txBox="1"/>
          <p:nvPr/>
        </p:nvSpPr>
        <p:spPr>
          <a:xfrm>
            <a:off x="9509760" y="449884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お土産と休憩候補</a:t>
            </a:r>
          </a:p>
        </p:txBody>
      </p:sp>
      <p:sp>
        <p:nvSpPr>
          <p:cNvPr id="78" name="Rounded Rectangle 77"/>
          <p:cNvSpPr/>
          <p:nvPr/>
        </p:nvSpPr>
        <p:spPr>
          <a:xfrm>
            <a:off x="7360920" y="495604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7434072" y="5010912"/>
            <a:ext cx="566928" cy="228600"/>
          </a:xfrm>
          <a:prstGeom prst="rect">
            <a:avLst/>
          </a:prstGeom>
          <a:noFill/>
        </p:spPr>
        <p:txBody>
          <a:bodyPr wrap="none" lIns="73152" rIns="73152" tIns="36576" bIns="36576">
            <a:spAutoFit/>
          </a:bodyPr>
          <a:lstStyle/>
          <a:p>
            <a:pPr algn="l"/>
            <a:r>
              <a:rPr sz="850" b="1">
                <a:solidFill>
                  <a:srgbClr val="D86352"/>
                </a:solidFill>
                <a:latin typeface="Yu Gothic"/>
              </a:rPr>
              <a:t>予備</a:t>
            </a:r>
          </a:p>
        </p:txBody>
      </p:sp>
      <p:sp>
        <p:nvSpPr>
          <p:cNvPr id="80" name="TextBox 79"/>
          <p:cNvSpPr txBox="1"/>
          <p:nvPr/>
        </p:nvSpPr>
        <p:spPr>
          <a:xfrm>
            <a:off x="8001000" y="500176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ホテル周辺のテイクアウト</a:t>
            </a:r>
          </a:p>
        </p:txBody>
      </p:sp>
      <p:sp>
        <p:nvSpPr>
          <p:cNvPr id="81" name="TextBox 80"/>
          <p:cNvSpPr txBox="1"/>
          <p:nvPr/>
        </p:nvSpPr>
        <p:spPr>
          <a:xfrm>
            <a:off x="9509760" y="500176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疲れている場合の安全策</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2026-08-12_苫小牧港.png"/>
          <p:cNvPicPr>
            <a:picLocks noChangeAspect="1"/>
          </p:cNvPicPr>
          <p:nvPr/>
        </p:nvPicPr>
        <p:blipFill>
          <a:blip r:embed="rId2"/>
          <a:stretch>
            <a:fillRect/>
          </a:stretch>
        </p:blipFill>
        <p:spPr>
          <a:xfrm>
            <a:off x="7059168" y="0"/>
            <a:ext cx="5129784" cy="3886200"/>
          </a:xfrm>
          <a:prstGeom prst="rect">
            <a:avLst/>
          </a:prstGeom>
        </p:spPr>
      </p:pic>
      <p:sp>
        <p:nvSpPr>
          <p:cNvPr id="3" name="Rounded Rectangle 2"/>
          <p:cNvSpPr/>
          <p:nvPr/>
        </p:nvSpPr>
        <p:spPr>
          <a:xfrm>
            <a:off x="502920" y="347472"/>
            <a:ext cx="1325880" cy="329184"/>
          </a:xfrm>
          <a:prstGeom prst="roundRect">
            <a:avLst/>
          </a:prstGeom>
          <a:solidFill>
            <a:srgbClr val="D863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Yu Gothic"/>
              </a:rPr>
              <a:t>DAY 13</a:t>
            </a:r>
          </a:p>
        </p:txBody>
      </p:sp>
      <p:sp>
        <p:nvSpPr>
          <p:cNvPr id="4" name="TextBox 3"/>
          <p:cNvSpPr txBox="1"/>
          <p:nvPr/>
        </p:nvSpPr>
        <p:spPr>
          <a:xfrm>
            <a:off x="502920" y="749808"/>
            <a:ext cx="6126480" cy="548640"/>
          </a:xfrm>
          <a:prstGeom prst="rect">
            <a:avLst/>
          </a:prstGeom>
          <a:noFill/>
        </p:spPr>
        <p:txBody>
          <a:bodyPr wrap="none" lIns="73152" rIns="73152" tIns="36576" bIns="36576">
            <a:spAutoFit/>
          </a:bodyPr>
          <a:lstStyle/>
          <a:p>
            <a:pPr algn="l"/>
            <a:r>
              <a:rPr sz="2200" b="1">
                <a:solidFill>
                  <a:srgbClr val="143753"/>
                </a:solidFill>
                <a:latin typeface="Yu Gothic"/>
              </a:rPr>
              <a:t>2026-08-12  帯広から苫小牧へ、フェリーで仙台へ</a:t>
            </a:r>
          </a:p>
        </p:txBody>
      </p:sp>
      <p:sp>
        <p:nvSpPr>
          <p:cNvPr id="5" name="TextBox 4"/>
          <p:cNvSpPr txBox="1"/>
          <p:nvPr/>
        </p:nvSpPr>
        <p:spPr>
          <a:xfrm>
            <a:off x="530352" y="1234440"/>
            <a:ext cx="5989320" cy="384048"/>
          </a:xfrm>
          <a:prstGeom prst="rect">
            <a:avLst/>
          </a:prstGeom>
          <a:noFill/>
        </p:spPr>
        <p:txBody>
          <a:bodyPr wrap="none" lIns="73152" rIns="73152" tIns="36576" bIns="36576">
            <a:spAutoFit/>
          </a:bodyPr>
          <a:lstStyle/>
          <a:p>
            <a:pPr algn="l"/>
            <a:r>
              <a:rPr sz="1300" b="1">
                <a:solidFill>
                  <a:srgbClr val="2C73A0"/>
                </a:solidFill>
                <a:latin typeface="Yu Gothic"/>
              </a:rPr>
              <a:t>帯広 / 十勝 / 苫小牧 / 太平洋フェリー</a:t>
            </a:r>
          </a:p>
        </p:txBody>
      </p:sp>
      <p:sp>
        <p:nvSpPr>
          <p:cNvPr id="6" name="TextBox 5"/>
          <p:cNvSpPr txBox="1"/>
          <p:nvPr/>
        </p:nvSpPr>
        <p:spPr>
          <a:xfrm>
            <a:off x="530352" y="1719072"/>
            <a:ext cx="6080760" cy="896112"/>
          </a:xfrm>
          <a:prstGeom prst="rect">
            <a:avLst/>
          </a:prstGeom>
          <a:noFill/>
        </p:spPr>
        <p:txBody>
          <a:bodyPr wrap="none" lIns="73152" rIns="73152" tIns="36576" bIns="36576">
            <a:spAutoFit/>
          </a:bodyPr>
          <a:lstStyle/>
          <a:p>
            <a:pPr algn="l"/>
            <a:r>
              <a:rPr sz="1230" b="0">
                <a:solidFill>
                  <a:srgbClr val="222B34"/>
                </a:solidFill>
                <a:latin typeface="Yu Gothic"/>
              </a:rPr>
              <a:t>帯広で朝を迎え、十勝で軽く観光・買い物をしてから苫小牧へ移動します。夕方に苫小牧港へ入り、夜のフェリーで仙台へ向かいます。仙台到着は翌朝想定です。</a:t>
            </a:r>
          </a:p>
        </p:txBody>
      </p:sp>
      <p:sp>
        <p:nvSpPr>
          <p:cNvPr id="7" name="TextBox 6"/>
          <p:cNvSpPr txBox="1"/>
          <p:nvPr/>
        </p:nvSpPr>
        <p:spPr>
          <a:xfrm>
            <a:off x="530352" y="2852928"/>
            <a:ext cx="6126480" cy="292608"/>
          </a:xfrm>
          <a:prstGeom prst="rect">
            <a:avLst/>
          </a:prstGeom>
          <a:noFill/>
        </p:spPr>
        <p:txBody>
          <a:bodyPr wrap="none" lIns="73152" rIns="73152" tIns="36576" bIns="36576">
            <a:spAutoFit/>
          </a:bodyPr>
          <a:lstStyle/>
          <a:p>
            <a:pPr algn="l"/>
            <a:r>
              <a:rPr sz="1500" b="1">
                <a:solidFill>
                  <a:srgbClr val="143753"/>
                </a:solidFill>
                <a:latin typeface="Yu Gothic"/>
              </a:rPr>
              <a:t>この日の流れ</a:t>
            </a:r>
          </a:p>
        </p:txBody>
      </p:sp>
      <p:sp>
        <p:nvSpPr>
          <p:cNvPr id="8" name="Rounded Rectangle 7"/>
          <p:cNvSpPr/>
          <p:nvPr/>
        </p:nvSpPr>
        <p:spPr>
          <a:xfrm>
            <a:off x="502920" y="3246120"/>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3319272"/>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08:00</a:t>
            </a:r>
          </a:p>
        </p:txBody>
      </p:sp>
      <p:sp>
        <p:nvSpPr>
          <p:cNvPr id="10" name="TextBox 9"/>
          <p:cNvSpPr txBox="1"/>
          <p:nvPr/>
        </p:nvSpPr>
        <p:spPr>
          <a:xfrm>
            <a:off x="1417320" y="3319272"/>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朝食</a:t>
            </a:r>
          </a:p>
        </p:txBody>
      </p:sp>
      <p:sp>
        <p:nvSpPr>
          <p:cNvPr id="11" name="TextBox 10"/>
          <p:cNvSpPr txBox="1"/>
          <p:nvPr/>
        </p:nvSpPr>
        <p:spPr>
          <a:xfrm>
            <a:off x="2084831" y="3310128"/>
            <a:ext cx="1234440" cy="274320"/>
          </a:xfrm>
          <a:prstGeom prst="rect">
            <a:avLst/>
          </a:prstGeom>
          <a:noFill/>
        </p:spPr>
        <p:txBody>
          <a:bodyPr wrap="none" lIns="73152" rIns="73152" tIns="36576" bIns="36576">
            <a:spAutoFit/>
          </a:bodyPr>
          <a:lstStyle/>
          <a:p>
            <a:pPr algn="l"/>
            <a:r>
              <a:rPr sz="900" b="1">
                <a:solidFill>
                  <a:srgbClr val="143753"/>
                </a:solidFill>
                <a:latin typeface="Yu Gothic"/>
              </a:rPr>
              <a:t>帯広宿泊先</a:t>
            </a:r>
          </a:p>
        </p:txBody>
      </p:sp>
      <p:sp>
        <p:nvSpPr>
          <p:cNvPr id="12" name="TextBox 11"/>
          <p:cNvSpPr txBox="1"/>
          <p:nvPr/>
        </p:nvSpPr>
        <p:spPr>
          <a:xfrm>
            <a:off x="3246120" y="3300984"/>
            <a:ext cx="3063240" cy="310896"/>
          </a:xfrm>
          <a:prstGeom prst="rect">
            <a:avLst/>
          </a:prstGeom>
          <a:noFill/>
        </p:spPr>
        <p:txBody>
          <a:bodyPr wrap="none" lIns="73152" rIns="73152" tIns="36576" bIns="36576">
            <a:spAutoFit/>
          </a:bodyPr>
          <a:lstStyle/>
          <a:p>
            <a:pPr algn="l"/>
            <a:r>
              <a:rPr sz="830" b="0">
                <a:solidFill>
                  <a:srgbClr val="222B34"/>
                </a:solidFill>
                <a:latin typeface="Yu Gothic"/>
              </a:rPr>
              <a:t>朝食、荷物整理、フェリー用バッグを分ける</a:t>
            </a:r>
          </a:p>
        </p:txBody>
      </p:sp>
      <p:sp>
        <p:nvSpPr>
          <p:cNvPr id="13" name="TextBox 12"/>
          <p:cNvSpPr txBox="1"/>
          <p:nvPr/>
        </p:nvSpPr>
        <p:spPr>
          <a:xfrm>
            <a:off x="6355080" y="3319272"/>
            <a:ext cx="411480" cy="256032"/>
          </a:xfrm>
          <a:prstGeom prst="rect">
            <a:avLst/>
          </a:prstGeom>
          <a:noFill/>
        </p:spPr>
        <p:txBody>
          <a:bodyPr wrap="none" lIns="73152" rIns="73152" tIns="36576" bIns="36576">
            <a:spAutoFit/>
          </a:bodyPr>
          <a:lstStyle/>
          <a:p>
            <a:pPr algn="r"/>
            <a:r>
              <a:rPr sz="830" b="0">
                <a:solidFill>
                  <a:srgbClr val="66707A"/>
                </a:solidFill>
                <a:latin typeface="Yu Gothic"/>
              </a:rPr>
              <a:t>60分</a:t>
            </a:r>
          </a:p>
        </p:txBody>
      </p:sp>
      <p:sp>
        <p:nvSpPr>
          <p:cNvPr id="14" name="Rounded Rectangle 13"/>
          <p:cNvSpPr/>
          <p:nvPr/>
        </p:nvSpPr>
        <p:spPr>
          <a:xfrm>
            <a:off x="502920" y="3813048"/>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 y="3886200"/>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09:30</a:t>
            </a:r>
          </a:p>
        </p:txBody>
      </p:sp>
      <p:sp>
        <p:nvSpPr>
          <p:cNvPr id="16" name="TextBox 15"/>
          <p:cNvSpPr txBox="1"/>
          <p:nvPr/>
        </p:nvSpPr>
        <p:spPr>
          <a:xfrm>
            <a:off x="1417320" y="3886200"/>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観光</a:t>
            </a:r>
          </a:p>
        </p:txBody>
      </p:sp>
      <p:sp>
        <p:nvSpPr>
          <p:cNvPr id="17" name="TextBox 16"/>
          <p:cNvSpPr txBox="1"/>
          <p:nvPr/>
        </p:nvSpPr>
        <p:spPr>
          <a:xfrm>
            <a:off x="2084831" y="3877056"/>
            <a:ext cx="1234440" cy="274320"/>
          </a:xfrm>
          <a:prstGeom prst="rect">
            <a:avLst/>
          </a:prstGeom>
          <a:noFill/>
        </p:spPr>
        <p:txBody>
          <a:bodyPr wrap="none" lIns="73152" rIns="73152" tIns="36576" bIns="36576">
            <a:spAutoFit/>
          </a:bodyPr>
          <a:lstStyle/>
          <a:p>
            <a:pPr algn="l"/>
            <a:r>
              <a:rPr sz="900" b="1">
                <a:solidFill>
                  <a:srgbClr val="143753"/>
                </a:solidFill>
                <a:latin typeface="Yu Gothic"/>
              </a:rPr>
              <a:t>帯広市内</a:t>
            </a:r>
          </a:p>
        </p:txBody>
      </p:sp>
      <p:sp>
        <p:nvSpPr>
          <p:cNvPr id="18" name="TextBox 17"/>
          <p:cNvSpPr txBox="1"/>
          <p:nvPr/>
        </p:nvSpPr>
        <p:spPr>
          <a:xfrm>
            <a:off x="3246120" y="3867912"/>
            <a:ext cx="3063240" cy="310896"/>
          </a:xfrm>
          <a:prstGeom prst="rect">
            <a:avLst/>
          </a:prstGeom>
          <a:noFill/>
        </p:spPr>
        <p:txBody>
          <a:bodyPr wrap="none" lIns="73152" rIns="73152" tIns="36576" bIns="36576">
            <a:spAutoFit/>
          </a:bodyPr>
          <a:lstStyle/>
          <a:p>
            <a:pPr algn="l"/>
            <a:r>
              <a:rPr sz="830" b="0">
                <a:solidFill>
                  <a:srgbClr val="222B34"/>
                </a:solidFill>
                <a:latin typeface="Yu Gothic"/>
              </a:rPr>
              <a:t>六花亭、真鍋庭園、十勝牧場方面のどれかを短時間</a:t>
            </a:r>
          </a:p>
        </p:txBody>
      </p:sp>
      <p:sp>
        <p:nvSpPr>
          <p:cNvPr id="19" name="TextBox 18"/>
          <p:cNvSpPr txBox="1"/>
          <p:nvPr/>
        </p:nvSpPr>
        <p:spPr>
          <a:xfrm>
            <a:off x="6355080" y="3886200"/>
            <a:ext cx="411480" cy="256032"/>
          </a:xfrm>
          <a:prstGeom prst="rect">
            <a:avLst/>
          </a:prstGeom>
          <a:noFill/>
        </p:spPr>
        <p:txBody>
          <a:bodyPr wrap="none" lIns="73152" rIns="73152" tIns="36576" bIns="36576">
            <a:spAutoFit/>
          </a:bodyPr>
          <a:lstStyle/>
          <a:p>
            <a:pPr algn="r"/>
            <a:r>
              <a:rPr sz="830" b="0">
                <a:solidFill>
                  <a:srgbClr val="66707A"/>
                </a:solidFill>
                <a:latin typeface="Yu Gothic"/>
              </a:rPr>
              <a:t>90分</a:t>
            </a:r>
          </a:p>
        </p:txBody>
      </p:sp>
      <p:sp>
        <p:nvSpPr>
          <p:cNvPr id="20" name="Rounded Rectangle 19"/>
          <p:cNvSpPr/>
          <p:nvPr/>
        </p:nvSpPr>
        <p:spPr>
          <a:xfrm>
            <a:off x="502920" y="4379976"/>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1792" y="4453128"/>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11:15</a:t>
            </a:r>
          </a:p>
        </p:txBody>
      </p:sp>
      <p:sp>
        <p:nvSpPr>
          <p:cNvPr id="22" name="TextBox 21"/>
          <p:cNvSpPr txBox="1"/>
          <p:nvPr/>
        </p:nvSpPr>
        <p:spPr>
          <a:xfrm>
            <a:off x="1417320" y="4453128"/>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昼食</a:t>
            </a:r>
          </a:p>
        </p:txBody>
      </p:sp>
      <p:sp>
        <p:nvSpPr>
          <p:cNvPr id="23" name="TextBox 22"/>
          <p:cNvSpPr txBox="1"/>
          <p:nvPr/>
        </p:nvSpPr>
        <p:spPr>
          <a:xfrm>
            <a:off x="2084831" y="4443984"/>
            <a:ext cx="1234440" cy="274320"/>
          </a:xfrm>
          <a:prstGeom prst="rect">
            <a:avLst/>
          </a:prstGeom>
          <a:noFill/>
        </p:spPr>
        <p:txBody>
          <a:bodyPr wrap="none" lIns="73152" rIns="73152" tIns="36576" bIns="36576">
            <a:spAutoFit/>
          </a:bodyPr>
          <a:lstStyle/>
          <a:p>
            <a:pPr algn="l"/>
            <a:r>
              <a:rPr sz="900" b="1">
                <a:solidFill>
                  <a:srgbClr val="143753"/>
                </a:solidFill>
                <a:latin typeface="Yu Gothic"/>
              </a:rPr>
              <a:t>帯広市内</a:t>
            </a:r>
          </a:p>
        </p:txBody>
      </p:sp>
      <p:sp>
        <p:nvSpPr>
          <p:cNvPr id="24" name="TextBox 23"/>
          <p:cNvSpPr txBox="1"/>
          <p:nvPr/>
        </p:nvSpPr>
        <p:spPr>
          <a:xfrm>
            <a:off x="3246120" y="4434840"/>
            <a:ext cx="3063240" cy="310896"/>
          </a:xfrm>
          <a:prstGeom prst="rect">
            <a:avLst/>
          </a:prstGeom>
          <a:noFill/>
        </p:spPr>
        <p:txBody>
          <a:bodyPr wrap="none" lIns="73152" rIns="73152" tIns="36576" bIns="36576">
            <a:spAutoFit/>
          </a:bodyPr>
          <a:lstStyle/>
          <a:p>
            <a:pPr algn="l"/>
            <a:r>
              <a:rPr sz="830" b="0">
                <a:solidFill>
                  <a:srgbClr val="222B34"/>
                </a:solidFill>
                <a:latin typeface="Yu Gothic"/>
              </a:rPr>
              <a:t>豚丼、カフェ、または軽食。早めに済ませる</a:t>
            </a:r>
          </a:p>
        </p:txBody>
      </p:sp>
      <p:sp>
        <p:nvSpPr>
          <p:cNvPr id="25" name="TextBox 24"/>
          <p:cNvSpPr txBox="1"/>
          <p:nvPr/>
        </p:nvSpPr>
        <p:spPr>
          <a:xfrm>
            <a:off x="6355080" y="4453128"/>
            <a:ext cx="411480" cy="256032"/>
          </a:xfrm>
          <a:prstGeom prst="rect">
            <a:avLst/>
          </a:prstGeom>
          <a:noFill/>
        </p:spPr>
        <p:txBody>
          <a:bodyPr wrap="none" lIns="73152" rIns="73152" tIns="36576" bIns="36576">
            <a:spAutoFit/>
          </a:bodyPr>
          <a:lstStyle/>
          <a:p>
            <a:pPr algn="r"/>
            <a:r>
              <a:rPr sz="830" b="0">
                <a:solidFill>
                  <a:srgbClr val="66707A"/>
                </a:solidFill>
                <a:latin typeface="Yu Gothic"/>
              </a:rPr>
              <a:t>60分</a:t>
            </a:r>
          </a:p>
        </p:txBody>
      </p:sp>
      <p:sp>
        <p:nvSpPr>
          <p:cNvPr id="26" name="Rounded Rectangle 25"/>
          <p:cNvSpPr/>
          <p:nvPr/>
        </p:nvSpPr>
        <p:spPr>
          <a:xfrm>
            <a:off x="502920" y="4946904"/>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1792" y="5020056"/>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12:30</a:t>
            </a:r>
          </a:p>
        </p:txBody>
      </p:sp>
      <p:sp>
        <p:nvSpPr>
          <p:cNvPr id="28" name="TextBox 27"/>
          <p:cNvSpPr txBox="1"/>
          <p:nvPr/>
        </p:nvSpPr>
        <p:spPr>
          <a:xfrm>
            <a:off x="1417320" y="5020056"/>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移動</a:t>
            </a:r>
          </a:p>
        </p:txBody>
      </p:sp>
      <p:sp>
        <p:nvSpPr>
          <p:cNvPr id="29" name="TextBox 28"/>
          <p:cNvSpPr txBox="1"/>
          <p:nvPr/>
        </p:nvSpPr>
        <p:spPr>
          <a:xfrm>
            <a:off x="2084831" y="5010912"/>
            <a:ext cx="1234440" cy="274320"/>
          </a:xfrm>
          <a:prstGeom prst="rect">
            <a:avLst/>
          </a:prstGeom>
          <a:noFill/>
        </p:spPr>
        <p:txBody>
          <a:bodyPr wrap="none" lIns="73152" rIns="73152" tIns="36576" bIns="36576">
            <a:spAutoFit/>
          </a:bodyPr>
          <a:lstStyle/>
          <a:p>
            <a:pPr algn="l"/>
            <a:r>
              <a:rPr sz="900" b="1">
                <a:solidFill>
                  <a:srgbClr val="143753"/>
                </a:solidFill>
                <a:latin typeface="Yu Gothic"/>
              </a:rPr>
              <a:t>帯広 → 苫小牧</a:t>
            </a:r>
          </a:p>
        </p:txBody>
      </p:sp>
      <p:sp>
        <p:nvSpPr>
          <p:cNvPr id="30" name="TextBox 29"/>
          <p:cNvSpPr txBox="1"/>
          <p:nvPr/>
        </p:nvSpPr>
        <p:spPr>
          <a:xfrm>
            <a:off x="3246120" y="5001768"/>
            <a:ext cx="3063240" cy="310896"/>
          </a:xfrm>
          <a:prstGeom prst="rect">
            <a:avLst/>
          </a:prstGeom>
          <a:noFill/>
        </p:spPr>
        <p:txBody>
          <a:bodyPr wrap="none" lIns="73152" rIns="73152" tIns="36576" bIns="36576">
            <a:spAutoFit/>
          </a:bodyPr>
          <a:lstStyle/>
          <a:p>
            <a:pPr algn="l"/>
            <a:r>
              <a:rPr sz="830" b="0">
                <a:solidFill>
                  <a:srgbClr val="222B34"/>
                </a:solidFill>
                <a:latin typeface="Yu Gothic"/>
              </a:rPr>
              <a:t>道東道で苫小牧方面へ。途中休憩を必ず入れる</a:t>
            </a:r>
          </a:p>
        </p:txBody>
      </p:sp>
      <p:sp>
        <p:nvSpPr>
          <p:cNvPr id="31" name="TextBox 30"/>
          <p:cNvSpPr txBox="1"/>
          <p:nvPr/>
        </p:nvSpPr>
        <p:spPr>
          <a:xfrm>
            <a:off x="6355080" y="5020056"/>
            <a:ext cx="411480" cy="256032"/>
          </a:xfrm>
          <a:prstGeom prst="rect">
            <a:avLst/>
          </a:prstGeom>
          <a:noFill/>
        </p:spPr>
        <p:txBody>
          <a:bodyPr wrap="none" lIns="73152" rIns="73152" tIns="36576" bIns="36576">
            <a:spAutoFit/>
          </a:bodyPr>
          <a:lstStyle/>
          <a:p>
            <a:pPr algn="r"/>
            <a:r>
              <a:rPr sz="830" b="0">
                <a:solidFill>
                  <a:srgbClr val="66707A"/>
                </a:solidFill>
                <a:latin typeface="Yu Gothic"/>
              </a:rPr>
              <a:t>約3時間</a:t>
            </a:r>
          </a:p>
        </p:txBody>
      </p:sp>
      <p:sp>
        <p:nvSpPr>
          <p:cNvPr id="32" name="Rounded Rectangle 31"/>
          <p:cNvSpPr/>
          <p:nvPr/>
        </p:nvSpPr>
        <p:spPr>
          <a:xfrm>
            <a:off x="502920" y="5513832"/>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1792" y="5586984"/>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15:30</a:t>
            </a:r>
          </a:p>
        </p:txBody>
      </p:sp>
      <p:sp>
        <p:nvSpPr>
          <p:cNvPr id="34" name="TextBox 33"/>
          <p:cNvSpPr txBox="1"/>
          <p:nvPr/>
        </p:nvSpPr>
        <p:spPr>
          <a:xfrm>
            <a:off x="1417320" y="5586984"/>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休憩</a:t>
            </a:r>
          </a:p>
        </p:txBody>
      </p:sp>
      <p:sp>
        <p:nvSpPr>
          <p:cNvPr id="35" name="TextBox 34"/>
          <p:cNvSpPr txBox="1"/>
          <p:nvPr/>
        </p:nvSpPr>
        <p:spPr>
          <a:xfrm>
            <a:off x="2084831" y="5577840"/>
            <a:ext cx="1234440" cy="274320"/>
          </a:xfrm>
          <a:prstGeom prst="rect">
            <a:avLst/>
          </a:prstGeom>
          <a:noFill/>
        </p:spPr>
        <p:txBody>
          <a:bodyPr wrap="none" lIns="73152" rIns="73152" tIns="36576" bIns="36576">
            <a:spAutoFit/>
          </a:bodyPr>
          <a:lstStyle/>
          <a:p>
            <a:pPr algn="l"/>
            <a:r>
              <a:rPr sz="900" b="1">
                <a:solidFill>
                  <a:srgbClr val="143753"/>
                </a:solidFill>
                <a:latin typeface="Yu Gothic"/>
              </a:rPr>
              <a:t>占冠PA / 由仁PAなど</a:t>
            </a:r>
          </a:p>
        </p:txBody>
      </p:sp>
      <p:sp>
        <p:nvSpPr>
          <p:cNvPr id="36" name="TextBox 35"/>
          <p:cNvSpPr txBox="1"/>
          <p:nvPr/>
        </p:nvSpPr>
        <p:spPr>
          <a:xfrm>
            <a:off x="3246120" y="5568696"/>
            <a:ext cx="3063240" cy="310896"/>
          </a:xfrm>
          <a:prstGeom prst="rect">
            <a:avLst/>
          </a:prstGeom>
          <a:noFill/>
        </p:spPr>
        <p:txBody>
          <a:bodyPr wrap="none" lIns="73152" rIns="73152" tIns="36576" bIns="36576">
            <a:spAutoFit/>
          </a:bodyPr>
          <a:lstStyle/>
          <a:p>
            <a:pPr algn="l"/>
            <a:r>
              <a:rPr sz="830" b="0">
                <a:solidFill>
                  <a:srgbClr val="222B34"/>
                </a:solidFill>
                <a:latin typeface="Yu Gothic"/>
              </a:rPr>
              <a:t>トイレ、給油、眠気対策</a:t>
            </a:r>
          </a:p>
        </p:txBody>
      </p:sp>
      <p:sp>
        <p:nvSpPr>
          <p:cNvPr id="37" name="TextBox 36"/>
          <p:cNvSpPr txBox="1"/>
          <p:nvPr/>
        </p:nvSpPr>
        <p:spPr>
          <a:xfrm>
            <a:off x="6355080" y="5586984"/>
            <a:ext cx="411480" cy="256032"/>
          </a:xfrm>
          <a:prstGeom prst="rect">
            <a:avLst/>
          </a:prstGeom>
          <a:noFill/>
        </p:spPr>
        <p:txBody>
          <a:bodyPr wrap="none" lIns="73152" rIns="73152" tIns="36576" bIns="36576">
            <a:spAutoFit/>
          </a:bodyPr>
          <a:lstStyle/>
          <a:p>
            <a:pPr algn="r"/>
            <a:r>
              <a:rPr sz="830" b="0">
                <a:solidFill>
                  <a:srgbClr val="66707A"/>
                </a:solidFill>
                <a:latin typeface="Yu Gothic"/>
              </a:rPr>
              <a:t>30分</a:t>
            </a:r>
          </a:p>
        </p:txBody>
      </p:sp>
      <p:sp>
        <p:nvSpPr>
          <p:cNvPr id="38" name="TextBox 37"/>
          <p:cNvSpPr txBox="1"/>
          <p:nvPr/>
        </p:nvSpPr>
        <p:spPr>
          <a:xfrm>
            <a:off x="7150608" y="4251960"/>
            <a:ext cx="4343400" cy="292608"/>
          </a:xfrm>
          <a:prstGeom prst="rect">
            <a:avLst/>
          </a:prstGeom>
          <a:noFill/>
        </p:spPr>
        <p:txBody>
          <a:bodyPr wrap="none" lIns="73152" rIns="73152" tIns="36576" bIns="36576">
            <a:spAutoFit/>
          </a:bodyPr>
          <a:lstStyle/>
          <a:p>
            <a:pPr algn="l"/>
            <a:r>
              <a:rPr sz="1500" b="1">
                <a:solidFill>
                  <a:srgbClr val="143753"/>
                </a:solidFill>
                <a:latin typeface="Yu Gothic"/>
              </a:rPr>
              <a:t>レストラン候補</a:t>
            </a:r>
          </a:p>
        </p:txBody>
      </p:sp>
      <p:sp>
        <p:nvSpPr>
          <p:cNvPr id="39" name="Rounded Rectangle 38"/>
          <p:cNvSpPr/>
          <p:nvPr/>
        </p:nvSpPr>
        <p:spPr>
          <a:xfrm>
            <a:off x="7150608" y="463600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223760" y="4690872"/>
            <a:ext cx="566928" cy="228600"/>
          </a:xfrm>
          <a:prstGeom prst="rect">
            <a:avLst/>
          </a:prstGeom>
          <a:noFill/>
        </p:spPr>
        <p:txBody>
          <a:bodyPr wrap="none" lIns="73152" rIns="73152" tIns="36576" bIns="36576">
            <a:spAutoFit/>
          </a:bodyPr>
          <a:lstStyle/>
          <a:p>
            <a:pPr algn="l"/>
            <a:r>
              <a:rPr sz="850" b="1">
                <a:solidFill>
                  <a:srgbClr val="D86352"/>
                </a:solidFill>
                <a:latin typeface="Yu Gothic"/>
              </a:rPr>
              <a:t>昼食</a:t>
            </a:r>
          </a:p>
        </p:txBody>
      </p:sp>
      <p:sp>
        <p:nvSpPr>
          <p:cNvPr id="41" name="TextBox 40"/>
          <p:cNvSpPr txBox="1"/>
          <p:nvPr/>
        </p:nvSpPr>
        <p:spPr>
          <a:xfrm>
            <a:off x="7790688" y="468172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帯広豚丼候補</a:t>
            </a:r>
          </a:p>
        </p:txBody>
      </p:sp>
      <p:sp>
        <p:nvSpPr>
          <p:cNvPr id="42" name="TextBox 41"/>
          <p:cNvSpPr txBox="1"/>
          <p:nvPr/>
        </p:nvSpPr>
        <p:spPr>
          <a:xfrm>
            <a:off x="9299448" y="468172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前日に食べられなかった場合の候補</a:t>
            </a:r>
          </a:p>
        </p:txBody>
      </p:sp>
      <p:sp>
        <p:nvSpPr>
          <p:cNvPr id="43" name="Rounded Rectangle 42"/>
          <p:cNvSpPr/>
          <p:nvPr/>
        </p:nvSpPr>
        <p:spPr>
          <a:xfrm>
            <a:off x="7150608" y="513892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223760" y="5193792"/>
            <a:ext cx="566928" cy="228600"/>
          </a:xfrm>
          <a:prstGeom prst="rect">
            <a:avLst/>
          </a:prstGeom>
          <a:noFill/>
        </p:spPr>
        <p:txBody>
          <a:bodyPr wrap="none" lIns="73152" rIns="73152" tIns="36576" bIns="36576">
            <a:spAutoFit/>
          </a:bodyPr>
          <a:lstStyle/>
          <a:p>
            <a:pPr algn="l"/>
            <a:r>
              <a:rPr sz="850" b="1">
                <a:solidFill>
                  <a:srgbClr val="D86352"/>
                </a:solidFill>
                <a:latin typeface="Yu Gothic"/>
              </a:rPr>
              <a:t>昼食</a:t>
            </a:r>
          </a:p>
        </p:txBody>
      </p:sp>
      <p:sp>
        <p:nvSpPr>
          <p:cNvPr id="45" name="TextBox 44"/>
          <p:cNvSpPr txBox="1"/>
          <p:nvPr/>
        </p:nvSpPr>
        <p:spPr>
          <a:xfrm>
            <a:off x="7790688" y="518464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六花亭・カフェ系</a:t>
            </a:r>
          </a:p>
        </p:txBody>
      </p:sp>
      <p:sp>
        <p:nvSpPr>
          <p:cNvPr id="46" name="TextBox 45"/>
          <p:cNvSpPr txBox="1"/>
          <p:nvPr/>
        </p:nvSpPr>
        <p:spPr>
          <a:xfrm>
            <a:off x="9299448" y="518464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軽めに済ませる場合</a:t>
            </a:r>
          </a:p>
        </p:txBody>
      </p:sp>
      <p:sp>
        <p:nvSpPr>
          <p:cNvPr id="47" name="Rounded Rectangle 46"/>
          <p:cNvSpPr/>
          <p:nvPr/>
        </p:nvSpPr>
        <p:spPr>
          <a:xfrm>
            <a:off x="7150608" y="564184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223760" y="5696712"/>
            <a:ext cx="566928" cy="228600"/>
          </a:xfrm>
          <a:prstGeom prst="rect">
            <a:avLst/>
          </a:prstGeom>
          <a:noFill/>
        </p:spPr>
        <p:txBody>
          <a:bodyPr wrap="none" lIns="73152" rIns="73152" tIns="36576" bIns="36576">
            <a:spAutoFit/>
          </a:bodyPr>
          <a:lstStyle/>
          <a:p>
            <a:pPr algn="l"/>
            <a:r>
              <a:rPr sz="850" b="1">
                <a:solidFill>
                  <a:srgbClr val="D86352"/>
                </a:solidFill>
                <a:latin typeface="Yu Gothic"/>
              </a:rPr>
              <a:t>夕食</a:t>
            </a:r>
          </a:p>
        </p:txBody>
      </p:sp>
      <p:sp>
        <p:nvSpPr>
          <p:cNvPr id="49" name="TextBox 48"/>
          <p:cNvSpPr txBox="1"/>
          <p:nvPr/>
        </p:nvSpPr>
        <p:spPr>
          <a:xfrm>
            <a:off x="7790688" y="568756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太平洋フェリー船内レストラン</a:t>
            </a:r>
          </a:p>
        </p:txBody>
      </p:sp>
      <p:sp>
        <p:nvSpPr>
          <p:cNvPr id="50" name="TextBox 49"/>
          <p:cNvSpPr txBox="1"/>
          <p:nvPr/>
        </p:nvSpPr>
        <p:spPr>
          <a:xfrm>
            <a:off x="9299448" y="568756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乗船後の第一候補</a:t>
            </a:r>
          </a:p>
        </p:txBody>
      </p:sp>
      <p:sp>
        <p:nvSpPr>
          <p:cNvPr id="51" name="Rounded Rectangle 50"/>
          <p:cNvSpPr/>
          <p:nvPr/>
        </p:nvSpPr>
        <p:spPr>
          <a:xfrm>
            <a:off x="7150608" y="614476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223760" y="6199632"/>
            <a:ext cx="566928" cy="228600"/>
          </a:xfrm>
          <a:prstGeom prst="rect">
            <a:avLst/>
          </a:prstGeom>
          <a:noFill/>
        </p:spPr>
        <p:txBody>
          <a:bodyPr wrap="none" lIns="73152" rIns="73152" tIns="36576" bIns="36576">
            <a:spAutoFit/>
          </a:bodyPr>
          <a:lstStyle/>
          <a:p>
            <a:pPr algn="l"/>
            <a:r>
              <a:rPr sz="850" b="1">
                <a:solidFill>
                  <a:srgbClr val="D86352"/>
                </a:solidFill>
                <a:latin typeface="Yu Gothic"/>
              </a:rPr>
              <a:t>夕食</a:t>
            </a:r>
          </a:p>
        </p:txBody>
      </p:sp>
      <p:sp>
        <p:nvSpPr>
          <p:cNvPr id="53" name="TextBox 52"/>
          <p:cNvSpPr txBox="1"/>
          <p:nvPr/>
        </p:nvSpPr>
        <p:spPr>
          <a:xfrm>
            <a:off x="7790688" y="619048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苫小牧でテイクアウト</a:t>
            </a:r>
          </a:p>
        </p:txBody>
      </p:sp>
      <p:sp>
        <p:nvSpPr>
          <p:cNvPr id="54" name="TextBox 53"/>
          <p:cNvSpPr txBox="1"/>
          <p:nvPr/>
        </p:nvSpPr>
        <p:spPr>
          <a:xfrm>
            <a:off x="9299448" y="619048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乗船前のバックアップ</a:t>
            </a:r>
          </a:p>
        </p:txBody>
      </p:sp>
      <p:sp>
        <p:nvSpPr>
          <p:cNvPr id="55" name="TextBox 54"/>
          <p:cNvSpPr txBox="1"/>
          <p:nvPr/>
        </p:nvSpPr>
        <p:spPr>
          <a:xfrm>
            <a:off x="7150608" y="6199632"/>
            <a:ext cx="4206240" cy="228600"/>
          </a:xfrm>
          <a:prstGeom prst="rect">
            <a:avLst/>
          </a:prstGeom>
          <a:noFill/>
        </p:spPr>
        <p:txBody>
          <a:bodyPr wrap="none" lIns="73152" rIns="73152" tIns="36576" bIns="36576">
            <a:spAutoFit/>
          </a:bodyPr>
          <a:lstStyle/>
          <a:p>
            <a:pPr algn="l"/>
            <a:r>
              <a:rPr sz="780" b="0">
                <a:solidFill>
                  <a:srgbClr val="66707A"/>
                </a:solidFill>
                <a:latin typeface="Yu Gothic"/>
              </a:rPr>
              <a:t>MEMO  8/12はフェリー出港日。仙台到着は翌朝想定。 / 帯広観光は1か所だけに絞り、苫小牧到着を優先する。</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CFCFA"/>
        </a:solidFill>
        <a:effectLst/>
      </p:bgPr>
    </p:bg>
    <p:spTree>
      <p:nvGrpSpPr>
        <p:cNvPr id="1" name=""/>
        <p:cNvGrpSpPr/>
        <p:nvPr/>
      </p:nvGrpSpPr>
      <p:grpSpPr/>
      <p:sp>
        <p:nvSpPr>
          <p:cNvPr id="2" name="Rounded Rectangle 1"/>
          <p:cNvSpPr/>
          <p:nvPr/>
        </p:nvSpPr>
        <p:spPr>
          <a:xfrm>
            <a:off x="502920" y="320040"/>
            <a:ext cx="1325880" cy="329184"/>
          </a:xfrm>
          <a:prstGeom prst="roundRect">
            <a:avLst/>
          </a:prstGeom>
          <a:solidFill>
            <a:srgbClr val="D863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Yu Gothic"/>
              </a:rPr>
              <a:t>DAY 13</a:t>
            </a:r>
          </a:p>
        </p:txBody>
      </p:sp>
      <p:sp>
        <p:nvSpPr>
          <p:cNvPr id="3" name="TextBox 2"/>
          <p:cNvSpPr txBox="1"/>
          <p:nvPr/>
        </p:nvSpPr>
        <p:spPr>
          <a:xfrm>
            <a:off x="502920" y="713232"/>
            <a:ext cx="6217920" cy="384048"/>
          </a:xfrm>
          <a:prstGeom prst="rect">
            <a:avLst/>
          </a:prstGeom>
          <a:noFill/>
        </p:spPr>
        <p:txBody>
          <a:bodyPr wrap="none" lIns="73152" rIns="73152" tIns="36576" bIns="36576">
            <a:spAutoFit/>
          </a:bodyPr>
          <a:lstStyle/>
          <a:p>
            <a:pPr algn="l"/>
            <a:r>
              <a:rPr sz="2200" b="1">
                <a:solidFill>
                  <a:srgbClr val="143753"/>
                </a:solidFill>
                <a:latin typeface="Yu Gothic"/>
              </a:rPr>
              <a:t>時刻ベース詳細スケジュール</a:t>
            </a:r>
          </a:p>
        </p:txBody>
      </p:sp>
      <p:sp>
        <p:nvSpPr>
          <p:cNvPr id="4" name="Rounded Rectangle 3"/>
          <p:cNvSpPr/>
          <p:nvPr/>
        </p:nvSpPr>
        <p:spPr>
          <a:xfrm>
            <a:off x="502920" y="1325880"/>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1399032"/>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08:00</a:t>
            </a:r>
          </a:p>
        </p:txBody>
      </p:sp>
      <p:sp>
        <p:nvSpPr>
          <p:cNvPr id="6" name="TextBox 5"/>
          <p:cNvSpPr txBox="1"/>
          <p:nvPr/>
        </p:nvSpPr>
        <p:spPr>
          <a:xfrm>
            <a:off x="1417320" y="1399032"/>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朝食</a:t>
            </a:r>
          </a:p>
        </p:txBody>
      </p:sp>
      <p:sp>
        <p:nvSpPr>
          <p:cNvPr id="7" name="TextBox 6"/>
          <p:cNvSpPr txBox="1"/>
          <p:nvPr/>
        </p:nvSpPr>
        <p:spPr>
          <a:xfrm>
            <a:off x="2084831" y="1389888"/>
            <a:ext cx="1234440" cy="274320"/>
          </a:xfrm>
          <a:prstGeom prst="rect">
            <a:avLst/>
          </a:prstGeom>
          <a:noFill/>
        </p:spPr>
        <p:txBody>
          <a:bodyPr wrap="none" lIns="73152" rIns="73152" tIns="36576" bIns="36576">
            <a:spAutoFit/>
          </a:bodyPr>
          <a:lstStyle/>
          <a:p>
            <a:pPr algn="l"/>
            <a:r>
              <a:rPr sz="900" b="1">
                <a:solidFill>
                  <a:srgbClr val="143753"/>
                </a:solidFill>
                <a:latin typeface="Yu Gothic"/>
              </a:rPr>
              <a:t>帯広宿泊先</a:t>
            </a:r>
          </a:p>
        </p:txBody>
      </p:sp>
      <p:sp>
        <p:nvSpPr>
          <p:cNvPr id="8" name="TextBox 7"/>
          <p:cNvSpPr txBox="1"/>
          <p:nvPr/>
        </p:nvSpPr>
        <p:spPr>
          <a:xfrm>
            <a:off x="3246120" y="1380744"/>
            <a:ext cx="3063240" cy="310896"/>
          </a:xfrm>
          <a:prstGeom prst="rect">
            <a:avLst/>
          </a:prstGeom>
          <a:noFill/>
        </p:spPr>
        <p:txBody>
          <a:bodyPr wrap="none" lIns="73152" rIns="73152" tIns="36576" bIns="36576">
            <a:spAutoFit/>
          </a:bodyPr>
          <a:lstStyle/>
          <a:p>
            <a:pPr algn="l"/>
            <a:r>
              <a:rPr sz="830" b="0">
                <a:solidFill>
                  <a:srgbClr val="222B34"/>
                </a:solidFill>
                <a:latin typeface="Yu Gothic"/>
              </a:rPr>
              <a:t>朝食、荷物整理、フェリー用バッグを分ける</a:t>
            </a:r>
          </a:p>
        </p:txBody>
      </p:sp>
      <p:sp>
        <p:nvSpPr>
          <p:cNvPr id="9" name="TextBox 8"/>
          <p:cNvSpPr txBox="1"/>
          <p:nvPr/>
        </p:nvSpPr>
        <p:spPr>
          <a:xfrm>
            <a:off x="6355080" y="1399032"/>
            <a:ext cx="411480" cy="256032"/>
          </a:xfrm>
          <a:prstGeom prst="rect">
            <a:avLst/>
          </a:prstGeom>
          <a:noFill/>
        </p:spPr>
        <p:txBody>
          <a:bodyPr wrap="none" lIns="73152" rIns="73152" tIns="36576" bIns="36576">
            <a:spAutoFit/>
          </a:bodyPr>
          <a:lstStyle/>
          <a:p>
            <a:pPr algn="r"/>
            <a:r>
              <a:rPr sz="830" b="0">
                <a:solidFill>
                  <a:srgbClr val="66707A"/>
                </a:solidFill>
                <a:latin typeface="Yu Gothic"/>
              </a:rPr>
              <a:t>60分</a:t>
            </a:r>
          </a:p>
        </p:txBody>
      </p:sp>
      <p:sp>
        <p:nvSpPr>
          <p:cNvPr id="10" name="Rounded Rectangle 9"/>
          <p:cNvSpPr/>
          <p:nvPr/>
        </p:nvSpPr>
        <p:spPr>
          <a:xfrm>
            <a:off x="502920" y="1892808"/>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965960"/>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09:30</a:t>
            </a:r>
          </a:p>
        </p:txBody>
      </p:sp>
      <p:sp>
        <p:nvSpPr>
          <p:cNvPr id="12" name="TextBox 11"/>
          <p:cNvSpPr txBox="1"/>
          <p:nvPr/>
        </p:nvSpPr>
        <p:spPr>
          <a:xfrm>
            <a:off x="1417320" y="1965960"/>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観光</a:t>
            </a:r>
          </a:p>
        </p:txBody>
      </p:sp>
      <p:sp>
        <p:nvSpPr>
          <p:cNvPr id="13" name="TextBox 12"/>
          <p:cNvSpPr txBox="1"/>
          <p:nvPr/>
        </p:nvSpPr>
        <p:spPr>
          <a:xfrm>
            <a:off x="2084831" y="1956816"/>
            <a:ext cx="1234440" cy="274320"/>
          </a:xfrm>
          <a:prstGeom prst="rect">
            <a:avLst/>
          </a:prstGeom>
          <a:noFill/>
        </p:spPr>
        <p:txBody>
          <a:bodyPr wrap="none" lIns="73152" rIns="73152" tIns="36576" bIns="36576">
            <a:spAutoFit/>
          </a:bodyPr>
          <a:lstStyle/>
          <a:p>
            <a:pPr algn="l"/>
            <a:r>
              <a:rPr sz="900" b="1">
                <a:solidFill>
                  <a:srgbClr val="143753"/>
                </a:solidFill>
                <a:latin typeface="Yu Gothic"/>
              </a:rPr>
              <a:t>帯広市内</a:t>
            </a:r>
          </a:p>
        </p:txBody>
      </p:sp>
      <p:sp>
        <p:nvSpPr>
          <p:cNvPr id="14" name="TextBox 13"/>
          <p:cNvSpPr txBox="1"/>
          <p:nvPr/>
        </p:nvSpPr>
        <p:spPr>
          <a:xfrm>
            <a:off x="3246120" y="1947672"/>
            <a:ext cx="3063240" cy="310896"/>
          </a:xfrm>
          <a:prstGeom prst="rect">
            <a:avLst/>
          </a:prstGeom>
          <a:noFill/>
        </p:spPr>
        <p:txBody>
          <a:bodyPr wrap="none" lIns="73152" rIns="73152" tIns="36576" bIns="36576">
            <a:spAutoFit/>
          </a:bodyPr>
          <a:lstStyle/>
          <a:p>
            <a:pPr algn="l"/>
            <a:r>
              <a:rPr sz="830" b="0">
                <a:solidFill>
                  <a:srgbClr val="222B34"/>
                </a:solidFill>
                <a:latin typeface="Yu Gothic"/>
              </a:rPr>
              <a:t>六花亭、真鍋庭園、十勝牧場方面のどれかを短時間</a:t>
            </a:r>
          </a:p>
        </p:txBody>
      </p:sp>
      <p:sp>
        <p:nvSpPr>
          <p:cNvPr id="15" name="TextBox 14"/>
          <p:cNvSpPr txBox="1"/>
          <p:nvPr/>
        </p:nvSpPr>
        <p:spPr>
          <a:xfrm>
            <a:off x="6355080" y="1965960"/>
            <a:ext cx="411480" cy="256032"/>
          </a:xfrm>
          <a:prstGeom prst="rect">
            <a:avLst/>
          </a:prstGeom>
          <a:noFill/>
        </p:spPr>
        <p:txBody>
          <a:bodyPr wrap="none" lIns="73152" rIns="73152" tIns="36576" bIns="36576">
            <a:spAutoFit/>
          </a:bodyPr>
          <a:lstStyle/>
          <a:p>
            <a:pPr algn="r"/>
            <a:r>
              <a:rPr sz="830" b="0">
                <a:solidFill>
                  <a:srgbClr val="66707A"/>
                </a:solidFill>
                <a:latin typeface="Yu Gothic"/>
              </a:rPr>
              <a:t>90分</a:t>
            </a:r>
          </a:p>
        </p:txBody>
      </p:sp>
      <p:sp>
        <p:nvSpPr>
          <p:cNvPr id="16" name="Rounded Rectangle 15"/>
          <p:cNvSpPr/>
          <p:nvPr/>
        </p:nvSpPr>
        <p:spPr>
          <a:xfrm>
            <a:off x="502920" y="2459736"/>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792" y="2532888"/>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11:15</a:t>
            </a:r>
          </a:p>
        </p:txBody>
      </p:sp>
      <p:sp>
        <p:nvSpPr>
          <p:cNvPr id="18" name="TextBox 17"/>
          <p:cNvSpPr txBox="1"/>
          <p:nvPr/>
        </p:nvSpPr>
        <p:spPr>
          <a:xfrm>
            <a:off x="1417320" y="2532888"/>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昼食</a:t>
            </a:r>
          </a:p>
        </p:txBody>
      </p:sp>
      <p:sp>
        <p:nvSpPr>
          <p:cNvPr id="19" name="TextBox 18"/>
          <p:cNvSpPr txBox="1"/>
          <p:nvPr/>
        </p:nvSpPr>
        <p:spPr>
          <a:xfrm>
            <a:off x="2084831" y="2523744"/>
            <a:ext cx="1234440" cy="274320"/>
          </a:xfrm>
          <a:prstGeom prst="rect">
            <a:avLst/>
          </a:prstGeom>
          <a:noFill/>
        </p:spPr>
        <p:txBody>
          <a:bodyPr wrap="none" lIns="73152" rIns="73152" tIns="36576" bIns="36576">
            <a:spAutoFit/>
          </a:bodyPr>
          <a:lstStyle/>
          <a:p>
            <a:pPr algn="l"/>
            <a:r>
              <a:rPr sz="900" b="1">
                <a:solidFill>
                  <a:srgbClr val="143753"/>
                </a:solidFill>
                <a:latin typeface="Yu Gothic"/>
              </a:rPr>
              <a:t>帯広市内</a:t>
            </a:r>
          </a:p>
        </p:txBody>
      </p:sp>
      <p:sp>
        <p:nvSpPr>
          <p:cNvPr id="20" name="TextBox 19"/>
          <p:cNvSpPr txBox="1"/>
          <p:nvPr/>
        </p:nvSpPr>
        <p:spPr>
          <a:xfrm>
            <a:off x="3246120" y="2514600"/>
            <a:ext cx="3063240" cy="310896"/>
          </a:xfrm>
          <a:prstGeom prst="rect">
            <a:avLst/>
          </a:prstGeom>
          <a:noFill/>
        </p:spPr>
        <p:txBody>
          <a:bodyPr wrap="none" lIns="73152" rIns="73152" tIns="36576" bIns="36576">
            <a:spAutoFit/>
          </a:bodyPr>
          <a:lstStyle/>
          <a:p>
            <a:pPr algn="l"/>
            <a:r>
              <a:rPr sz="830" b="0">
                <a:solidFill>
                  <a:srgbClr val="222B34"/>
                </a:solidFill>
                <a:latin typeface="Yu Gothic"/>
              </a:rPr>
              <a:t>豚丼、カフェ、または軽食。早めに済ませる</a:t>
            </a:r>
          </a:p>
        </p:txBody>
      </p:sp>
      <p:sp>
        <p:nvSpPr>
          <p:cNvPr id="21" name="TextBox 20"/>
          <p:cNvSpPr txBox="1"/>
          <p:nvPr/>
        </p:nvSpPr>
        <p:spPr>
          <a:xfrm>
            <a:off x="6355080" y="2532888"/>
            <a:ext cx="411480" cy="256032"/>
          </a:xfrm>
          <a:prstGeom prst="rect">
            <a:avLst/>
          </a:prstGeom>
          <a:noFill/>
        </p:spPr>
        <p:txBody>
          <a:bodyPr wrap="none" lIns="73152" rIns="73152" tIns="36576" bIns="36576">
            <a:spAutoFit/>
          </a:bodyPr>
          <a:lstStyle/>
          <a:p>
            <a:pPr algn="r"/>
            <a:r>
              <a:rPr sz="830" b="0">
                <a:solidFill>
                  <a:srgbClr val="66707A"/>
                </a:solidFill>
                <a:latin typeface="Yu Gothic"/>
              </a:rPr>
              <a:t>60分</a:t>
            </a:r>
          </a:p>
        </p:txBody>
      </p:sp>
      <p:sp>
        <p:nvSpPr>
          <p:cNvPr id="22" name="Rounded Rectangle 21"/>
          <p:cNvSpPr/>
          <p:nvPr/>
        </p:nvSpPr>
        <p:spPr>
          <a:xfrm>
            <a:off x="502920" y="3026664"/>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1792" y="3099816"/>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12:30</a:t>
            </a:r>
          </a:p>
        </p:txBody>
      </p:sp>
      <p:sp>
        <p:nvSpPr>
          <p:cNvPr id="24" name="TextBox 23"/>
          <p:cNvSpPr txBox="1"/>
          <p:nvPr/>
        </p:nvSpPr>
        <p:spPr>
          <a:xfrm>
            <a:off x="1417320" y="3099816"/>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移動</a:t>
            </a:r>
          </a:p>
        </p:txBody>
      </p:sp>
      <p:sp>
        <p:nvSpPr>
          <p:cNvPr id="25" name="TextBox 24"/>
          <p:cNvSpPr txBox="1"/>
          <p:nvPr/>
        </p:nvSpPr>
        <p:spPr>
          <a:xfrm>
            <a:off x="2084831" y="3090672"/>
            <a:ext cx="1234440" cy="274320"/>
          </a:xfrm>
          <a:prstGeom prst="rect">
            <a:avLst/>
          </a:prstGeom>
          <a:noFill/>
        </p:spPr>
        <p:txBody>
          <a:bodyPr wrap="none" lIns="73152" rIns="73152" tIns="36576" bIns="36576">
            <a:spAutoFit/>
          </a:bodyPr>
          <a:lstStyle/>
          <a:p>
            <a:pPr algn="l"/>
            <a:r>
              <a:rPr sz="900" b="1">
                <a:solidFill>
                  <a:srgbClr val="143753"/>
                </a:solidFill>
                <a:latin typeface="Yu Gothic"/>
              </a:rPr>
              <a:t>帯広 → 苫小牧</a:t>
            </a:r>
          </a:p>
        </p:txBody>
      </p:sp>
      <p:sp>
        <p:nvSpPr>
          <p:cNvPr id="26" name="TextBox 25"/>
          <p:cNvSpPr txBox="1"/>
          <p:nvPr/>
        </p:nvSpPr>
        <p:spPr>
          <a:xfrm>
            <a:off x="3246120" y="3081528"/>
            <a:ext cx="3063240" cy="310896"/>
          </a:xfrm>
          <a:prstGeom prst="rect">
            <a:avLst/>
          </a:prstGeom>
          <a:noFill/>
        </p:spPr>
        <p:txBody>
          <a:bodyPr wrap="none" lIns="73152" rIns="73152" tIns="36576" bIns="36576">
            <a:spAutoFit/>
          </a:bodyPr>
          <a:lstStyle/>
          <a:p>
            <a:pPr algn="l"/>
            <a:r>
              <a:rPr sz="830" b="0">
                <a:solidFill>
                  <a:srgbClr val="222B34"/>
                </a:solidFill>
                <a:latin typeface="Yu Gothic"/>
              </a:rPr>
              <a:t>道東道で苫小牧方面へ。途中休憩を必ず入れる</a:t>
            </a:r>
          </a:p>
        </p:txBody>
      </p:sp>
      <p:sp>
        <p:nvSpPr>
          <p:cNvPr id="27" name="TextBox 26"/>
          <p:cNvSpPr txBox="1"/>
          <p:nvPr/>
        </p:nvSpPr>
        <p:spPr>
          <a:xfrm>
            <a:off x="6355080" y="3099816"/>
            <a:ext cx="411480" cy="256032"/>
          </a:xfrm>
          <a:prstGeom prst="rect">
            <a:avLst/>
          </a:prstGeom>
          <a:noFill/>
        </p:spPr>
        <p:txBody>
          <a:bodyPr wrap="none" lIns="73152" rIns="73152" tIns="36576" bIns="36576">
            <a:spAutoFit/>
          </a:bodyPr>
          <a:lstStyle/>
          <a:p>
            <a:pPr algn="r"/>
            <a:r>
              <a:rPr sz="830" b="0">
                <a:solidFill>
                  <a:srgbClr val="66707A"/>
                </a:solidFill>
                <a:latin typeface="Yu Gothic"/>
              </a:rPr>
              <a:t>約3時間</a:t>
            </a:r>
          </a:p>
        </p:txBody>
      </p:sp>
      <p:sp>
        <p:nvSpPr>
          <p:cNvPr id="28" name="Rounded Rectangle 27"/>
          <p:cNvSpPr/>
          <p:nvPr/>
        </p:nvSpPr>
        <p:spPr>
          <a:xfrm>
            <a:off x="502920" y="3593592"/>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1792" y="3666744"/>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15:30</a:t>
            </a:r>
          </a:p>
        </p:txBody>
      </p:sp>
      <p:sp>
        <p:nvSpPr>
          <p:cNvPr id="30" name="TextBox 29"/>
          <p:cNvSpPr txBox="1"/>
          <p:nvPr/>
        </p:nvSpPr>
        <p:spPr>
          <a:xfrm>
            <a:off x="1417320" y="3666744"/>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休憩</a:t>
            </a:r>
          </a:p>
        </p:txBody>
      </p:sp>
      <p:sp>
        <p:nvSpPr>
          <p:cNvPr id="31" name="TextBox 30"/>
          <p:cNvSpPr txBox="1"/>
          <p:nvPr/>
        </p:nvSpPr>
        <p:spPr>
          <a:xfrm>
            <a:off x="2084831" y="3657600"/>
            <a:ext cx="1234440" cy="274320"/>
          </a:xfrm>
          <a:prstGeom prst="rect">
            <a:avLst/>
          </a:prstGeom>
          <a:noFill/>
        </p:spPr>
        <p:txBody>
          <a:bodyPr wrap="none" lIns="73152" rIns="73152" tIns="36576" bIns="36576">
            <a:spAutoFit/>
          </a:bodyPr>
          <a:lstStyle/>
          <a:p>
            <a:pPr algn="l"/>
            <a:r>
              <a:rPr sz="900" b="1">
                <a:solidFill>
                  <a:srgbClr val="143753"/>
                </a:solidFill>
                <a:latin typeface="Yu Gothic"/>
              </a:rPr>
              <a:t>占冠PA / 由仁PAなど</a:t>
            </a:r>
          </a:p>
        </p:txBody>
      </p:sp>
      <p:sp>
        <p:nvSpPr>
          <p:cNvPr id="32" name="TextBox 31"/>
          <p:cNvSpPr txBox="1"/>
          <p:nvPr/>
        </p:nvSpPr>
        <p:spPr>
          <a:xfrm>
            <a:off x="3246120" y="3648456"/>
            <a:ext cx="3063240" cy="310896"/>
          </a:xfrm>
          <a:prstGeom prst="rect">
            <a:avLst/>
          </a:prstGeom>
          <a:noFill/>
        </p:spPr>
        <p:txBody>
          <a:bodyPr wrap="none" lIns="73152" rIns="73152" tIns="36576" bIns="36576">
            <a:spAutoFit/>
          </a:bodyPr>
          <a:lstStyle/>
          <a:p>
            <a:pPr algn="l"/>
            <a:r>
              <a:rPr sz="830" b="0">
                <a:solidFill>
                  <a:srgbClr val="222B34"/>
                </a:solidFill>
                <a:latin typeface="Yu Gothic"/>
              </a:rPr>
              <a:t>トイレ、給油、眠気対策</a:t>
            </a:r>
          </a:p>
        </p:txBody>
      </p:sp>
      <p:sp>
        <p:nvSpPr>
          <p:cNvPr id="33" name="TextBox 32"/>
          <p:cNvSpPr txBox="1"/>
          <p:nvPr/>
        </p:nvSpPr>
        <p:spPr>
          <a:xfrm>
            <a:off x="6355080" y="3666744"/>
            <a:ext cx="411480" cy="256032"/>
          </a:xfrm>
          <a:prstGeom prst="rect">
            <a:avLst/>
          </a:prstGeom>
          <a:noFill/>
        </p:spPr>
        <p:txBody>
          <a:bodyPr wrap="none" lIns="73152" rIns="73152" tIns="36576" bIns="36576">
            <a:spAutoFit/>
          </a:bodyPr>
          <a:lstStyle/>
          <a:p>
            <a:pPr algn="r"/>
            <a:r>
              <a:rPr sz="830" b="0">
                <a:solidFill>
                  <a:srgbClr val="66707A"/>
                </a:solidFill>
                <a:latin typeface="Yu Gothic"/>
              </a:rPr>
              <a:t>30分</a:t>
            </a:r>
          </a:p>
        </p:txBody>
      </p:sp>
      <p:sp>
        <p:nvSpPr>
          <p:cNvPr id="34" name="Rounded Rectangle 33"/>
          <p:cNvSpPr/>
          <p:nvPr/>
        </p:nvSpPr>
        <p:spPr>
          <a:xfrm>
            <a:off x="502920" y="4160520"/>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1792" y="4233672"/>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17:00</a:t>
            </a:r>
          </a:p>
        </p:txBody>
      </p:sp>
      <p:sp>
        <p:nvSpPr>
          <p:cNvPr id="36" name="TextBox 35"/>
          <p:cNvSpPr txBox="1"/>
          <p:nvPr/>
        </p:nvSpPr>
        <p:spPr>
          <a:xfrm>
            <a:off x="1417320" y="4233672"/>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手続き</a:t>
            </a:r>
          </a:p>
        </p:txBody>
      </p:sp>
      <p:sp>
        <p:nvSpPr>
          <p:cNvPr id="37" name="TextBox 36"/>
          <p:cNvSpPr txBox="1"/>
          <p:nvPr/>
        </p:nvSpPr>
        <p:spPr>
          <a:xfrm>
            <a:off x="2084831" y="4224528"/>
            <a:ext cx="1234440" cy="274320"/>
          </a:xfrm>
          <a:prstGeom prst="rect">
            <a:avLst/>
          </a:prstGeom>
          <a:noFill/>
        </p:spPr>
        <p:txBody>
          <a:bodyPr wrap="none" lIns="73152" rIns="73152" tIns="36576" bIns="36576">
            <a:spAutoFit/>
          </a:bodyPr>
          <a:lstStyle/>
          <a:p>
            <a:pPr algn="l"/>
            <a:r>
              <a:rPr sz="900" b="1">
                <a:solidFill>
                  <a:srgbClr val="143753"/>
                </a:solidFill>
                <a:latin typeface="Yu Gothic"/>
              </a:rPr>
              <a:t>苫小牧港</a:t>
            </a:r>
          </a:p>
        </p:txBody>
      </p:sp>
      <p:sp>
        <p:nvSpPr>
          <p:cNvPr id="38" name="TextBox 37"/>
          <p:cNvSpPr txBox="1"/>
          <p:nvPr/>
        </p:nvSpPr>
        <p:spPr>
          <a:xfrm>
            <a:off x="3246120" y="4215384"/>
            <a:ext cx="3063240" cy="310896"/>
          </a:xfrm>
          <a:prstGeom prst="rect">
            <a:avLst/>
          </a:prstGeom>
          <a:noFill/>
        </p:spPr>
        <p:txBody>
          <a:bodyPr wrap="none" lIns="73152" rIns="73152" tIns="36576" bIns="36576">
            <a:spAutoFit/>
          </a:bodyPr>
          <a:lstStyle/>
          <a:p>
            <a:pPr algn="l"/>
            <a:r>
              <a:rPr sz="830" b="0">
                <a:solidFill>
                  <a:srgbClr val="222B34"/>
                </a:solidFill>
                <a:latin typeface="Yu Gothic"/>
              </a:rPr>
              <a:t>乗船手続き、車両乗船準備</a:t>
            </a:r>
          </a:p>
        </p:txBody>
      </p:sp>
      <p:sp>
        <p:nvSpPr>
          <p:cNvPr id="39" name="TextBox 38"/>
          <p:cNvSpPr txBox="1"/>
          <p:nvPr/>
        </p:nvSpPr>
        <p:spPr>
          <a:xfrm>
            <a:off x="6355080" y="4233672"/>
            <a:ext cx="411480" cy="256032"/>
          </a:xfrm>
          <a:prstGeom prst="rect">
            <a:avLst/>
          </a:prstGeom>
          <a:noFill/>
        </p:spPr>
        <p:txBody>
          <a:bodyPr wrap="none" lIns="73152" rIns="73152" tIns="36576" bIns="36576">
            <a:spAutoFit/>
          </a:bodyPr>
          <a:lstStyle/>
          <a:p>
            <a:pPr algn="r"/>
            <a:r>
              <a:rPr sz="830" b="0">
                <a:solidFill>
                  <a:srgbClr val="66707A"/>
                </a:solidFill>
                <a:latin typeface="Yu Gothic"/>
              </a:rPr>
              <a:t>75分</a:t>
            </a:r>
          </a:p>
        </p:txBody>
      </p:sp>
      <p:sp>
        <p:nvSpPr>
          <p:cNvPr id="40" name="Rounded Rectangle 39"/>
          <p:cNvSpPr/>
          <p:nvPr/>
        </p:nvSpPr>
        <p:spPr>
          <a:xfrm>
            <a:off x="502920" y="4727448"/>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21792" y="4800600"/>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18:15</a:t>
            </a:r>
          </a:p>
        </p:txBody>
      </p:sp>
      <p:sp>
        <p:nvSpPr>
          <p:cNvPr id="42" name="TextBox 41"/>
          <p:cNvSpPr txBox="1"/>
          <p:nvPr/>
        </p:nvSpPr>
        <p:spPr>
          <a:xfrm>
            <a:off x="1417320" y="4800600"/>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夕食</a:t>
            </a:r>
          </a:p>
        </p:txBody>
      </p:sp>
      <p:sp>
        <p:nvSpPr>
          <p:cNvPr id="43" name="TextBox 42"/>
          <p:cNvSpPr txBox="1"/>
          <p:nvPr/>
        </p:nvSpPr>
        <p:spPr>
          <a:xfrm>
            <a:off x="2084831" y="4791456"/>
            <a:ext cx="1234440" cy="274320"/>
          </a:xfrm>
          <a:prstGeom prst="rect">
            <a:avLst/>
          </a:prstGeom>
          <a:noFill/>
        </p:spPr>
        <p:txBody>
          <a:bodyPr wrap="none" lIns="73152" rIns="73152" tIns="36576" bIns="36576">
            <a:spAutoFit/>
          </a:bodyPr>
          <a:lstStyle/>
          <a:p>
            <a:pPr algn="l"/>
            <a:r>
              <a:rPr sz="900" b="1">
                <a:solidFill>
                  <a:srgbClr val="143753"/>
                </a:solidFill>
                <a:latin typeface="Yu Gothic"/>
              </a:rPr>
              <a:t>苫小牧港 / 船内</a:t>
            </a:r>
          </a:p>
        </p:txBody>
      </p:sp>
      <p:sp>
        <p:nvSpPr>
          <p:cNvPr id="44" name="TextBox 43"/>
          <p:cNvSpPr txBox="1"/>
          <p:nvPr/>
        </p:nvSpPr>
        <p:spPr>
          <a:xfrm>
            <a:off x="3246120" y="4782312"/>
            <a:ext cx="3063240" cy="310896"/>
          </a:xfrm>
          <a:prstGeom prst="rect">
            <a:avLst/>
          </a:prstGeom>
          <a:noFill/>
        </p:spPr>
        <p:txBody>
          <a:bodyPr wrap="none" lIns="73152" rIns="73152" tIns="36576" bIns="36576">
            <a:spAutoFit/>
          </a:bodyPr>
          <a:lstStyle/>
          <a:p>
            <a:pPr algn="l"/>
            <a:r>
              <a:rPr sz="830" b="0">
                <a:solidFill>
                  <a:srgbClr val="222B34"/>
                </a:solidFill>
                <a:latin typeface="Yu Gothic"/>
              </a:rPr>
              <a:t>乗船前後で夕食。船内レストランも候補</a:t>
            </a:r>
          </a:p>
        </p:txBody>
      </p:sp>
      <p:sp>
        <p:nvSpPr>
          <p:cNvPr id="45" name="TextBox 44"/>
          <p:cNvSpPr txBox="1"/>
          <p:nvPr/>
        </p:nvSpPr>
        <p:spPr>
          <a:xfrm>
            <a:off x="6355080" y="4800600"/>
            <a:ext cx="411480" cy="256032"/>
          </a:xfrm>
          <a:prstGeom prst="rect">
            <a:avLst/>
          </a:prstGeom>
          <a:noFill/>
        </p:spPr>
        <p:txBody>
          <a:bodyPr wrap="none" lIns="73152" rIns="73152" tIns="36576" bIns="36576">
            <a:spAutoFit/>
          </a:bodyPr>
          <a:lstStyle/>
          <a:p>
            <a:pPr algn="r"/>
            <a:r>
              <a:rPr sz="830" b="0">
                <a:solidFill>
                  <a:srgbClr val="66707A"/>
                </a:solidFill>
                <a:latin typeface="Yu Gothic"/>
              </a:rPr>
              <a:t>60分</a:t>
            </a:r>
          </a:p>
        </p:txBody>
      </p:sp>
      <p:sp>
        <p:nvSpPr>
          <p:cNvPr id="46" name="Rounded Rectangle 45"/>
          <p:cNvSpPr/>
          <p:nvPr/>
        </p:nvSpPr>
        <p:spPr>
          <a:xfrm>
            <a:off x="502920" y="5294376"/>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21792" y="5367528"/>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19:00</a:t>
            </a:r>
          </a:p>
        </p:txBody>
      </p:sp>
      <p:sp>
        <p:nvSpPr>
          <p:cNvPr id="48" name="TextBox 47"/>
          <p:cNvSpPr txBox="1"/>
          <p:nvPr/>
        </p:nvSpPr>
        <p:spPr>
          <a:xfrm>
            <a:off x="1417320" y="5367528"/>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移動</a:t>
            </a:r>
          </a:p>
        </p:txBody>
      </p:sp>
      <p:sp>
        <p:nvSpPr>
          <p:cNvPr id="49" name="TextBox 48"/>
          <p:cNvSpPr txBox="1"/>
          <p:nvPr/>
        </p:nvSpPr>
        <p:spPr>
          <a:xfrm>
            <a:off x="2084831" y="5358384"/>
            <a:ext cx="1234440" cy="274320"/>
          </a:xfrm>
          <a:prstGeom prst="rect">
            <a:avLst/>
          </a:prstGeom>
          <a:noFill/>
        </p:spPr>
        <p:txBody>
          <a:bodyPr wrap="none" lIns="73152" rIns="73152" tIns="36576" bIns="36576">
            <a:spAutoFit/>
          </a:bodyPr>
          <a:lstStyle/>
          <a:p>
            <a:pPr algn="l"/>
            <a:r>
              <a:rPr sz="900" b="1">
                <a:solidFill>
                  <a:srgbClr val="143753"/>
                </a:solidFill>
                <a:latin typeface="Yu Gothic"/>
              </a:rPr>
              <a:t>太平洋フェリー</a:t>
            </a:r>
          </a:p>
        </p:txBody>
      </p:sp>
      <p:sp>
        <p:nvSpPr>
          <p:cNvPr id="50" name="TextBox 49"/>
          <p:cNvSpPr txBox="1"/>
          <p:nvPr/>
        </p:nvSpPr>
        <p:spPr>
          <a:xfrm>
            <a:off x="3246120" y="5349240"/>
            <a:ext cx="3063240" cy="310896"/>
          </a:xfrm>
          <a:prstGeom prst="rect">
            <a:avLst/>
          </a:prstGeom>
          <a:noFill/>
        </p:spPr>
        <p:txBody>
          <a:bodyPr wrap="none" lIns="73152" rIns="73152" tIns="36576" bIns="36576">
            <a:spAutoFit/>
          </a:bodyPr>
          <a:lstStyle/>
          <a:p>
            <a:pPr algn="l"/>
            <a:r>
              <a:rPr sz="830" b="0">
                <a:solidFill>
                  <a:srgbClr val="222B34"/>
                </a:solidFill>
                <a:latin typeface="Yu Gothic"/>
              </a:rPr>
              <a:t>苫小牧港を出港。仙台へ</a:t>
            </a:r>
          </a:p>
        </p:txBody>
      </p:sp>
      <p:sp>
        <p:nvSpPr>
          <p:cNvPr id="51" name="TextBox 50"/>
          <p:cNvSpPr txBox="1"/>
          <p:nvPr/>
        </p:nvSpPr>
        <p:spPr>
          <a:xfrm>
            <a:off x="6355080" y="5367528"/>
            <a:ext cx="411480" cy="256032"/>
          </a:xfrm>
          <a:prstGeom prst="rect">
            <a:avLst/>
          </a:prstGeom>
          <a:noFill/>
        </p:spPr>
        <p:txBody>
          <a:bodyPr wrap="none" lIns="73152" rIns="73152" tIns="36576" bIns="36576">
            <a:spAutoFit/>
          </a:bodyPr>
          <a:lstStyle/>
          <a:p>
            <a:pPr algn="r"/>
            <a:r>
              <a:rPr sz="830" b="0">
                <a:solidFill>
                  <a:srgbClr val="66707A"/>
                </a:solidFill>
                <a:latin typeface="Yu Gothic"/>
              </a:rPr>
              <a:t>一晩</a:t>
            </a:r>
          </a:p>
        </p:txBody>
      </p:sp>
      <p:sp>
        <p:nvSpPr>
          <p:cNvPr id="52" name="Rounded Rectangle 51"/>
          <p:cNvSpPr/>
          <p:nvPr/>
        </p:nvSpPr>
        <p:spPr>
          <a:xfrm>
            <a:off x="502920" y="5861304"/>
            <a:ext cx="6400800" cy="502920"/>
          </a:xfrm>
          <a:prstGeom prst="roundRect">
            <a:avLst/>
          </a:prstGeom>
          <a:solidFill>
            <a:srgbClr val="F8FAFC"/>
          </a:solidFill>
          <a:ln>
            <a:solidFill>
              <a:srgbClr val="DE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1792" y="5934456"/>
            <a:ext cx="822960" cy="256032"/>
          </a:xfrm>
          <a:prstGeom prst="rect">
            <a:avLst/>
          </a:prstGeom>
          <a:noFill/>
        </p:spPr>
        <p:txBody>
          <a:bodyPr wrap="none" lIns="73152" rIns="73152" tIns="36576" bIns="36576">
            <a:spAutoFit/>
          </a:bodyPr>
          <a:lstStyle/>
          <a:p>
            <a:pPr algn="ctr"/>
            <a:r>
              <a:rPr sz="950" b="1">
                <a:solidFill>
                  <a:srgbClr val="2C73A0"/>
                </a:solidFill>
                <a:latin typeface="Yu Gothic"/>
              </a:rPr>
              <a:t>21:00</a:t>
            </a:r>
          </a:p>
        </p:txBody>
      </p:sp>
      <p:sp>
        <p:nvSpPr>
          <p:cNvPr id="54" name="TextBox 53"/>
          <p:cNvSpPr txBox="1"/>
          <p:nvPr/>
        </p:nvSpPr>
        <p:spPr>
          <a:xfrm>
            <a:off x="1417320" y="5934456"/>
            <a:ext cx="685800" cy="256032"/>
          </a:xfrm>
          <a:prstGeom prst="rect">
            <a:avLst/>
          </a:prstGeom>
          <a:noFill/>
        </p:spPr>
        <p:txBody>
          <a:bodyPr wrap="none" lIns="73152" rIns="73152" tIns="36576" bIns="36576">
            <a:spAutoFit/>
          </a:bodyPr>
          <a:lstStyle/>
          <a:p>
            <a:pPr algn="ctr"/>
            <a:r>
              <a:rPr sz="950" b="1">
                <a:solidFill>
                  <a:srgbClr val="D86352"/>
                </a:solidFill>
                <a:latin typeface="Yu Gothic"/>
              </a:rPr>
              <a:t>休憩</a:t>
            </a:r>
          </a:p>
        </p:txBody>
      </p:sp>
      <p:sp>
        <p:nvSpPr>
          <p:cNvPr id="55" name="TextBox 54"/>
          <p:cNvSpPr txBox="1"/>
          <p:nvPr/>
        </p:nvSpPr>
        <p:spPr>
          <a:xfrm>
            <a:off x="2084831" y="5925312"/>
            <a:ext cx="1234440" cy="274320"/>
          </a:xfrm>
          <a:prstGeom prst="rect">
            <a:avLst/>
          </a:prstGeom>
          <a:noFill/>
        </p:spPr>
        <p:txBody>
          <a:bodyPr wrap="none" lIns="73152" rIns="73152" tIns="36576" bIns="36576">
            <a:spAutoFit/>
          </a:bodyPr>
          <a:lstStyle/>
          <a:p>
            <a:pPr algn="l"/>
            <a:r>
              <a:rPr sz="900" b="1">
                <a:solidFill>
                  <a:srgbClr val="143753"/>
                </a:solidFill>
                <a:latin typeface="Yu Gothic"/>
              </a:rPr>
              <a:t>客室</a:t>
            </a:r>
          </a:p>
        </p:txBody>
      </p:sp>
      <p:sp>
        <p:nvSpPr>
          <p:cNvPr id="56" name="TextBox 55"/>
          <p:cNvSpPr txBox="1"/>
          <p:nvPr/>
        </p:nvSpPr>
        <p:spPr>
          <a:xfrm>
            <a:off x="3246120" y="5916168"/>
            <a:ext cx="3063240" cy="310896"/>
          </a:xfrm>
          <a:prstGeom prst="rect">
            <a:avLst/>
          </a:prstGeom>
          <a:noFill/>
        </p:spPr>
        <p:txBody>
          <a:bodyPr wrap="none" lIns="73152" rIns="73152" tIns="36576" bIns="36576">
            <a:spAutoFit/>
          </a:bodyPr>
          <a:lstStyle/>
          <a:p>
            <a:pPr algn="l"/>
            <a:r>
              <a:rPr sz="830" b="0">
                <a:solidFill>
                  <a:srgbClr val="222B34"/>
                </a:solidFill>
                <a:latin typeface="Yu Gothic"/>
              </a:rPr>
              <a:t>旅の写真整理、早めに就寝</a:t>
            </a:r>
          </a:p>
        </p:txBody>
      </p:sp>
      <p:sp>
        <p:nvSpPr>
          <p:cNvPr id="57" name="TextBox 56"/>
          <p:cNvSpPr txBox="1"/>
          <p:nvPr/>
        </p:nvSpPr>
        <p:spPr>
          <a:xfrm>
            <a:off x="6355080" y="5934456"/>
            <a:ext cx="411480" cy="256032"/>
          </a:xfrm>
          <a:prstGeom prst="rect">
            <a:avLst/>
          </a:prstGeom>
          <a:noFill/>
        </p:spPr>
        <p:txBody>
          <a:bodyPr wrap="none" lIns="73152" rIns="73152" tIns="36576" bIns="36576">
            <a:spAutoFit/>
          </a:bodyPr>
          <a:lstStyle/>
          <a:p>
            <a:pPr algn="r"/>
            <a:r>
              <a:rPr sz="830" b="0">
                <a:solidFill>
                  <a:srgbClr val="66707A"/>
                </a:solidFill>
                <a:latin typeface="Yu Gothic"/>
              </a:rPr>
              <a:t>-</a:t>
            </a:r>
          </a:p>
        </p:txBody>
      </p:sp>
      <p:pic>
        <p:nvPicPr>
          <p:cNvPr id="58" name="Picture 57" descr="2026-08-12_苫小牧港.png"/>
          <p:cNvPicPr>
            <a:picLocks noChangeAspect="1"/>
          </p:cNvPicPr>
          <p:nvPr/>
        </p:nvPicPr>
        <p:blipFill>
          <a:blip r:embed="rId2"/>
          <a:stretch>
            <a:fillRect/>
          </a:stretch>
        </p:blipFill>
        <p:spPr>
          <a:xfrm>
            <a:off x="7360920" y="502920"/>
            <a:ext cx="4160520" cy="2331720"/>
          </a:xfrm>
          <a:prstGeom prst="rect">
            <a:avLst/>
          </a:prstGeom>
        </p:spPr>
      </p:pic>
      <p:sp>
        <p:nvSpPr>
          <p:cNvPr id="59" name="TextBox 58"/>
          <p:cNvSpPr txBox="1"/>
          <p:nvPr/>
        </p:nvSpPr>
        <p:spPr>
          <a:xfrm>
            <a:off x="7360920" y="3063240"/>
            <a:ext cx="4343400" cy="292608"/>
          </a:xfrm>
          <a:prstGeom prst="rect">
            <a:avLst/>
          </a:prstGeom>
          <a:noFill/>
        </p:spPr>
        <p:txBody>
          <a:bodyPr wrap="none" lIns="73152" rIns="73152" tIns="36576" bIns="36576">
            <a:spAutoFit/>
          </a:bodyPr>
          <a:lstStyle/>
          <a:p>
            <a:pPr algn="l"/>
            <a:r>
              <a:rPr sz="1500" b="1">
                <a:solidFill>
                  <a:srgbClr val="143753"/>
                </a:solidFill>
                <a:latin typeface="Yu Gothic"/>
              </a:rPr>
              <a:t>レストラン候補</a:t>
            </a:r>
          </a:p>
        </p:txBody>
      </p:sp>
      <p:sp>
        <p:nvSpPr>
          <p:cNvPr id="60" name="Rounded Rectangle 59"/>
          <p:cNvSpPr/>
          <p:nvPr/>
        </p:nvSpPr>
        <p:spPr>
          <a:xfrm>
            <a:off x="7360920" y="344728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434072" y="3502152"/>
            <a:ext cx="566928" cy="228600"/>
          </a:xfrm>
          <a:prstGeom prst="rect">
            <a:avLst/>
          </a:prstGeom>
          <a:noFill/>
        </p:spPr>
        <p:txBody>
          <a:bodyPr wrap="none" lIns="73152" rIns="73152" tIns="36576" bIns="36576">
            <a:spAutoFit/>
          </a:bodyPr>
          <a:lstStyle/>
          <a:p>
            <a:pPr algn="l"/>
            <a:r>
              <a:rPr sz="850" b="1">
                <a:solidFill>
                  <a:srgbClr val="D86352"/>
                </a:solidFill>
                <a:latin typeface="Yu Gothic"/>
              </a:rPr>
              <a:t>昼食</a:t>
            </a:r>
          </a:p>
        </p:txBody>
      </p:sp>
      <p:sp>
        <p:nvSpPr>
          <p:cNvPr id="62" name="TextBox 61"/>
          <p:cNvSpPr txBox="1"/>
          <p:nvPr/>
        </p:nvSpPr>
        <p:spPr>
          <a:xfrm>
            <a:off x="8001000" y="349300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帯広豚丼候補</a:t>
            </a:r>
          </a:p>
        </p:txBody>
      </p:sp>
      <p:sp>
        <p:nvSpPr>
          <p:cNvPr id="63" name="TextBox 62"/>
          <p:cNvSpPr txBox="1"/>
          <p:nvPr/>
        </p:nvSpPr>
        <p:spPr>
          <a:xfrm>
            <a:off x="9509760" y="349300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前日に食べられなかった場合の候補</a:t>
            </a:r>
          </a:p>
        </p:txBody>
      </p:sp>
      <p:sp>
        <p:nvSpPr>
          <p:cNvPr id="64" name="Rounded Rectangle 63"/>
          <p:cNvSpPr/>
          <p:nvPr/>
        </p:nvSpPr>
        <p:spPr>
          <a:xfrm>
            <a:off x="7360920" y="395020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434072" y="4005072"/>
            <a:ext cx="566928" cy="228600"/>
          </a:xfrm>
          <a:prstGeom prst="rect">
            <a:avLst/>
          </a:prstGeom>
          <a:noFill/>
        </p:spPr>
        <p:txBody>
          <a:bodyPr wrap="none" lIns="73152" rIns="73152" tIns="36576" bIns="36576">
            <a:spAutoFit/>
          </a:bodyPr>
          <a:lstStyle/>
          <a:p>
            <a:pPr algn="l"/>
            <a:r>
              <a:rPr sz="850" b="1">
                <a:solidFill>
                  <a:srgbClr val="D86352"/>
                </a:solidFill>
                <a:latin typeface="Yu Gothic"/>
              </a:rPr>
              <a:t>昼食</a:t>
            </a:r>
          </a:p>
        </p:txBody>
      </p:sp>
      <p:sp>
        <p:nvSpPr>
          <p:cNvPr id="66" name="TextBox 65"/>
          <p:cNvSpPr txBox="1"/>
          <p:nvPr/>
        </p:nvSpPr>
        <p:spPr>
          <a:xfrm>
            <a:off x="8001000" y="399592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六花亭・カフェ系</a:t>
            </a:r>
          </a:p>
        </p:txBody>
      </p:sp>
      <p:sp>
        <p:nvSpPr>
          <p:cNvPr id="67" name="TextBox 66"/>
          <p:cNvSpPr txBox="1"/>
          <p:nvPr/>
        </p:nvSpPr>
        <p:spPr>
          <a:xfrm>
            <a:off x="9509760" y="399592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軽めに済ませる場合</a:t>
            </a:r>
          </a:p>
        </p:txBody>
      </p:sp>
      <p:sp>
        <p:nvSpPr>
          <p:cNvPr id="68" name="Rounded Rectangle 67"/>
          <p:cNvSpPr/>
          <p:nvPr/>
        </p:nvSpPr>
        <p:spPr>
          <a:xfrm>
            <a:off x="7360920" y="445312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434072" y="4507992"/>
            <a:ext cx="566928" cy="228600"/>
          </a:xfrm>
          <a:prstGeom prst="rect">
            <a:avLst/>
          </a:prstGeom>
          <a:noFill/>
        </p:spPr>
        <p:txBody>
          <a:bodyPr wrap="none" lIns="73152" rIns="73152" tIns="36576" bIns="36576">
            <a:spAutoFit/>
          </a:bodyPr>
          <a:lstStyle/>
          <a:p>
            <a:pPr algn="l"/>
            <a:r>
              <a:rPr sz="850" b="1">
                <a:solidFill>
                  <a:srgbClr val="D86352"/>
                </a:solidFill>
                <a:latin typeface="Yu Gothic"/>
              </a:rPr>
              <a:t>夕食</a:t>
            </a:r>
          </a:p>
        </p:txBody>
      </p:sp>
      <p:sp>
        <p:nvSpPr>
          <p:cNvPr id="70" name="TextBox 69"/>
          <p:cNvSpPr txBox="1"/>
          <p:nvPr/>
        </p:nvSpPr>
        <p:spPr>
          <a:xfrm>
            <a:off x="8001000" y="449884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太平洋フェリー船内レストラン</a:t>
            </a:r>
          </a:p>
        </p:txBody>
      </p:sp>
      <p:sp>
        <p:nvSpPr>
          <p:cNvPr id="71" name="TextBox 70"/>
          <p:cNvSpPr txBox="1"/>
          <p:nvPr/>
        </p:nvSpPr>
        <p:spPr>
          <a:xfrm>
            <a:off x="9509760" y="449884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乗船後の第一候補</a:t>
            </a:r>
          </a:p>
        </p:txBody>
      </p:sp>
      <p:sp>
        <p:nvSpPr>
          <p:cNvPr id="72" name="Rounded Rectangle 71"/>
          <p:cNvSpPr/>
          <p:nvPr/>
        </p:nvSpPr>
        <p:spPr>
          <a:xfrm>
            <a:off x="7360920" y="4956048"/>
            <a:ext cx="4343400" cy="43891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434072" y="5010912"/>
            <a:ext cx="566928" cy="228600"/>
          </a:xfrm>
          <a:prstGeom prst="rect">
            <a:avLst/>
          </a:prstGeom>
          <a:noFill/>
        </p:spPr>
        <p:txBody>
          <a:bodyPr wrap="none" lIns="73152" rIns="73152" tIns="36576" bIns="36576">
            <a:spAutoFit/>
          </a:bodyPr>
          <a:lstStyle/>
          <a:p>
            <a:pPr algn="l"/>
            <a:r>
              <a:rPr sz="850" b="1">
                <a:solidFill>
                  <a:srgbClr val="D86352"/>
                </a:solidFill>
                <a:latin typeface="Yu Gothic"/>
              </a:rPr>
              <a:t>夕食</a:t>
            </a:r>
          </a:p>
        </p:txBody>
      </p:sp>
      <p:sp>
        <p:nvSpPr>
          <p:cNvPr id="74" name="TextBox 73"/>
          <p:cNvSpPr txBox="1"/>
          <p:nvPr/>
        </p:nvSpPr>
        <p:spPr>
          <a:xfrm>
            <a:off x="8001000" y="5001768"/>
            <a:ext cx="1554480" cy="228600"/>
          </a:xfrm>
          <a:prstGeom prst="rect">
            <a:avLst/>
          </a:prstGeom>
          <a:noFill/>
        </p:spPr>
        <p:txBody>
          <a:bodyPr wrap="none" lIns="73152" rIns="73152" tIns="36576" bIns="36576">
            <a:spAutoFit/>
          </a:bodyPr>
          <a:lstStyle/>
          <a:p>
            <a:pPr algn="l"/>
            <a:r>
              <a:rPr sz="850" b="1">
                <a:solidFill>
                  <a:srgbClr val="143753"/>
                </a:solidFill>
                <a:latin typeface="Yu Gothic"/>
              </a:rPr>
              <a:t>苫小牧でテイクアウト</a:t>
            </a:r>
          </a:p>
        </p:txBody>
      </p:sp>
      <p:sp>
        <p:nvSpPr>
          <p:cNvPr id="75" name="TextBox 74"/>
          <p:cNvSpPr txBox="1"/>
          <p:nvPr/>
        </p:nvSpPr>
        <p:spPr>
          <a:xfrm>
            <a:off x="9509760" y="5001768"/>
            <a:ext cx="1965960" cy="228600"/>
          </a:xfrm>
          <a:prstGeom prst="rect">
            <a:avLst/>
          </a:prstGeom>
          <a:noFill/>
        </p:spPr>
        <p:txBody>
          <a:bodyPr wrap="none" lIns="73152" rIns="73152" tIns="36576" bIns="36576">
            <a:spAutoFit/>
          </a:bodyPr>
          <a:lstStyle/>
          <a:p>
            <a:pPr algn="l"/>
            <a:r>
              <a:rPr sz="750" b="0">
                <a:solidFill>
                  <a:srgbClr val="66707A"/>
                </a:solidFill>
                <a:latin typeface="Yu Gothic"/>
              </a:rPr>
              <a:t>乗船前のバックアップ</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